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d="{e20382b1-c010-624a-5ae0-d3c887a9d7e1}">
          <p14:sldIdLst>
            <p14:sldId id="256"/>
            <p14:sldId id="257"/>
            <p14:sldId id="258"/>
          </p14:sldIdLst>
        </p14:section>
        <p14:section name="Answer" id="{6f22626f-3112-e398-8383-262b5d6b68a2}">
          <p14:sldIdLst>
            <p14:sldId id="259"/>
          </p14:sldIdLst>
        </p14:section>
        <p14:section name="How" id="{12389665-c15e-39d1-be44-c3521000c042}">
          <p14:sldIdLst>
            <p14:sldId id="260"/>
            <p14:sldId id="261"/>
            <p14:sldId id="262"/>
            <p14:sldId id="263"/>
          </p14:sldIdLst>
        </p14:section>
        <p14:section name="Bad days" id="{3cd3ebeb-b135-abfe-b97d-1037887b1bfd}">
          <p14:sldIdLst>
            <p14:sldId id="264"/>
            <p14:sldId id="265"/>
          </p14:sldIdLst>
        </p14:section>
        <p14:section name="AWS" id="{64ce530e-2848-2908-9d79-6755f8148d4f}">
          <p14:sldIdLst>
            <p14:sldId id="266"/>
            <p14:sldId id="267"/>
          </p14:sldIdLst>
        </p14:section>
        <p14:section name="Close" id="{adf26795-157d-920f-f936-65c767893b80}">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BreatheIQ by Team Purity (team ID YGJPRG) for the Air track: pollution, exposure, and the days the AQI goes off the chart. Open with one line: train coaches are packed and badly ventilated, the air turns bad between stations, and nobody on board knows.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air inside a coach changes fast: doors open at crowded platforms, the route crosses stubble-burning belts and tunnels, and a packed coach pushes up CO2 and heat. Today nobody measures it, nobody is warned, and there is no plan for the worst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coach air is far more dangerous for some passengers. A child breathes about one and a half times the dose of a resting adult; someone with asthma or COPD even more. Rail staff are exposed for whole shifts. That is why BreatheIQ tracks exposure per group, not just one AQI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track is pollution, exposure, and the days the AQI goes off the chart. BreatheIQ answers each part with one verb: track the pollution, warn the most exposed, and change what happens on the worst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is real hardware: an Arduino Mega with a DHT11, an MQ-2, an MQ-135 and a PMS7003 laser dust sensor, a relay board for the exhaust fan and two ozone generators, an LCD on the coach wall and an ESP8266 for Wi-Fi. It sends one compact frame and gets one compact command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RandomForestClassifier heads, one sensor each, trained on our labelled data exactly as our final.py does. Accuracy is on the held-out 20 percent. On AWS a Lambda serves the forests as exported decision trees, and we checked that it gives the same answers as scikit-learn on 4,704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Ozone is a powerful purifier but it is hazardous to people. So we built a safety interlock: the model can ask for ozone, but it only runs in an empty cabin with estimated ozone under the EPA 0.07 ppm 8-hour limit. Otherwise the fan and filtration take over, and the decision is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Exposure is what the track asks about, so we measure it per person type. Dose is PM2.5 times minutes times a breathing factor, compared with the WHO guideline and India's NAAQS. Each group sees how much of its daily budget it has used, how long until the limit, and one plain sentence of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India's AQI scale stops at 500, so most systems clamp there and every bad day looks the same. BreatheIQ keeps counting. In our bad-day run on AWS the cabin reached 729, and that is exactly when Bad Day Mode takes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cabin passes AQI 500, the frame processor raises AqiOffTheChart on EventBridge, which starts a Step Functions state machine. It writes the platform announcement in English and Hindi, Polly reads it aloud, SNS alerts the staff, sensitive passengers are pointed to the cleanest coach, and when the air recovers an incident report is saved to S3. The screenshot is a real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frame enters through AWS IoT Core and an IoT Rule hands it to a Lambda, which runs the model, computes the AQI, applies the interlock and writes DynamoDB. Events on EventBridge start the Step Functions playbook. The dashboard is hosted on Amplify and talks to a signed API. The whole stack is AWS CDK: one command deploys it, one tears it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pages: Live, Fleet, Exposure, ML Lab, Controls, System and Playbook, plus Ask BreatheIQ on every page with the J key. The page starts instantly and keeps running on its own engine if the network drops, so it never shows a blank screen. Everything here is a real screenshot of our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are concrete: send all three PM values from the firmware, add occupancy sensing for the interlock, let the ESP8266 publish straight to IoT Core with the certificate we already issued, and put one node in every coach.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BreatheIQ tracks the pollution, warns the most exposed, and changes what happens on the days the AQI goes off the chart. The dashboard is live at the link on screen. Team Purity, team ID YGJPRG.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B111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3816" y="1554480"/>
            <a:ext cx="10564063" cy="1188720"/>
          </a:xfrm>
          <a:prstGeom prst="rect">
            <a:avLst/>
          </a:prstGeom>
          <a:noFill/>
          <a:ln/>
        </p:spPr>
        <p:txBody>
          <a:bodyPr wrap="square" rtlCol="0"/>
          <a:lstStyle>
            <a:lvl1pPr algn="l" indent="0" marL="0">
              <a:buNone/>
              <a:defRPr lang="en-US" sz="8000" b="1" dirty="0">
                <a:solidFill>
                  <a:srgbClr val="E8EEF2"/>
                </a:solidFill>
                <a:latin typeface="Calibri" pitchFamily="34" charset="0"/>
                <a:ea typeface="Calibri" pitchFamily="34" charset="-122"/>
                <a:cs typeface="Calibri" pitchFamily="34" charset="-120"/>
              </a:defRPr>
            </a:lvl1pPr>
          </a:lstStyle>
          <a:p>
            <a:pPr algn="l" indent="0" marL="0">
              <a:buNone/>
            </a:pPr>
            <a:endParaRPr lang="en-US" sz="8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E">
    <p:bg>
      <p:bgPr>
        <a:solidFill>
          <a:srgbClr val="0B111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3816" y="1188720"/>
            <a:ext cx="10564063" cy="960120"/>
          </a:xfrm>
          <a:prstGeom prst="rect">
            <a:avLst/>
          </a:prstGeom>
          <a:noFill/>
          <a:ln/>
        </p:spPr>
        <p:txBody>
          <a:bodyPr wrap="square" rtlCol="0"/>
          <a:lstStyle>
            <a:lvl1pPr algn="l" indent="0" marL="0">
              <a:buNone/>
              <a:defRPr lang="en-US" sz="6000" b="1" dirty="0">
                <a:solidFill>
                  <a:srgbClr val="E8EEF2"/>
                </a:solidFill>
                <a:latin typeface="Calibri" pitchFamily="34" charset="0"/>
                <a:ea typeface="Calibri" pitchFamily="34" charset="-122"/>
                <a:cs typeface="Calibri" pitchFamily="34" charset="-120"/>
              </a:defRPr>
            </a:lvl1pPr>
          </a:lstStyle>
          <a:p>
            <a:pPr algn="l" indent="0" marL="0">
              <a:buNone/>
            </a:pPr>
            <a:endParaRPr lang="en-US" sz="6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0B111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3816" y="1161288"/>
            <a:ext cx="10564063" cy="1188720"/>
          </a:xfrm>
          <a:prstGeom prst="rect">
            <a:avLst/>
          </a:prstGeom>
          <a:noFill/>
          <a:ln/>
        </p:spPr>
        <p:txBody>
          <a:bodyPr wrap="square" rtlCol="0"/>
          <a:lstStyle>
            <a:lvl1pPr algn="l" indent="0" marL="0">
              <a:buNone/>
              <a:defRPr lang="en-US" sz="3600" b="1" dirty="0">
                <a:solidFill>
                  <a:srgbClr val="E8EEF2"/>
                </a:solidFill>
                <a:latin typeface="Calibri" pitchFamily="34" charset="0"/>
                <a:ea typeface="Calibri" pitchFamily="34" charset="-122"/>
                <a:cs typeface="Calibri" pitchFamily="34" charset="-120"/>
              </a:defRPr>
            </a:lvl1pPr>
          </a:lstStyle>
          <a:p>
            <a:pPr algn="l" indent="0" marL="0">
              <a:buNone/>
            </a:pPr>
            <a:endParaRPr lang="en-US" sz="3600" dirty="0"/>
          </a:p>
        </p:txBody>
      </p:sp>
      <p:sp>
        <p:nvSpPr>
          <p:cNvPr id="3" name="Text 0"/>
          <p:cNvSpPr/>
          <p:nvPr/>
        </p:nvSpPr>
        <p:spPr>
          <a:xfrm>
            <a:off x="813816" y="6263640"/>
            <a:ext cx="6400800" cy="274320"/>
          </a:xfrm>
          <a:prstGeom prst="rect">
            <a:avLst/>
          </a:prstGeom>
          <a:noFill/>
          <a:ln/>
        </p:spPr>
        <p:txBody>
          <a:bodyPr wrap="square" lIns="0" tIns="0" rIns="0" bIns="0" rtlCol="0" anchor="ctr"/>
          <a:lstStyle/>
          <a:p>
            <a:pPr indent="0" marL="0">
              <a:buNone/>
            </a:pPr>
            <a:r>
              <a:rPr lang="en-US" sz="1200" dirty="0">
                <a:solidFill>
                  <a:srgbClr val="7D90A3"/>
                </a:solidFill>
                <a:latin typeface="Consolas" pitchFamily="34" charset="0"/>
                <a:ea typeface="Consolas" pitchFamily="34" charset="-122"/>
                <a:cs typeface="Consolas" pitchFamily="34" charset="-120"/>
              </a:rPr>
              <a:t>BreatheIQ · Team Purity · YGJPRG</a:t>
            </a:r>
            <a:endParaRPr lang="en-US" sz="1200" dirty="0"/>
          </a:p>
        </p:txBody>
      </p:sp>
      <p:sp>
        <p:nvSpPr>
          <p:cNvPr id="25" name="Slide Number Placeholder 0"/>
          <p:cNvSpPr>
            <a:spLocks noGrp="1"/>
          </p:cNvSpPr>
          <p:nvPr>
            <p:ph type="sldNum" sz="quarter" idx="4294967295"/>
          </p:nvPr>
        </p:nvSpPr>
        <p:spPr>
          <a:xfrm>
            <a:off x="10463479" y="6263640"/>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D90A3"/>
                </a:solidFill>
                <a:latin typeface="Consolas"/>
                <a:ea typeface="Consolas"/>
                <a:cs typeface="Consolas"/>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IGHT">
    <p:bg>
      <p:bgPr>
        <a:solidFill>
          <a:srgbClr val="F2F5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3816" y="1161288"/>
            <a:ext cx="10564063" cy="1188720"/>
          </a:xfrm>
          <a:prstGeom prst="rect">
            <a:avLst/>
          </a:prstGeom>
          <a:noFill/>
          <a:ln/>
        </p:spPr>
        <p:txBody>
          <a:bodyPr wrap="square" rtlCol="0"/>
          <a:lstStyle>
            <a:lvl1pPr algn="l" indent="0" marL="0">
              <a:buNone/>
              <a:defRPr lang="en-US" sz="3600" b="1" dirty="0">
                <a:solidFill>
                  <a:srgbClr val="14202B"/>
                </a:solidFill>
                <a:latin typeface="Calibri" pitchFamily="34" charset="0"/>
                <a:ea typeface="Calibri" pitchFamily="34" charset="-122"/>
                <a:cs typeface="Calibri" pitchFamily="34" charset="-120"/>
              </a:defRPr>
            </a:lvl1pPr>
          </a:lstStyle>
          <a:p>
            <a:pPr algn="l" indent="0" marL="0">
              <a:buNone/>
            </a:pPr>
            <a:endParaRPr lang="en-US" sz="3600" dirty="0"/>
          </a:p>
        </p:txBody>
      </p:sp>
      <p:sp>
        <p:nvSpPr>
          <p:cNvPr id="3" name="Text 0"/>
          <p:cNvSpPr/>
          <p:nvPr/>
        </p:nvSpPr>
        <p:spPr>
          <a:xfrm>
            <a:off x="813816" y="6263640"/>
            <a:ext cx="6400800" cy="274320"/>
          </a:xfrm>
          <a:prstGeom prst="rect">
            <a:avLst/>
          </a:prstGeom>
          <a:noFill/>
          <a:ln/>
        </p:spPr>
        <p:txBody>
          <a:bodyPr wrap="square" lIns="0" tIns="0" rIns="0" bIns="0" rtlCol="0" anchor="ctr"/>
          <a:lstStyle/>
          <a:p>
            <a:pPr indent="0" marL="0">
              <a:buNone/>
            </a:pPr>
            <a:r>
              <a:rPr lang="en-US" sz="1200" dirty="0">
                <a:solidFill>
                  <a:srgbClr val="4A5A68"/>
                </a:solidFill>
                <a:latin typeface="Consolas" pitchFamily="34" charset="0"/>
                <a:ea typeface="Consolas" pitchFamily="34" charset="-122"/>
                <a:cs typeface="Consolas" pitchFamily="34" charset="-120"/>
              </a:rPr>
              <a:t>BreatheIQ · Team Purity · YGJPRG</a:t>
            </a:r>
            <a:endParaRPr lang="en-US" sz="1200" dirty="0"/>
          </a:p>
        </p:txBody>
      </p:sp>
      <p:sp>
        <p:nvSpPr>
          <p:cNvPr id="25" name="Slide Number Placeholder 0"/>
          <p:cNvSpPr>
            <a:spLocks noGrp="1"/>
          </p:cNvSpPr>
          <p:nvPr>
            <p:ph type="sldNum" sz="quarter" idx="4294967295"/>
          </p:nvPr>
        </p:nvSpPr>
        <p:spPr>
          <a:xfrm>
            <a:off x="10463479" y="6263640"/>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4A5A68"/>
                </a:solidFill>
                <a:latin typeface="Consolas"/>
                <a:ea typeface="Consolas"/>
                <a:cs typeface="Consolas"/>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TATEMENT">
    <p:bg>
      <p:bgPr>
        <a:solidFill>
          <a:srgbClr val="5C001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3816" y="1161288"/>
            <a:ext cx="10564063" cy="868680"/>
          </a:xfrm>
          <a:prstGeom prst="rect">
            <a:avLst/>
          </a:prstGeom>
          <a:noFill/>
          <a:ln/>
        </p:spPr>
        <p:txBody>
          <a:bodyPr wrap="square" rtlCol="0"/>
          <a:lstStyle>
            <a:lvl1pPr algn="l" indent="0" marL="0">
              <a:buNone/>
              <a:defRPr lang="en-US" sz="4800" b="1" dirty="0">
                <a:solidFill>
                  <a:srgbClr val="FFF1F2"/>
                </a:solidFill>
                <a:latin typeface="Calibri" pitchFamily="34" charset="0"/>
                <a:ea typeface="Calibri" pitchFamily="34" charset="-122"/>
                <a:cs typeface="Calibri" pitchFamily="34" charset="-120"/>
              </a:defRPr>
            </a:lvl1pPr>
          </a:lstStyle>
          <a:p>
            <a:pPr algn="l" indent="0" marL="0">
              <a:buNone/>
            </a:pPr>
            <a:endParaRPr lang="en-US" sz="4800" dirty="0"/>
          </a:p>
        </p:txBody>
      </p:sp>
      <p:sp>
        <p:nvSpPr>
          <p:cNvPr id="3" name="Text 0"/>
          <p:cNvSpPr/>
          <p:nvPr/>
        </p:nvSpPr>
        <p:spPr>
          <a:xfrm>
            <a:off x="813816" y="6263640"/>
            <a:ext cx="6400800" cy="274320"/>
          </a:xfrm>
          <a:prstGeom prst="rect">
            <a:avLst/>
          </a:prstGeom>
          <a:noFill/>
          <a:ln/>
        </p:spPr>
        <p:txBody>
          <a:bodyPr wrap="square" lIns="0" tIns="0" rIns="0" bIns="0" rtlCol="0" anchor="ctr"/>
          <a:lstStyle/>
          <a:p>
            <a:pPr indent="0" marL="0">
              <a:buNone/>
            </a:pPr>
            <a:r>
              <a:rPr lang="en-US" sz="1200" dirty="0">
                <a:solidFill>
                  <a:srgbClr val="FFC2CC"/>
                </a:solidFill>
                <a:latin typeface="Consolas" pitchFamily="34" charset="0"/>
                <a:ea typeface="Consolas" pitchFamily="34" charset="-122"/>
                <a:cs typeface="Consolas" pitchFamily="34" charset="-120"/>
              </a:rPr>
              <a:t>BreatheIQ · Team Purity · YGJPRG</a:t>
            </a:r>
            <a:endParaRPr lang="en-US" sz="1200" dirty="0"/>
          </a:p>
        </p:txBody>
      </p:sp>
      <p:sp>
        <p:nvSpPr>
          <p:cNvPr id="25" name="Slide Number Placeholder 0"/>
          <p:cNvSpPr>
            <a:spLocks noGrp="1"/>
          </p:cNvSpPr>
          <p:nvPr>
            <p:ph type="sldNum" sz="quarter" idx="4294967295"/>
          </p:nvPr>
        </p:nvSpPr>
        <p:spPr>
          <a:xfrm>
            <a:off x="10463479" y="6263640"/>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C2CC"/>
                </a:solidFill>
                <a:latin typeface="Consolas"/>
                <a:ea typeface="Consolas"/>
                <a:cs typeface="Consolas"/>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463479" y="6263640"/>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D90A3"/>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main.d3abjrsxzx174i.amplifyapp.com" TargetMode="External"/><Relationship Id="rId2"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main.d3abjrsxzx174i.amplifyapp.com" TargetMode="External"/><Relationship Id="rId1" Type="http://schemas.openxmlformats.org/officeDocument/2006/relationships/image" Target="../media/image-14-1.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BreatheIQ logo">    </p:cNvPr>
          <p:cNvPicPr>
            <a:picLocks noChangeAspect="1"/>
          </p:cNvPicPr>
          <p:nvPr/>
        </p:nvPicPr>
        <p:blipFill>
          <a:blip r:embed="rId1"/>
          <a:stretch>
            <a:fillRect/>
          </a:stretch>
        </p:blipFill>
        <p:spPr>
          <a:xfrm>
            <a:off x="813816" y="740664"/>
            <a:ext cx="566928" cy="566928"/>
          </a:xfrm>
          <a:prstGeom prst="rect">
            <a:avLst/>
          </a:prstGeom>
        </p:spPr>
      </p:pic>
      <p:sp>
        <p:nvSpPr>
          <p:cNvPr id="3" name="Text 0"/>
          <p:cNvSpPr txBox="1"/>
          <p:nvPr/>
        </p:nvSpPr>
        <p:spPr>
          <a:xfrm>
            <a:off x="1545336" y="886968"/>
            <a:ext cx="7315200" cy="320040"/>
          </a:xfrm>
          <a:prstGeom prst="rect">
            <a:avLst/>
          </a:prstGeom>
          <a:noFill/>
          <a:ln/>
        </p:spPr>
        <p:txBody>
          <a:bodyPr wrap="square" lIns="0" tIns="0" rIns="0" bIns="0" rtlCol="0" anchor="t"/>
          <a:lstStyle/>
          <a:p>
            <a:pPr indent="0" marL="0">
              <a:buNone/>
            </a:pPr>
            <a:r>
              <a:rPr lang="en-US" sz="1200" spc="300" kern="0" dirty="0">
                <a:solidFill>
                  <a:srgbClr val="5EEAD4"/>
                </a:solidFill>
                <a:latin typeface="Consolas" pitchFamily="34" charset="0"/>
                <a:ea typeface="Consolas" pitchFamily="34" charset="-122"/>
                <a:cs typeface="Consolas" pitchFamily="34" charset="-120"/>
              </a:rPr>
              <a:t>ENVIRONMENTAL HACKS · TRACK: AIR</a:t>
            </a:r>
            <a:endParaRPr lang="en-US" sz="1200" dirty="0"/>
          </a:p>
        </p:txBody>
      </p:sp>
      <p:sp>
        <p:nvSpPr>
          <p:cNvPr id="4" name="Text 0"/>
          <p:cNvSpPr/>
          <p:nvPr>
            <p:ph idx="100" type="title" hasCustomPrompt="1"/>
          </p:nvPr>
        </p:nvSpPr>
        <p:spPr>
          <a:xfrm>
            <a:off x="813816" y="1554480"/>
            <a:ext cx="10564063" cy="1188720"/>
          </a:xfrm>
          <a:prstGeom prst="rect">
            <a:avLst/>
          </a:prstGeom>
          <a:noFill/>
          <a:ln/>
        </p:spPr>
        <p:txBody>
          <a:bodyPr wrap="square" lIns="0" tIns="0" rIns="0" bIns="0" rtlCol="0" anchor="t"/>
          <a:lstStyle/>
          <a:p>
            <a:pPr algn="l" indent="0" marL="0">
              <a:buNone/>
            </a:pPr>
            <a:r>
              <a:rPr lang="en-US" sz="8000" b="1" dirty="0">
                <a:solidFill>
                  <a:srgbClr val="E8EEF2"/>
                </a:solidFill>
                <a:latin typeface="Calibri" pitchFamily="34" charset="0"/>
                <a:ea typeface="Calibri" pitchFamily="34" charset="-122"/>
                <a:cs typeface="Calibri" pitchFamily="34" charset="-120"/>
              </a:rPr>
              <a:t>BreatheIQ</a:t>
            </a:r>
            <a:endParaRPr lang="en-US" sz="8000" dirty="0"/>
          </a:p>
        </p:txBody>
      </p:sp>
      <p:sp>
        <p:nvSpPr>
          <p:cNvPr id="5" name="Text 2"/>
          <p:cNvSpPr txBox="1"/>
          <p:nvPr/>
        </p:nvSpPr>
        <p:spPr>
          <a:xfrm>
            <a:off x="813816" y="2788920"/>
            <a:ext cx="10564063" cy="548640"/>
          </a:xfrm>
          <a:prstGeom prst="rect">
            <a:avLst/>
          </a:prstGeom>
          <a:noFill/>
          <a:ln/>
        </p:spPr>
        <p:txBody>
          <a:bodyPr wrap="square" lIns="0" tIns="0" rIns="0" bIns="0" rtlCol="0" anchor="t"/>
          <a:lstStyle/>
          <a:p>
            <a:pPr indent="0" marL="0">
              <a:buNone/>
            </a:pPr>
            <a:r>
              <a:rPr lang="en-US" sz="2800" b="1" dirty="0">
                <a:solidFill>
                  <a:srgbClr val="E8EEF2"/>
                </a:solidFill>
                <a:latin typeface="Calibri" pitchFamily="34" charset="0"/>
                <a:ea typeface="Calibri" pitchFamily="34" charset="-122"/>
                <a:cs typeface="Calibri" pitchFamily="34" charset="-120"/>
              </a:rPr>
              <a:t>Breathe easier between stations.</a:t>
            </a:r>
            <a:endParaRPr lang="en-US" sz="2800" dirty="0"/>
          </a:p>
        </p:txBody>
      </p:sp>
      <p:sp>
        <p:nvSpPr>
          <p:cNvPr id="6" name="Text 3"/>
          <p:cNvSpPr txBox="1"/>
          <p:nvPr/>
        </p:nvSpPr>
        <p:spPr>
          <a:xfrm>
            <a:off x="813816" y="3429000"/>
            <a:ext cx="7589520" cy="822960"/>
          </a:xfrm>
          <a:prstGeom prst="rect">
            <a:avLst/>
          </a:prstGeom>
          <a:noFill/>
          <a:ln/>
        </p:spPr>
        <p:txBody>
          <a:bodyPr wrap="square" lIns="0" tIns="0" rIns="0" bIns="0" rtlCol="0" anchor="t"/>
          <a:lstStyle/>
          <a:p>
            <a:pPr indent="0" marL="0">
              <a:buNone/>
            </a:pPr>
            <a:r>
              <a:rPr lang="en-US" sz="1600" dirty="0">
                <a:solidFill>
                  <a:srgbClr val="9AABBA"/>
                </a:solidFill>
                <a:latin typeface="Calibri" pitchFamily="34" charset="0"/>
                <a:ea typeface="Calibri" pitchFamily="34" charset="-122"/>
                <a:cs typeface="Calibri" pitchFamily="34" charset="-120"/>
              </a:rPr>
              <a:t>Pollution, exposure, and the days the AQI goes off the chart: measured, warned about and handled inside every train coach.</a:t>
            </a:r>
            <a:endParaRPr lang="en-US" sz="1600" dirty="0"/>
          </a:p>
        </p:txBody>
      </p:sp>
      <p:sp>
        <p:nvSpPr>
          <p:cNvPr id="7" name="Text 4"/>
          <p:cNvSpPr txBox="1"/>
          <p:nvPr/>
        </p:nvSpPr>
        <p:spPr>
          <a:xfrm>
            <a:off x="813816" y="4709160"/>
            <a:ext cx="2743200" cy="274320"/>
          </a:xfrm>
          <a:prstGeom prst="rect">
            <a:avLst/>
          </a:prstGeom>
          <a:noFill/>
          <a:ln/>
        </p:spPr>
        <p:txBody>
          <a:bodyPr wrap="square" lIns="0" tIns="0" rIns="0" bIns="0" rtlCol="0" anchor="t"/>
          <a:lstStyle/>
          <a:p>
            <a:pPr indent="0" marL="0">
              <a:buNone/>
            </a:pPr>
            <a:r>
              <a:rPr lang="en-US" sz="1200" spc="300" kern="0" dirty="0">
                <a:solidFill>
                  <a:srgbClr val="9AABBA"/>
                </a:solidFill>
                <a:latin typeface="Consolas" pitchFamily="34" charset="0"/>
                <a:ea typeface="Consolas" pitchFamily="34" charset="-122"/>
                <a:cs typeface="Consolas" pitchFamily="34" charset="-120"/>
              </a:rPr>
              <a:t>TEAM</a:t>
            </a:r>
            <a:endParaRPr lang="en-US" sz="1200" dirty="0"/>
          </a:p>
        </p:txBody>
      </p:sp>
      <p:sp>
        <p:nvSpPr>
          <p:cNvPr id="8" name="Text 5"/>
          <p:cNvSpPr txBox="1"/>
          <p:nvPr/>
        </p:nvSpPr>
        <p:spPr>
          <a:xfrm>
            <a:off x="813816" y="4983480"/>
            <a:ext cx="5486400" cy="502920"/>
          </a:xfrm>
          <a:prstGeom prst="rect">
            <a:avLst/>
          </a:prstGeom>
          <a:noFill/>
          <a:ln/>
        </p:spPr>
        <p:txBody>
          <a:bodyPr wrap="square" lIns="0" tIns="0" rIns="0" bIns="0" rtlCol="0" anchor="t"/>
          <a:lstStyle/>
          <a:p>
            <a:pPr indent="0" marL="0">
              <a:buNone/>
            </a:pPr>
            <a:r>
              <a:rPr lang="en-US" sz="2400" b="1" dirty="0">
                <a:solidFill>
                  <a:srgbClr val="E8EEF2"/>
                </a:solidFill>
                <a:latin typeface="Calibri" pitchFamily="34" charset="0"/>
                <a:ea typeface="Calibri" pitchFamily="34" charset="-122"/>
                <a:cs typeface="Calibri" pitchFamily="34" charset="-120"/>
              </a:rPr>
              <a:t>Team Purity</a:t>
            </a:r>
            <a:endParaRPr lang="en-US" sz="2400" dirty="0"/>
          </a:p>
        </p:txBody>
      </p:sp>
      <p:sp>
        <p:nvSpPr>
          <p:cNvPr id="9" name="Text 6"/>
          <p:cNvSpPr txBox="1"/>
          <p:nvPr/>
        </p:nvSpPr>
        <p:spPr>
          <a:xfrm>
            <a:off x="813816" y="5532120"/>
            <a:ext cx="8229600" cy="365760"/>
          </a:xfrm>
          <a:prstGeom prst="rect">
            <a:avLst/>
          </a:prstGeom>
          <a:noFill/>
          <a:ln/>
        </p:spPr>
        <p:txBody>
          <a:bodyPr wrap="square" lIns="0" tIns="0" rIns="0" bIns="0" rtlCol="0" anchor="t"/>
          <a:lstStyle/>
          <a:p>
            <a:pPr indent="0" marL="0">
              <a:buNone/>
            </a:pPr>
            <a:r>
              <a:rPr lang="en-US" sz="1300" dirty="0">
                <a:solidFill>
                  <a:srgbClr val="C7D3DD"/>
                </a:solidFill>
                <a:latin typeface="Calibri" pitchFamily="34" charset="0"/>
                <a:ea typeface="Calibri" pitchFamily="34" charset="-122"/>
                <a:cs typeface="Calibri" pitchFamily="34" charset="-120"/>
              </a:rPr>
              <a:t>Harsh Yadav (Leader) · Samriddhi Ganguly · Avishkar Jaiswal · Prayag Sharma</a:t>
            </a:r>
            <a:endParaRPr lang="en-US" sz="1300" dirty="0"/>
          </a:p>
        </p:txBody>
      </p:sp>
      <p:sp>
        <p:nvSpPr>
          <p:cNvPr id="10" name="Shape 7"/>
          <p:cNvSpPr/>
          <p:nvPr/>
        </p:nvSpPr>
        <p:spPr>
          <a:xfrm>
            <a:off x="9000439" y="5120640"/>
            <a:ext cx="2377440" cy="594360"/>
          </a:xfrm>
          <a:prstGeom prst="roundRect">
            <a:avLst>
              <a:gd name="adj" fmla="val 15385"/>
            </a:avLst>
          </a:prstGeom>
          <a:solidFill>
            <a:srgbClr val="0B1117"/>
          </a:solidFill>
          <a:ln w="19050">
            <a:solidFill>
              <a:srgbClr val="5EEAD4"/>
            </a:solidFill>
            <a:prstDash val="dash"/>
          </a:ln>
        </p:spPr>
      </p:sp>
      <p:sp>
        <p:nvSpPr>
          <p:cNvPr id="11" name="Text 8"/>
          <p:cNvSpPr txBox="1"/>
          <p:nvPr/>
        </p:nvSpPr>
        <p:spPr>
          <a:xfrm>
            <a:off x="9000439" y="5120640"/>
            <a:ext cx="2377440" cy="594360"/>
          </a:xfrm>
          <a:prstGeom prst="rect">
            <a:avLst/>
          </a:prstGeom>
          <a:noFill/>
          <a:ln/>
        </p:spPr>
        <p:txBody>
          <a:bodyPr wrap="square" lIns="0" tIns="0" rIns="0" bIns="0" rtlCol="0" anchor="ctr"/>
          <a:lstStyle/>
          <a:p>
            <a:pPr algn="ctr" indent="0" marL="0">
              <a:buNone/>
            </a:pPr>
            <a:r>
              <a:rPr lang="en-US" sz="1600" spc="200" kern="0" dirty="0">
                <a:solidFill>
                  <a:srgbClr val="5EEAD4"/>
                </a:solidFill>
                <a:latin typeface="Consolas" pitchFamily="34" charset="0"/>
                <a:ea typeface="Consolas" pitchFamily="34" charset="-122"/>
                <a:cs typeface="Consolas" pitchFamily="34" charset="-120"/>
              </a:rPr>
              <a:t>ID · YGJPRG</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813816" y="813816"/>
            <a:ext cx="10564063" cy="292608"/>
          </a:xfrm>
          <a:prstGeom prst="rect">
            <a:avLst/>
          </a:prstGeom>
          <a:noFill/>
          <a:ln/>
        </p:spPr>
        <p:txBody>
          <a:bodyPr wrap="square" lIns="0" tIns="0" rIns="0" bIns="0" rtlCol="0" anchor="t"/>
          <a:lstStyle/>
          <a:p>
            <a:pPr indent="0" marL="0">
              <a:buNone/>
            </a:pPr>
            <a:r>
              <a:rPr lang="en-US" sz="1200" spc="300" kern="0" dirty="0">
                <a:solidFill>
                  <a:srgbClr val="0F766E"/>
                </a:solidFill>
                <a:latin typeface="Consolas" pitchFamily="34" charset="0"/>
                <a:ea typeface="Consolas" pitchFamily="34" charset="-122"/>
                <a:cs typeface="Consolas" pitchFamily="34" charset="-120"/>
              </a:rPr>
              <a:t>01 · THE PROBLEM</a:t>
            </a:r>
            <a:endParaRPr lang="en-US" sz="1200" dirty="0"/>
          </a:p>
        </p:txBody>
      </p:sp>
      <p:sp>
        <p:nvSpPr>
          <p:cNvPr id="3" name="Text 0"/>
          <p:cNvSpPr/>
          <p:nvPr>
            <p:ph idx="100" type="title" hasCustomPrompt="1"/>
          </p:nvPr>
        </p:nvSpPr>
        <p:spPr>
          <a:xfrm>
            <a:off x="813816" y="1161288"/>
            <a:ext cx="10564063" cy="1188720"/>
          </a:xfrm>
          <a:prstGeom prst="rect">
            <a:avLst/>
          </a:prstGeom>
          <a:noFill/>
          <a:ln/>
        </p:spPr>
        <p:txBody>
          <a:bodyPr wrap="square" lIns="0" tIns="0" rIns="0" bIns="0" rtlCol="0" anchor="t"/>
          <a:lstStyle/>
          <a:p>
            <a:pPr algn="l" indent="0" marL="0">
              <a:buNone/>
            </a:pPr>
            <a:r>
              <a:rPr lang="en-US" sz="3600" b="1" dirty="0">
                <a:solidFill>
                  <a:srgbClr val="14202B"/>
                </a:solidFill>
                <a:latin typeface="Calibri" pitchFamily="34" charset="0"/>
                <a:ea typeface="Calibri" pitchFamily="34" charset="-122"/>
                <a:cs typeface="Calibri" pitchFamily="34" charset="-120"/>
              </a:rPr>
              <a:t>Coach air turns bad between stations, and nobody on board knows</a:t>
            </a:r>
            <a:endParaRPr lang="en-US" sz="3600" dirty="0"/>
          </a:p>
        </p:txBody>
      </p:sp>
      <p:sp>
        <p:nvSpPr>
          <p:cNvPr id="4" name="Shape 2"/>
          <p:cNvSpPr/>
          <p:nvPr/>
        </p:nvSpPr>
        <p:spPr>
          <a:xfrm>
            <a:off x="813816" y="2514600"/>
            <a:ext cx="2926080" cy="3520440"/>
          </a:xfrm>
          <a:prstGeom prst="roundRect">
            <a:avLst>
              <a:gd name="adj" fmla="val 3125"/>
            </a:avLst>
          </a:prstGeom>
          <a:solidFill>
            <a:srgbClr val="14202B"/>
          </a:solidFill>
          <a:ln w="12700">
            <a:solidFill>
              <a:srgbClr val="14202B"/>
            </a:solidFill>
            <a:prstDash val="solid"/>
          </a:ln>
        </p:spPr>
      </p:sp>
      <p:sp>
        <p:nvSpPr>
          <p:cNvPr id="5" name="Text 3"/>
          <p:cNvSpPr txBox="1"/>
          <p:nvPr/>
        </p:nvSpPr>
        <p:spPr>
          <a:xfrm>
            <a:off x="1115568" y="3017520"/>
            <a:ext cx="2377440" cy="914400"/>
          </a:xfrm>
          <a:prstGeom prst="rect">
            <a:avLst/>
          </a:prstGeom>
          <a:noFill/>
          <a:ln/>
        </p:spPr>
        <p:txBody>
          <a:bodyPr wrap="square" lIns="0" tIns="0" rIns="0" bIns="0" rtlCol="0" anchor="t"/>
          <a:lstStyle/>
          <a:p>
            <a:pPr indent="0" marL="0">
              <a:buNone/>
            </a:pPr>
            <a:r>
              <a:rPr lang="en-US" sz="6000" b="1" dirty="0">
                <a:solidFill>
                  <a:srgbClr val="5EEAD4"/>
                </a:solidFill>
                <a:latin typeface="Calibri" pitchFamily="34" charset="0"/>
                <a:ea typeface="Calibri" pitchFamily="34" charset="-122"/>
                <a:cs typeface="Calibri" pitchFamily="34" charset="-120"/>
              </a:rPr>
              <a:t>20M+</a:t>
            </a:r>
            <a:endParaRPr lang="en-US" sz="6000" dirty="0"/>
          </a:p>
        </p:txBody>
      </p:sp>
      <p:sp>
        <p:nvSpPr>
          <p:cNvPr id="6" name="Text 4"/>
          <p:cNvSpPr txBox="1"/>
          <p:nvPr/>
        </p:nvSpPr>
        <p:spPr>
          <a:xfrm>
            <a:off x="1115568" y="4069080"/>
            <a:ext cx="2331720" cy="1737360"/>
          </a:xfrm>
          <a:prstGeom prst="rect">
            <a:avLst/>
          </a:prstGeom>
          <a:noFill/>
          <a:ln/>
        </p:spPr>
        <p:txBody>
          <a:bodyPr wrap="square" lIns="0" tIns="0" rIns="0" bIns="0" rtlCol="0" anchor="t"/>
          <a:lstStyle/>
          <a:p>
            <a:pPr indent="0" marL="0">
              <a:buNone/>
            </a:pPr>
            <a:r>
              <a:rPr lang="en-US" sz="1600" dirty="0">
                <a:solidFill>
                  <a:srgbClr val="E8EEF2"/>
                </a:solidFill>
                <a:latin typeface="Calibri" pitchFamily="34" charset="0"/>
                <a:ea typeface="Calibri" pitchFamily="34" charset="-122"/>
                <a:cs typeface="Calibri" pitchFamily="34" charset="-120"/>
              </a:rPr>
              <a:t>passengers ride Indian Railways every day, in cramped, crowded, weakly ventilated coaches.</a:t>
            </a:r>
            <a:endParaRPr lang="en-US" sz="1600" dirty="0"/>
          </a:p>
        </p:txBody>
      </p:sp>
      <p:sp>
        <p:nvSpPr>
          <p:cNvPr id="7" name="Shape 5"/>
          <p:cNvSpPr/>
          <p:nvPr/>
        </p:nvSpPr>
        <p:spPr>
          <a:xfrm>
            <a:off x="3941064" y="2514600"/>
            <a:ext cx="3640684" cy="1682496"/>
          </a:xfrm>
          <a:prstGeom prst="roundRect">
            <a:avLst>
              <a:gd name="adj" fmla="val 5435"/>
            </a:avLst>
          </a:prstGeom>
          <a:solidFill>
            <a:srgbClr val="FBFCFB"/>
          </a:solidFill>
          <a:ln w="12700">
            <a:solidFill>
              <a:srgbClr val="D9E1DF"/>
            </a:solidFill>
            <a:prstDash val="solid"/>
          </a:ln>
        </p:spPr>
      </p:sp>
      <p:sp>
        <p:nvSpPr>
          <p:cNvPr id="8" name="Text 6"/>
          <p:cNvSpPr txBox="1"/>
          <p:nvPr/>
        </p:nvSpPr>
        <p:spPr>
          <a:xfrm>
            <a:off x="4215384" y="2788920"/>
            <a:ext cx="3092044" cy="411480"/>
          </a:xfrm>
          <a:prstGeom prst="rect">
            <a:avLst/>
          </a:prstGeom>
          <a:noFill/>
          <a:ln/>
        </p:spPr>
        <p:txBody>
          <a:bodyPr wrap="square" lIns="0" tIns="0" rIns="0" bIns="0" rtlCol="0" anchor="t"/>
          <a:lstStyle/>
          <a:p>
            <a:pPr indent="0" marL="0">
              <a:buNone/>
            </a:pPr>
            <a:r>
              <a:rPr lang="en-US" sz="1800" b="1" dirty="0">
                <a:solidFill>
                  <a:srgbClr val="14202B"/>
                </a:solidFill>
                <a:latin typeface="Calibri" pitchFamily="34" charset="0"/>
                <a:ea typeface="Calibri" pitchFamily="34" charset="-122"/>
                <a:cs typeface="Calibri" pitchFamily="34" charset="-120"/>
              </a:rPr>
              <a:t>Busy platforms</a:t>
            </a:r>
            <a:endParaRPr lang="en-US" sz="1800" dirty="0"/>
          </a:p>
        </p:txBody>
      </p:sp>
      <p:sp>
        <p:nvSpPr>
          <p:cNvPr id="9" name="Text 7"/>
          <p:cNvSpPr txBox="1"/>
          <p:nvPr/>
        </p:nvSpPr>
        <p:spPr>
          <a:xfrm>
            <a:off x="4215384" y="3264408"/>
            <a:ext cx="3092044" cy="722376"/>
          </a:xfrm>
          <a:prstGeom prst="rect">
            <a:avLst/>
          </a:prstGeom>
          <a:noFill/>
          <a:ln/>
        </p:spPr>
        <p:txBody>
          <a:bodyPr wrap="square" lIns="0" tIns="0" rIns="0" bIns="0" rtlCol="0" anchor="t"/>
          <a:lstStyle/>
          <a:p>
            <a:pPr indent="0" marL="0">
              <a:buNone/>
            </a:pPr>
            <a:r>
              <a:rPr lang="en-US" sz="1400" dirty="0">
                <a:solidFill>
                  <a:srgbClr val="4A5A68"/>
                </a:solidFill>
                <a:latin typeface="Calibri" pitchFamily="34" charset="0"/>
                <a:ea typeface="Calibri" pitchFamily="34" charset="-122"/>
                <a:cs typeface="Calibri" pitchFamily="34" charset="-120"/>
              </a:rPr>
              <a:t>Doors open into diesel exhaust, dust and heat at every crowded stop.</a:t>
            </a:r>
            <a:endParaRPr lang="en-US" sz="1400" dirty="0"/>
          </a:p>
        </p:txBody>
      </p:sp>
      <p:sp>
        <p:nvSpPr>
          <p:cNvPr id="10" name="Shape 8"/>
          <p:cNvSpPr/>
          <p:nvPr/>
        </p:nvSpPr>
        <p:spPr>
          <a:xfrm>
            <a:off x="7737196" y="2514600"/>
            <a:ext cx="3640684" cy="1682496"/>
          </a:xfrm>
          <a:prstGeom prst="roundRect">
            <a:avLst>
              <a:gd name="adj" fmla="val 5435"/>
            </a:avLst>
          </a:prstGeom>
          <a:solidFill>
            <a:srgbClr val="FBFCFB"/>
          </a:solidFill>
          <a:ln w="12700">
            <a:solidFill>
              <a:srgbClr val="D9E1DF"/>
            </a:solidFill>
            <a:prstDash val="solid"/>
          </a:ln>
        </p:spPr>
      </p:sp>
      <p:sp>
        <p:nvSpPr>
          <p:cNvPr id="11" name="Text 9"/>
          <p:cNvSpPr txBox="1"/>
          <p:nvPr/>
        </p:nvSpPr>
        <p:spPr>
          <a:xfrm>
            <a:off x="8011516" y="2788920"/>
            <a:ext cx="3092044" cy="411480"/>
          </a:xfrm>
          <a:prstGeom prst="rect">
            <a:avLst/>
          </a:prstGeom>
          <a:noFill/>
          <a:ln/>
        </p:spPr>
        <p:txBody>
          <a:bodyPr wrap="square" lIns="0" tIns="0" rIns="0" bIns="0" rtlCol="0" anchor="t"/>
          <a:lstStyle/>
          <a:p>
            <a:pPr indent="0" marL="0">
              <a:buNone/>
            </a:pPr>
            <a:r>
              <a:rPr lang="en-US" sz="1800" b="1" dirty="0">
                <a:solidFill>
                  <a:srgbClr val="14202B"/>
                </a:solidFill>
                <a:latin typeface="Calibri" pitchFamily="34" charset="0"/>
                <a:ea typeface="Calibri" pitchFamily="34" charset="-122"/>
                <a:cs typeface="Calibri" pitchFamily="34" charset="-120"/>
              </a:rPr>
              <a:t>Polluted stretches</a:t>
            </a:r>
            <a:endParaRPr lang="en-US" sz="1800" dirty="0"/>
          </a:p>
        </p:txBody>
      </p:sp>
      <p:sp>
        <p:nvSpPr>
          <p:cNvPr id="12" name="Text 10"/>
          <p:cNvSpPr txBox="1"/>
          <p:nvPr/>
        </p:nvSpPr>
        <p:spPr>
          <a:xfrm>
            <a:off x="8011516" y="3264408"/>
            <a:ext cx="3092044" cy="722376"/>
          </a:xfrm>
          <a:prstGeom prst="rect">
            <a:avLst/>
          </a:prstGeom>
          <a:noFill/>
          <a:ln/>
        </p:spPr>
        <p:txBody>
          <a:bodyPr wrap="square" lIns="0" tIns="0" rIns="0" bIns="0" rtlCol="0" anchor="t"/>
          <a:lstStyle/>
          <a:p>
            <a:pPr indent="0" marL="0">
              <a:buNone/>
            </a:pPr>
            <a:r>
              <a:rPr lang="en-US" sz="1400" dirty="0">
                <a:solidFill>
                  <a:srgbClr val="4A5A68"/>
                </a:solidFill>
                <a:latin typeface="Calibri" pitchFamily="34" charset="0"/>
                <a:ea typeface="Calibri" pitchFamily="34" charset="-122"/>
                <a:cs typeface="Calibri" pitchFamily="34" charset="-120"/>
              </a:rPr>
              <a:t>Stubble-burning belts, industrial zones and tunnels full of brake dust.</a:t>
            </a:r>
            <a:endParaRPr lang="en-US" sz="1400" dirty="0"/>
          </a:p>
        </p:txBody>
      </p:sp>
      <p:sp>
        <p:nvSpPr>
          <p:cNvPr id="13" name="Shape 11"/>
          <p:cNvSpPr/>
          <p:nvPr/>
        </p:nvSpPr>
        <p:spPr>
          <a:xfrm>
            <a:off x="3941064" y="4352544"/>
            <a:ext cx="3640684" cy="1682496"/>
          </a:xfrm>
          <a:prstGeom prst="roundRect">
            <a:avLst>
              <a:gd name="adj" fmla="val 5435"/>
            </a:avLst>
          </a:prstGeom>
          <a:solidFill>
            <a:srgbClr val="FBFCFB"/>
          </a:solidFill>
          <a:ln w="12700">
            <a:solidFill>
              <a:srgbClr val="D9E1DF"/>
            </a:solidFill>
            <a:prstDash val="solid"/>
          </a:ln>
        </p:spPr>
      </p:sp>
      <p:sp>
        <p:nvSpPr>
          <p:cNvPr id="14" name="Text 12"/>
          <p:cNvSpPr txBox="1"/>
          <p:nvPr/>
        </p:nvSpPr>
        <p:spPr>
          <a:xfrm>
            <a:off x="4215384" y="4626864"/>
            <a:ext cx="3092044" cy="411480"/>
          </a:xfrm>
          <a:prstGeom prst="rect">
            <a:avLst/>
          </a:prstGeom>
          <a:noFill/>
          <a:ln/>
        </p:spPr>
        <p:txBody>
          <a:bodyPr wrap="square" lIns="0" tIns="0" rIns="0" bIns="0" rtlCol="0" anchor="t"/>
          <a:lstStyle/>
          <a:p>
            <a:pPr indent="0" marL="0">
              <a:buNone/>
            </a:pPr>
            <a:r>
              <a:rPr lang="en-US" sz="1800" b="1" dirty="0">
                <a:solidFill>
                  <a:srgbClr val="14202B"/>
                </a:solidFill>
                <a:latin typeface="Calibri" pitchFamily="34" charset="0"/>
                <a:ea typeface="Calibri" pitchFamily="34" charset="-122"/>
                <a:cs typeface="Calibri" pitchFamily="34" charset="-120"/>
              </a:rPr>
              <a:t>Packed coaches</a:t>
            </a:r>
            <a:endParaRPr lang="en-US" sz="1800" dirty="0"/>
          </a:p>
        </p:txBody>
      </p:sp>
      <p:sp>
        <p:nvSpPr>
          <p:cNvPr id="15" name="Text 13"/>
          <p:cNvSpPr txBox="1"/>
          <p:nvPr/>
        </p:nvSpPr>
        <p:spPr>
          <a:xfrm>
            <a:off x="4215384" y="5102352"/>
            <a:ext cx="3092044" cy="722376"/>
          </a:xfrm>
          <a:prstGeom prst="rect">
            <a:avLst/>
          </a:prstGeom>
          <a:noFill/>
          <a:ln/>
        </p:spPr>
        <p:txBody>
          <a:bodyPr wrap="square" lIns="0" tIns="0" rIns="0" bIns="0" rtlCol="0" anchor="t"/>
          <a:lstStyle/>
          <a:p>
            <a:pPr indent="0" marL="0">
              <a:buNone/>
            </a:pPr>
            <a:r>
              <a:rPr lang="en-US" sz="1400" dirty="0">
                <a:solidFill>
                  <a:srgbClr val="4A5A68"/>
                </a:solidFill>
                <a:latin typeface="Calibri" pitchFamily="34" charset="0"/>
                <a:ea typeface="Calibri" pitchFamily="34" charset="-122"/>
                <a:cs typeface="Calibri" pitchFamily="34" charset="-120"/>
              </a:rPr>
              <a:t>CO₂, temperature and humidity climb within minutes.</a:t>
            </a:r>
            <a:endParaRPr lang="en-US" sz="1400" dirty="0"/>
          </a:p>
        </p:txBody>
      </p:sp>
      <p:sp>
        <p:nvSpPr>
          <p:cNvPr id="16" name="Shape 14"/>
          <p:cNvSpPr/>
          <p:nvPr/>
        </p:nvSpPr>
        <p:spPr>
          <a:xfrm>
            <a:off x="7737196" y="4352544"/>
            <a:ext cx="3640684" cy="1682496"/>
          </a:xfrm>
          <a:prstGeom prst="roundRect">
            <a:avLst>
              <a:gd name="adj" fmla="val 5435"/>
            </a:avLst>
          </a:prstGeom>
          <a:solidFill>
            <a:srgbClr val="FBFCFB"/>
          </a:solidFill>
          <a:ln w="12700">
            <a:solidFill>
              <a:srgbClr val="D9E1DF"/>
            </a:solidFill>
            <a:prstDash val="solid"/>
          </a:ln>
        </p:spPr>
      </p:sp>
      <p:sp>
        <p:nvSpPr>
          <p:cNvPr id="17" name="Text 15"/>
          <p:cNvSpPr txBox="1"/>
          <p:nvPr/>
        </p:nvSpPr>
        <p:spPr>
          <a:xfrm>
            <a:off x="8011516" y="4626864"/>
            <a:ext cx="3092044" cy="411480"/>
          </a:xfrm>
          <a:prstGeom prst="rect">
            <a:avLst/>
          </a:prstGeom>
          <a:noFill/>
          <a:ln/>
        </p:spPr>
        <p:txBody>
          <a:bodyPr wrap="square" lIns="0" tIns="0" rIns="0" bIns="0" rtlCol="0" anchor="t"/>
          <a:lstStyle/>
          <a:p>
            <a:pPr indent="0" marL="0">
              <a:buNone/>
            </a:pPr>
            <a:r>
              <a:rPr lang="en-US" sz="1800" b="1" dirty="0">
                <a:solidFill>
                  <a:srgbClr val="14202B"/>
                </a:solidFill>
                <a:latin typeface="Calibri" pitchFamily="34" charset="0"/>
                <a:ea typeface="Calibri" pitchFamily="34" charset="-122"/>
                <a:cs typeface="Calibri" pitchFamily="34" charset="-120"/>
              </a:rPr>
              <a:t>No warning, no plan</a:t>
            </a:r>
            <a:endParaRPr lang="en-US" sz="1800" dirty="0"/>
          </a:p>
        </p:txBody>
      </p:sp>
      <p:sp>
        <p:nvSpPr>
          <p:cNvPr id="18" name="Text 16"/>
          <p:cNvSpPr txBox="1"/>
          <p:nvPr/>
        </p:nvSpPr>
        <p:spPr>
          <a:xfrm>
            <a:off x="8011516" y="5102352"/>
            <a:ext cx="3092044" cy="722376"/>
          </a:xfrm>
          <a:prstGeom prst="rect">
            <a:avLst/>
          </a:prstGeom>
          <a:noFill/>
          <a:ln/>
        </p:spPr>
        <p:txBody>
          <a:bodyPr wrap="square" lIns="0" tIns="0" rIns="0" bIns="0" rtlCol="0" anchor="t"/>
          <a:lstStyle/>
          <a:p>
            <a:pPr indent="0" marL="0">
              <a:buNone/>
            </a:pPr>
            <a:r>
              <a:rPr lang="en-US" sz="1400" dirty="0">
                <a:solidFill>
                  <a:srgbClr val="4A5A68"/>
                </a:solidFill>
                <a:latin typeface="Calibri" pitchFamily="34" charset="0"/>
                <a:ea typeface="Calibri" pitchFamily="34" charset="-122"/>
                <a:cs typeface="Calibri" pitchFamily="34" charset="-120"/>
              </a:rPr>
              <a:t>Nothing measures it, nobody is told, and bad-air days have no playbook.</a:t>
            </a:r>
            <a:endParaRPr lang="en-US" sz="1400" dirty="0"/>
          </a:p>
        </p:txBody>
      </p:sp>
      <p:sp>
        <p:nvSpPr>
          <p:cNvPr id="25" name="Slide Number Placeholder 0"/>
          <p:cNvSpPr>
            <a:spLocks noGrp="1"/>
          </p:cNvSpPr>
          <p:nvPr>
            <p:ph type="sldNum" sz="quarter" idx="4294967295"/>
          </p:nvPr>
        </p:nvSpPr>
        <p:spPr>
          <a:xfrm>
            <a:off x="10463479" y="6263640"/>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4A5A68"/>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813816" y="813816"/>
            <a:ext cx="10564063" cy="292608"/>
          </a:xfrm>
          <a:prstGeom prst="rect">
            <a:avLst/>
          </a:prstGeom>
          <a:noFill/>
          <a:ln/>
        </p:spPr>
        <p:txBody>
          <a:bodyPr wrap="square" lIns="0" tIns="0" rIns="0" bIns="0" rtlCol="0" anchor="t"/>
          <a:lstStyle/>
          <a:p>
            <a:pPr indent="0" marL="0">
              <a:buNone/>
            </a:pPr>
            <a:r>
              <a:rPr lang="en-US" sz="1200" spc="300" kern="0" dirty="0">
                <a:solidFill>
                  <a:srgbClr val="5EEAD4"/>
                </a:solidFill>
                <a:latin typeface="Consolas" pitchFamily="34" charset="0"/>
                <a:ea typeface="Consolas" pitchFamily="34" charset="-122"/>
                <a:cs typeface="Consolas" pitchFamily="34" charset="-120"/>
              </a:rPr>
              <a:t>02 · WHO BREATHES THE WORST OF IT</a:t>
            </a:r>
            <a:endParaRPr lang="en-US" sz="1200" dirty="0"/>
          </a:p>
        </p:txBody>
      </p:sp>
      <p:sp>
        <p:nvSpPr>
          <p:cNvPr id="3" name="Text 0"/>
          <p:cNvSpPr/>
          <p:nvPr>
            <p:ph idx="100" type="title" hasCustomPrompt="1"/>
          </p:nvPr>
        </p:nvSpPr>
        <p:spPr>
          <a:xfrm>
            <a:off x="813816" y="1161288"/>
            <a:ext cx="10564063" cy="1188720"/>
          </a:xfrm>
          <a:prstGeom prst="rect">
            <a:avLst/>
          </a:prstGeom>
          <a:noFill/>
          <a:ln/>
        </p:spPr>
        <p:txBody>
          <a:bodyPr wrap="square" lIns="0" tIns="0" rIns="0" bIns="0" rtlCol="0" anchor="t"/>
          <a:lstStyle/>
          <a:p>
            <a:pPr algn="l" indent="0" marL="0">
              <a:buNone/>
            </a:pPr>
            <a:r>
              <a:rPr lang="en-US" sz="3600" b="1" dirty="0">
                <a:solidFill>
                  <a:srgbClr val="E8EEF2"/>
                </a:solidFill>
                <a:latin typeface="Calibri" pitchFamily="34" charset="0"/>
                <a:ea typeface="Calibri" pitchFamily="34" charset="-122"/>
                <a:cs typeface="Calibri" pitchFamily="34" charset="-120"/>
              </a:rPr>
              <a:t>Same air. Very different risk</a:t>
            </a:r>
            <a:endParaRPr lang="en-US" sz="3600" dirty="0"/>
          </a:p>
        </p:txBody>
      </p:sp>
      <p:sp>
        <p:nvSpPr>
          <p:cNvPr id="4" name="Shape 2"/>
          <p:cNvSpPr/>
          <p:nvPr/>
        </p:nvSpPr>
        <p:spPr>
          <a:xfrm>
            <a:off x="813816" y="2514600"/>
            <a:ext cx="1988454" cy="2514600"/>
          </a:xfrm>
          <a:prstGeom prst="roundRect">
            <a:avLst>
              <a:gd name="adj" fmla="val 4599"/>
            </a:avLst>
          </a:prstGeom>
          <a:solidFill>
            <a:srgbClr val="121B24"/>
          </a:solidFill>
          <a:ln w="12700">
            <a:solidFill>
              <a:srgbClr val="22303D"/>
            </a:solidFill>
            <a:prstDash val="solid"/>
          </a:ln>
        </p:spPr>
      </p:sp>
      <p:sp>
        <p:nvSpPr>
          <p:cNvPr id="5" name="Text 3"/>
          <p:cNvSpPr txBox="1"/>
          <p:nvPr/>
        </p:nvSpPr>
        <p:spPr>
          <a:xfrm>
            <a:off x="1042416" y="2743200"/>
            <a:ext cx="1531254" cy="594360"/>
          </a:xfrm>
          <a:prstGeom prst="rect">
            <a:avLst/>
          </a:prstGeom>
          <a:noFill/>
          <a:ln/>
        </p:spPr>
        <p:txBody>
          <a:bodyPr wrap="square" lIns="0" tIns="0" rIns="0" bIns="0" rtlCol="0" anchor="t"/>
          <a:lstStyle/>
          <a:p>
            <a:pPr indent="0" marL="0">
              <a:buNone/>
            </a:pPr>
            <a:r>
              <a:rPr lang="en-US" sz="3600" b="1" dirty="0">
                <a:solidFill>
                  <a:srgbClr val="5EEAD4"/>
                </a:solidFill>
                <a:latin typeface="Calibri" pitchFamily="34" charset="0"/>
                <a:ea typeface="Calibri" pitchFamily="34" charset="-122"/>
                <a:cs typeface="Calibri" pitchFamily="34" charset="-120"/>
              </a:rPr>
              <a:t>×1.5</a:t>
            </a:r>
            <a:endParaRPr lang="en-US" sz="3600" dirty="0"/>
          </a:p>
        </p:txBody>
      </p:sp>
      <p:sp>
        <p:nvSpPr>
          <p:cNvPr id="6" name="Text 4"/>
          <p:cNvSpPr txBox="1"/>
          <p:nvPr/>
        </p:nvSpPr>
        <p:spPr>
          <a:xfrm>
            <a:off x="1042416" y="3429000"/>
            <a:ext cx="1531254" cy="365760"/>
          </a:xfrm>
          <a:prstGeom prst="rect">
            <a:avLst/>
          </a:prstGeom>
          <a:noFill/>
          <a:ln/>
        </p:spPr>
        <p:txBody>
          <a:bodyPr wrap="square" lIns="0" tIns="0" rIns="0" bIns="0" rtlCol="0" anchor="t"/>
          <a:lstStyle/>
          <a:p>
            <a:pPr indent="0" marL="0">
              <a:buNone/>
            </a:pPr>
            <a:r>
              <a:rPr lang="en-US" sz="1600" b="1" dirty="0">
                <a:solidFill>
                  <a:srgbClr val="E8EEF2"/>
                </a:solidFill>
                <a:latin typeface="Calibri" pitchFamily="34" charset="0"/>
                <a:ea typeface="Calibri" pitchFamily="34" charset="-122"/>
                <a:cs typeface="Calibri" pitchFamily="34" charset="-120"/>
              </a:rPr>
              <a:t>Children</a:t>
            </a:r>
            <a:endParaRPr lang="en-US" sz="1600" dirty="0"/>
          </a:p>
        </p:txBody>
      </p:sp>
      <p:sp>
        <p:nvSpPr>
          <p:cNvPr id="7" name="Text 5"/>
          <p:cNvSpPr txBox="1"/>
          <p:nvPr/>
        </p:nvSpPr>
        <p:spPr>
          <a:xfrm>
            <a:off x="1042416" y="3840480"/>
            <a:ext cx="1531254" cy="1051560"/>
          </a:xfrm>
          <a:prstGeom prst="rect">
            <a:avLst/>
          </a:prstGeom>
          <a:noFill/>
          <a:ln/>
        </p:spPr>
        <p:txBody>
          <a:bodyPr wrap="square" lIns="0" tIns="0" rIns="0" bIns="0" rtlCol="0" anchor="t"/>
          <a:lstStyle/>
          <a:p>
            <a:pPr indent="0" marL="0">
              <a:buNone/>
            </a:pPr>
            <a:r>
              <a:rPr lang="en-US" sz="1300" dirty="0">
                <a:solidFill>
                  <a:srgbClr val="9AABBA"/>
                </a:solidFill>
                <a:latin typeface="Calibri" pitchFamily="34" charset="0"/>
                <a:ea typeface="Calibri" pitchFamily="34" charset="-122"/>
                <a:cs typeface="Calibri" pitchFamily="34" charset="-120"/>
              </a:rPr>
              <a:t>Under 12. Faster breathing, developing lungs.</a:t>
            </a:r>
            <a:endParaRPr lang="en-US" sz="1300" dirty="0"/>
          </a:p>
        </p:txBody>
      </p:sp>
      <p:sp>
        <p:nvSpPr>
          <p:cNvPr id="8" name="Shape 6"/>
          <p:cNvSpPr/>
          <p:nvPr/>
        </p:nvSpPr>
        <p:spPr>
          <a:xfrm>
            <a:off x="2957718" y="2514600"/>
            <a:ext cx="1988454" cy="2514600"/>
          </a:xfrm>
          <a:prstGeom prst="roundRect">
            <a:avLst>
              <a:gd name="adj" fmla="val 4599"/>
            </a:avLst>
          </a:prstGeom>
          <a:solidFill>
            <a:srgbClr val="121B24"/>
          </a:solidFill>
          <a:ln w="12700">
            <a:solidFill>
              <a:srgbClr val="22303D"/>
            </a:solidFill>
            <a:prstDash val="solid"/>
          </a:ln>
        </p:spPr>
      </p:sp>
      <p:sp>
        <p:nvSpPr>
          <p:cNvPr id="9" name="Text 7"/>
          <p:cNvSpPr txBox="1"/>
          <p:nvPr/>
        </p:nvSpPr>
        <p:spPr>
          <a:xfrm>
            <a:off x="3186318" y="2743200"/>
            <a:ext cx="1531254" cy="594360"/>
          </a:xfrm>
          <a:prstGeom prst="rect">
            <a:avLst/>
          </a:prstGeom>
          <a:noFill/>
          <a:ln/>
        </p:spPr>
        <p:txBody>
          <a:bodyPr wrap="square" lIns="0" tIns="0" rIns="0" bIns="0" rtlCol="0" anchor="t"/>
          <a:lstStyle/>
          <a:p>
            <a:pPr indent="0" marL="0">
              <a:buNone/>
            </a:pPr>
            <a:r>
              <a:rPr lang="en-US" sz="3600" b="1" dirty="0">
                <a:solidFill>
                  <a:srgbClr val="5EEAD4"/>
                </a:solidFill>
                <a:latin typeface="Calibri" pitchFamily="34" charset="0"/>
                <a:ea typeface="Calibri" pitchFamily="34" charset="-122"/>
                <a:cs typeface="Calibri" pitchFamily="34" charset="-120"/>
              </a:rPr>
              <a:t>×1.3</a:t>
            </a:r>
            <a:endParaRPr lang="en-US" sz="3600" dirty="0"/>
          </a:p>
        </p:txBody>
      </p:sp>
      <p:sp>
        <p:nvSpPr>
          <p:cNvPr id="10" name="Text 8"/>
          <p:cNvSpPr txBox="1"/>
          <p:nvPr/>
        </p:nvSpPr>
        <p:spPr>
          <a:xfrm>
            <a:off x="3186318" y="3429000"/>
            <a:ext cx="1531254" cy="365760"/>
          </a:xfrm>
          <a:prstGeom prst="rect">
            <a:avLst/>
          </a:prstGeom>
          <a:noFill/>
          <a:ln/>
        </p:spPr>
        <p:txBody>
          <a:bodyPr wrap="square" lIns="0" tIns="0" rIns="0" bIns="0" rtlCol="0" anchor="t"/>
          <a:lstStyle/>
          <a:p>
            <a:pPr indent="0" marL="0">
              <a:buNone/>
            </a:pPr>
            <a:r>
              <a:rPr lang="en-US" sz="1600" b="1" dirty="0">
                <a:solidFill>
                  <a:srgbClr val="E8EEF2"/>
                </a:solidFill>
                <a:latin typeface="Calibri" pitchFamily="34" charset="0"/>
                <a:ea typeface="Calibri" pitchFamily="34" charset="-122"/>
                <a:cs typeface="Calibri" pitchFamily="34" charset="-120"/>
              </a:rPr>
              <a:t>Elderly</a:t>
            </a:r>
            <a:endParaRPr lang="en-US" sz="1600" dirty="0"/>
          </a:p>
        </p:txBody>
      </p:sp>
      <p:sp>
        <p:nvSpPr>
          <p:cNvPr id="11" name="Text 9"/>
          <p:cNvSpPr txBox="1"/>
          <p:nvPr/>
        </p:nvSpPr>
        <p:spPr>
          <a:xfrm>
            <a:off x="3186318" y="3840480"/>
            <a:ext cx="1531254" cy="1051560"/>
          </a:xfrm>
          <a:prstGeom prst="rect">
            <a:avLst/>
          </a:prstGeom>
          <a:noFill/>
          <a:ln/>
        </p:spPr>
        <p:txBody>
          <a:bodyPr wrap="square" lIns="0" tIns="0" rIns="0" bIns="0" rtlCol="0" anchor="t"/>
          <a:lstStyle/>
          <a:p>
            <a:pPr indent="0" marL="0">
              <a:buNone/>
            </a:pPr>
            <a:r>
              <a:rPr lang="en-US" sz="1300" dirty="0">
                <a:solidFill>
                  <a:srgbClr val="9AABBA"/>
                </a:solidFill>
                <a:latin typeface="Calibri" pitchFamily="34" charset="0"/>
                <a:ea typeface="Calibri" pitchFamily="34" charset="-122"/>
                <a:cs typeface="Calibri" pitchFamily="34" charset="-120"/>
              </a:rPr>
              <a:t>65 and over. Heart and lung strain.</a:t>
            </a:r>
            <a:endParaRPr lang="en-US" sz="1300" dirty="0"/>
          </a:p>
        </p:txBody>
      </p:sp>
      <p:sp>
        <p:nvSpPr>
          <p:cNvPr id="12" name="Shape 10"/>
          <p:cNvSpPr/>
          <p:nvPr/>
        </p:nvSpPr>
        <p:spPr>
          <a:xfrm>
            <a:off x="5101620" y="2514600"/>
            <a:ext cx="1988454" cy="2514600"/>
          </a:xfrm>
          <a:prstGeom prst="roundRect">
            <a:avLst>
              <a:gd name="adj" fmla="val 4599"/>
            </a:avLst>
          </a:prstGeom>
          <a:solidFill>
            <a:srgbClr val="121B24"/>
          </a:solidFill>
          <a:ln w="12700">
            <a:solidFill>
              <a:srgbClr val="22303D"/>
            </a:solidFill>
            <a:prstDash val="solid"/>
          </a:ln>
        </p:spPr>
      </p:sp>
      <p:sp>
        <p:nvSpPr>
          <p:cNvPr id="13" name="Text 11"/>
          <p:cNvSpPr txBox="1"/>
          <p:nvPr/>
        </p:nvSpPr>
        <p:spPr>
          <a:xfrm>
            <a:off x="5330220" y="2743200"/>
            <a:ext cx="1531254" cy="594360"/>
          </a:xfrm>
          <a:prstGeom prst="rect">
            <a:avLst/>
          </a:prstGeom>
          <a:noFill/>
          <a:ln/>
        </p:spPr>
        <p:txBody>
          <a:bodyPr wrap="square" lIns="0" tIns="0" rIns="0" bIns="0" rtlCol="0" anchor="t"/>
          <a:lstStyle/>
          <a:p>
            <a:pPr indent="0" marL="0">
              <a:buNone/>
            </a:pPr>
            <a:r>
              <a:rPr lang="en-US" sz="3600" b="1" dirty="0">
                <a:solidFill>
                  <a:srgbClr val="5EEAD4"/>
                </a:solidFill>
                <a:latin typeface="Calibri" pitchFamily="34" charset="0"/>
                <a:ea typeface="Calibri" pitchFamily="34" charset="-122"/>
                <a:cs typeface="Calibri" pitchFamily="34" charset="-120"/>
              </a:rPr>
              <a:t>×1.7</a:t>
            </a:r>
            <a:endParaRPr lang="en-US" sz="3600" dirty="0"/>
          </a:p>
        </p:txBody>
      </p:sp>
      <p:sp>
        <p:nvSpPr>
          <p:cNvPr id="14" name="Text 12"/>
          <p:cNvSpPr txBox="1"/>
          <p:nvPr/>
        </p:nvSpPr>
        <p:spPr>
          <a:xfrm>
            <a:off x="5330220" y="3429000"/>
            <a:ext cx="1531254" cy="365760"/>
          </a:xfrm>
          <a:prstGeom prst="rect">
            <a:avLst/>
          </a:prstGeom>
          <a:noFill/>
          <a:ln/>
        </p:spPr>
        <p:txBody>
          <a:bodyPr wrap="square" lIns="0" tIns="0" rIns="0" bIns="0" rtlCol="0" anchor="t"/>
          <a:lstStyle/>
          <a:p>
            <a:pPr indent="0" marL="0">
              <a:buNone/>
            </a:pPr>
            <a:r>
              <a:rPr lang="en-US" sz="1600" b="1" dirty="0">
                <a:solidFill>
                  <a:srgbClr val="E8EEF2"/>
                </a:solidFill>
                <a:latin typeface="Calibri" pitchFamily="34" charset="0"/>
                <a:ea typeface="Calibri" pitchFamily="34" charset="-122"/>
                <a:cs typeface="Calibri" pitchFamily="34" charset="-120"/>
              </a:rPr>
              <a:t>Asthma, COPD</a:t>
            </a:r>
            <a:endParaRPr lang="en-US" sz="1600" dirty="0"/>
          </a:p>
        </p:txBody>
      </p:sp>
      <p:sp>
        <p:nvSpPr>
          <p:cNvPr id="15" name="Text 13"/>
          <p:cNvSpPr txBox="1"/>
          <p:nvPr/>
        </p:nvSpPr>
        <p:spPr>
          <a:xfrm>
            <a:off x="5330220" y="3840480"/>
            <a:ext cx="1531254" cy="1051560"/>
          </a:xfrm>
          <a:prstGeom prst="rect">
            <a:avLst/>
          </a:prstGeom>
          <a:noFill/>
          <a:ln/>
        </p:spPr>
        <p:txBody>
          <a:bodyPr wrap="square" lIns="0" tIns="0" rIns="0" bIns="0" rtlCol="0" anchor="t"/>
          <a:lstStyle/>
          <a:p>
            <a:pPr indent="0" marL="0">
              <a:buNone/>
            </a:pPr>
            <a:r>
              <a:rPr lang="en-US" sz="1300" dirty="0">
                <a:solidFill>
                  <a:srgbClr val="9AABBA"/>
                </a:solidFill>
                <a:latin typeface="Calibri" pitchFamily="34" charset="0"/>
                <a:ea typeface="Calibri" pitchFamily="34" charset="-122"/>
                <a:cs typeface="Calibri" pitchFamily="34" charset="-120"/>
              </a:rPr>
              <a:t>Known respiratory illness.</a:t>
            </a:r>
            <a:endParaRPr lang="en-US" sz="1300" dirty="0"/>
          </a:p>
        </p:txBody>
      </p:sp>
      <p:sp>
        <p:nvSpPr>
          <p:cNvPr id="16" name="Shape 14"/>
          <p:cNvSpPr/>
          <p:nvPr/>
        </p:nvSpPr>
        <p:spPr>
          <a:xfrm>
            <a:off x="7245523" y="2514600"/>
            <a:ext cx="1988454" cy="2514600"/>
          </a:xfrm>
          <a:prstGeom prst="roundRect">
            <a:avLst>
              <a:gd name="adj" fmla="val 4599"/>
            </a:avLst>
          </a:prstGeom>
          <a:solidFill>
            <a:srgbClr val="121B24"/>
          </a:solidFill>
          <a:ln w="12700">
            <a:solidFill>
              <a:srgbClr val="22303D"/>
            </a:solidFill>
            <a:prstDash val="solid"/>
          </a:ln>
        </p:spPr>
      </p:sp>
      <p:sp>
        <p:nvSpPr>
          <p:cNvPr id="17" name="Text 15"/>
          <p:cNvSpPr txBox="1"/>
          <p:nvPr/>
        </p:nvSpPr>
        <p:spPr>
          <a:xfrm>
            <a:off x="7474123" y="2743200"/>
            <a:ext cx="1531254" cy="594360"/>
          </a:xfrm>
          <a:prstGeom prst="rect">
            <a:avLst/>
          </a:prstGeom>
          <a:noFill/>
          <a:ln/>
        </p:spPr>
        <p:txBody>
          <a:bodyPr wrap="square" lIns="0" tIns="0" rIns="0" bIns="0" rtlCol="0" anchor="t"/>
          <a:lstStyle/>
          <a:p>
            <a:pPr indent="0" marL="0">
              <a:buNone/>
            </a:pPr>
            <a:r>
              <a:rPr lang="en-US" sz="3600" b="1" dirty="0">
                <a:solidFill>
                  <a:srgbClr val="5EEAD4"/>
                </a:solidFill>
                <a:latin typeface="Calibri" pitchFamily="34" charset="0"/>
                <a:ea typeface="Calibri" pitchFamily="34" charset="-122"/>
                <a:cs typeface="Calibri" pitchFamily="34" charset="-120"/>
              </a:rPr>
              <a:t>×1.3</a:t>
            </a:r>
            <a:endParaRPr lang="en-US" sz="3600" dirty="0"/>
          </a:p>
        </p:txBody>
      </p:sp>
      <p:sp>
        <p:nvSpPr>
          <p:cNvPr id="18" name="Text 16"/>
          <p:cNvSpPr txBox="1"/>
          <p:nvPr/>
        </p:nvSpPr>
        <p:spPr>
          <a:xfrm>
            <a:off x="7474123" y="3429000"/>
            <a:ext cx="1531254" cy="365760"/>
          </a:xfrm>
          <a:prstGeom prst="rect">
            <a:avLst/>
          </a:prstGeom>
          <a:noFill/>
          <a:ln/>
        </p:spPr>
        <p:txBody>
          <a:bodyPr wrap="square" lIns="0" tIns="0" rIns="0" bIns="0" rtlCol="0" anchor="t"/>
          <a:lstStyle/>
          <a:p>
            <a:pPr indent="0" marL="0">
              <a:buNone/>
            </a:pPr>
            <a:r>
              <a:rPr lang="en-US" sz="1600" b="1" dirty="0">
                <a:solidFill>
                  <a:srgbClr val="E8EEF2"/>
                </a:solidFill>
                <a:latin typeface="Calibri" pitchFamily="34" charset="0"/>
                <a:ea typeface="Calibri" pitchFamily="34" charset="-122"/>
                <a:cs typeface="Calibri" pitchFamily="34" charset="-120"/>
              </a:rPr>
              <a:t>Pregnant</a:t>
            </a:r>
            <a:endParaRPr lang="en-US" sz="1600" dirty="0"/>
          </a:p>
        </p:txBody>
      </p:sp>
      <p:sp>
        <p:nvSpPr>
          <p:cNvPr id="19" name="Text 17"/>
          <p:cNvSpPr txBox="1"/>
          <p:nvPr/>
        </p:nvSpPr>
        <p:spPr>
          <a:xfrm>
            <a:off x="7474123" y="3840480"/>
            <a:ext cx="1531254" cy="1051560"/>
          </a:xfrm>
          <a:prstGeom prst="rect">
            <a:avLst/>
          </a:prstGeom>
          <a:noFill/>
          <a:ln/>
        </p:spPr>
        <p:txBody>
          <a:bodyPr wrap="square" lIns="0" tIns="0" rIns="0" bIns="0" rtlCol="0" anchor="t"/>
          <a:lstStyle/>
          <a:p>
            <a:pPr indent="0" marL="0">
              <a:buNone/>
            </a:pPr>
            <a:r>
              <a:rPr lang="en-US" sz="1300" dirty="0">
                <a:solidFill>
                  <a:srgbClr val="9AABBA"/>
                </a:solidFill>
                <a:latin typeface="Calibri" pitchFamily="34" charset="0"/>
                <a:ea typeface="Calibri" pitchFamily="34" charset="-122"/>
                <a:cs typeface="Calibri" pitchFamily="34" charset="-120"/>
              </a:rPr>
              <a:t>Exposure is linked to low birth weight.</a:t>
            </a:r>
            <a:endParaRPr lang="en-US" sz="1300" dirty="0"/>
          </a:p>
        </p:txBody>
      </p:sp>
      <p:sp>
        <p:nvSpPr>
          <p:cNvPr id="20" name="Shape 18"/>
          <p:cNvSpPr/>
          <p:nvPr/>
        </p:nvSpPr>
        <p:spPr>
          <a:xfrm>
            <a:off x="9389425" y="2514600"/>
            <a:ext cx="1988454" cy="2514600"/>
          </a:xfrm>
          <a:prstGeom prst="roundRect">
            <a:avLst>
              <a:gd name="adj" fmla="val 4599"/>
            </a:avLst>
          </a:prstGeom>
          <a:solidFill>
            <a:srgbClr val="121B24"/>
          </a:solidFill>
          <a:ln w="12700">
            <a:solidFill>
              <a:srgbClr val="22303D"/>
            </a:solidFill>
            <a:prstDash val="solid"/>
          </a:ln>
        </p:spPr>
      </p:sp>
      <p:sp>
        <p:nvSpPr>
          <p:cNvPr id="21" name="Text 19"/>
          <p:cNvSpPr txBox="1"/>
          <p:nvPr/>
        </p:nvSpPr>
        <p:spPr>
          <a:xfrm>
            <a:off x="9618025" y="2743200"/>
            <a:ext cx="1531254" cy="594360"/>
          </a:xfrm>
          <a:prstGeom prst="rect">
            <a:avLst/>
          </a:prstGeom>
          <a:noFill/>
          <a:ln/>
        </p:spPr>
        <p:txBody>
          <a:bodyPr wrap="square" lIns="0" tIns="0" rIns="0" bIns="0" rtlCol="0" anchor="t"/>
          <a:lstStyle/>
          <a:p>
            <a:pPr indent="0" marL="0">
              <a:buNone/>
            </a:pPr>
            <a:r>
              <a:rPr lang="en-US" sz="3600" b="1" dirty="0">
                <a:solidFill>
                  <a:srgbClr val="FBBF24"/>
                </a:solidFill>
                <a:latin typeface="Calibri" pitchFamily="34" charset="0"/>
                <a:ea typeface="Calibri" pitchFamily="34" charset="-122"/>
                <a:cs typeface="Calibri" pitchFamily="34" charset="-120"/>
              </a:rPr>
              <a:t>×1.2</a:t>
            </a:r>
            <a:endParaRPr lang="en-US" sz="3600" dirty="0"/>
          </a:p>
        </p:txBody>
      </p:sp>
      <p:sp>
        <p:nvSpPr>
          <p:cNvPr id="22" name="Text 20"/>
          <p:cNvSpPr txBox="1"/>
          <p:nvPr/>
        </p:nvSpPr>
        <p:spPr>
          <a:xfrm>
            <a:off x="9618025" y="3429000"/>
            <a:ext cx="1531254" cy="365760"/>
          </a:xfrm>
          <a:prstGeom prst="rect">
            <a:avLst/>
          </a:prstGeom>
          <a:noFill/>
          <a:ln/>
        </p:spPr>
        <p:txBody>
          <a:bodyPr wrap="square" lIns="0" tIns="0" rIns="0" bIns="0" rtlCol="0" anchor="t"/>
          <a:lstStyle/>
          <a:p>
            <a:pPr indent="0" marL="0">
              <a:buNone/>
            </a:pPr>
            <a:r>
              <a:rPr lang="en-US" sz="1600" b="1" dirty="0">
                <a:solidFill>
                  <a:srgbClr val="E8EEF2"/>
                </a:solidFill>
                <a:latin typeface="Calibri" pitchFamily="34" charset="0"/>
                <a:ea typeface="Calibri" pitchFamily="34" charset="-122"/>
                <a:cs typeface="Calibri" pitchFamily="34" charset="-120"/>
              </a:rPr>
              <a:t>Rail staff</a:t>
            </a:r>
            <a:endParaRPr lang="en-US" sz="1600" dirty="0"/>
          </a:p>
        </p:txBody>
      </p:sp>
      <p:sp>
        <p:nvSpPr>
          <p:cNvPr id="23" name="Text 21"/>
          <p:cNvSpPr txBox="1"/>
          <p:nvPr/>
        </p:nvSpPr>
        <p:spPr>
          <a:xfrm>
            <a:off x="9618025" y="3840480"/>
            <a:ext cx="1531254" cy="1051560"/>
          </a:xfrm>
          <a:prstGeom prst="rect">
            <a:avLst/>
          </a:prstGeom>
          <a:noFill/>
          <a:ln/>
        </p:spPr>
        <p:txBody>
          <a:bodyPr wrap="square" lIns="0" tIns="0" rIns="0" bIns="0" rtlCol="0" anchor="t"/>
          <a:lstStyle/>
          <a:p>
            <a:pPr indent="0" marL="0">
              <a:buNone/>
            </a:pPr>
            <a:r>
              <a:rPr lang="en-US" sz="1300" dirty="0">
                <a:solidFill>
                  <a:srgbClr val="9AABBA"/>
                </a:solidFill>
                <a:latin typeface="Calibri" pitchFamily="34" charset="0"/>
                <a:ea typeface="Calibri" pitchFamily="34" charset="-122"/>
                <a:cs typeface="Calibri" pitchFamily="34" charset="-120"/>
              </a:rPr>
              <a:t>8-hour shifts walking through every coach.</a:t>
            </a:r>
            <a:endParaRPr lang="en-US" sz="1300" dirty="0"/>
          </a:p>
        </p:txBody>
      </p:sp>
      <p:sp>
        <p:nvSpPr>
          <p:cNvPr id="24" name="Text 22"/>
          <p:cNvSpPr txBox="1"/>
          <p:nvPr/>
        </p:nvSpPr>
        <p:spPr>
          <a:xfrm>
            <a:off x="813816" y="5257800"/>
            <a:ext cx="9509760" cy="685800"/>
          </a:xfrm>
          <a:prstGeom prst="rect">
            <a:avLst/>
          </a:prstGeom>
          <a:noFill/>
          <a:ln/>
        </p:spPr>
        <p:txBody>
          <a:bodyPr wrap="square" lIns="0" tIns="0" rIns="0" bIns="0" rtlCol="0" anchor="t"/>
          <a:lstStyle/>
          <a:p>
            <a:pPr indent="0" marL="0">
              <a:buNone/>
            </a:pPr>
            <a:r>
              <a:rPr lang="en-US" sz="1500" dirty="0">
                <a:solidFill>
                  <a:srgbClr val="C7D3DD"/>
                </a:solidFill>
                <a:latin typeface="Calibri" pitchFamily="34" charset="0"/>
                <a:ea typeface="Calibri" pitchFamily="34" charset="-122"/>
                <a:cs typeface="Calibri" pitchFamily="34" charset="-120"/>
              </a:rPr>
              <a:t>Dose factor = breathing rate × sensitivity, against a resting adult. BreatheIQ tracks each group's dose separately, so the people at most risk are warned first.</a:t>
            </a:r>
            <a:endParaRPr lang="en-US" sz="1500" dirty="0"/>
          </a:p>
        </p:txBody>
      </p:sp>
      <p:sp>
        <p:nvSpPr>
          <p:cNvPr id="25" name="Slide Number Placeholder 0"/>
          <p:cNvSpPr>
            <a:spLocks noGrp="1"/>
          </p:cNvSpPr>
          <p:nvPr>
            <p:ph type="sldNum" sz="quarter" idx="4294967295"/>
          </p:nvPr>
        </p:nvSpPr>
        <p:spPr>
          <a:xfrm>
            <a:off x="10463479" y="6263640"/>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D90A3"/>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813816" y="813816"/>
            <a:ext cx="10564063" cy="292608"/>
          </a:xfrm>
          <a:prstGeom prst="rect">
            <a:avLst/>
          </a:prstGeom>
          <a:noFill/>
          <a:ln/>
        </p:spPr>
        <p:txBody>
          <a:bodyPr wrap="square" lIns="0" tIns="0" rIns="0" bIns="0" rtlCol="0" anchor="t"/>
          <a:lstStyle/>
          <a:p>
            <a:pPr indent="0" marL="0">
              <a:buNone/>
            </a:pPr>
            <a:r>
              <a:rPr lang="en-US" sz="1200" spc="300" kern="0" dirty="0">
                <a:solidFill>
                  <a:srgbClr val="5EEAD4"/>
                </a:solidFill>
                <a:latin typeface="Consolas" pitchFamily="34" charset="0"/>
                <a:ea typeface="Consolas" pitchFamily="34" charset="-122"/>
                <a:cs typeface="Consolas" pitchFamily="34" charset="-120"/>
              </a:rPr>
              <a:t>03 · OUR ANSWER</a:t>
            </a:r>
            <a:endParaRPr lang="en-US" sz="1200" dirty="0"/>
          </a:p>
        </p:txBody>
      </p:sp>
      <p:sp>
        <p:nvSpPr>
          <p:cNvPr id="3" name="Text 0"/>
          <p:cNvSpPr/>
          <p:nvPr>
            <p:ph idx="100" type="title" hasCustomPrompt="1"/>
          </p:nvPr>
        </p:nvSpPr>
        <p:spPr>
          <a:xfrm>
            <a:off x="813816" y="1161288"/>
            <a:ext cx="10564063" cy="1188720"/>
          </a:xfrm>
          <a:prstGeom prst="rect">
            <a:avLst/>
          </a:prstGeom>
          <a:noFill/>
          <a:ln/>
        </p:spPr>
        <p:txBody>
          <a:bodyPr wrap="square" lIns="0" tIns="0" rIns="0" bIns="0" rtlCol="0" anchor="t"/>
          <a:lstStyle/>
          <a:p>
            <a:pPr algn="l" indent="0" marL="0">
              <a:buNone/>
            </a:pPr>
            <a:r>
              <a:rPr lang="en-US" sz="3600" b="1" dirty="0">
                <a:solidFill>
                  <a:srgbClr val="E8EEF2"/>
                </a:solidFill>
                <a:latin typeface="Calibri" pitchFamily="34" charset="0"/>
                <a:ea typeface="Calibri" pitchFamily="34" charset="-122"/>
                <a:cs typeface="Calibri" pitchFamily="34" charset="-120"/>
              </a:rPr>
              <a:t>Three verbs, one for each part of the track</a:t>
            </a:r>
            <a:endParaRPr lang="en-US" sz="3600" dirty="0"/>
          </a:p>
        </p:txBody>
      </p:sp>
      <p:sp>
        <p:nvSpPr>
          <p:cNvPr id="4" name="Shape 2"/>
          <p:cNvSpPr/>
          <p:nvPr/>
        </p:nvSpPr>
        <p:spPr>
          <a:xfrm>
            <a:off x="813816" y="2514600"/>
            <a:ext cx="3387242" cy="3520440"/>
          </a:xfrm>
          <a:prstGeom prst="roundRect">
            <a:avLst>
              <a:gd name="adj" fmla="val 2700"/>
            </a:avLst>
          </a:prstGeom>
          <a:solidFill>
            <a:srgbClr val="121B24"/>
          </a:solidFill>
          <a:ln w="12700">
            <a:solidFill>
              <a:srgbClr val="22303D"/>
            </a:solidFill>
            <a:prstDash val="solid"/>
          </a:ln>
        </p:spPr>
      </p:sp>
      <p:sp>
        <p:nvSpPr>
          <p:cNvPr id="5" name="Shape 3"/>
          <p:cNvSpPr/>
          <p:nvPr/>
        </p:nvSpPr>
        <p:spPr>
          <a:xfrm>
            <a:off x="1133856" y="2834640"/>
            <a:ext cx="457200" cy="457200"/>
          </a:xfrm>
          <a:prstGeom prst="ellipse">
            <a:avLst/>
          </a:prstGeom>
          <a:solidFill>
            <a:srgbClr val="5EEAD4"/>
          </a:solidFill>
          <a:ln w="12700">
            <a:solidFill>
              <a:srgbClr val="5EEAD4"/>
            </a:solidFill>
            <a:prstDash val="solid"/>
          </a:ln>
        </p:spPr>
      </p:sp>
      <p:sp>
        <p:nvSpPr>
          <p:cNvPr id="6" name="Text 4"/>
          <p:cNvSpPr txBox="1"/>
          <p:nvPr/>
        </p:nvSpPr>
        <p:spPr>
          <a:xfrm>
            <a:off x="1133856" y="2834640"/>
            <a:ext cx="457200" cy="457200"/>
          </a:xfrm>
          <a:prstGeom prst="rect">
            <a:avLst/>
          </a:prstGeom>
          <a:noFill/>
          <a:ln/>
        </p:spPr>
        <p:txBody>
          <a:bodyPr wrap="square" lIns="0" tIns="0" rIns="0" bIns="0" rtlCol="0" anchor="ctr"/>
          <a:lstStyle/>
          <a:p>
            <a:pPr algn="ctr" indent="0" marL="0">
              <a:buNone/>
            </a:pPr>
            <a:r>
              <a:rPr lang="en-US" sz="1500" b="1" dirty="0">
                <a:solidFill>
                  <a:srgbClr val="0B1117"/>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728216" y="2926080"/>
            <a:ext cx="2198522" cy="274320"/>
          </a:xfrm>
          <a:prstGeom prst="rect">
            <a:avLst/>
          </a:prstGeom>
          <a:noFill/>
          <a:ln/>
        </p:spPr>
        <p:txBody>
          <a:bodyPr wrap="square" lIns="0" tIns="0" rIns="0" bIns="0" rtlCol="0" anchor="t"/>
          <a:lstStyle/>
          <a:p>
            <a:pPr indent="0" marL="0">
              <a:buNone/>
            </a:pPr>
            <a:r>
              <a:rPr lang="en-US" sz="1200" spc="300" kern="0" dirty="0">
                <a:solidFill>
                  <a:srgbClr val="9AABBA"/>
                </a:solidFill>
                <a:latin typeface="Consolas" pitchFamily="34" charset="0"/>
                <a:ea typeface="Consolas" pitchFamily="34" charset="-122"/>
                <a:cs typeface="Consolas" pitchFamily="34" charset="-120"/>
              </a:rPr>
              <a:t>POLLUTION</a:t>
            </a:r>
            <a:endParaRPr lang="en-US" sz="1200" dirty="0"/>
          </a:p>
        </p:txBody>
      </p:sp>
      <p:sp>
        <p:nvSpPr>
          <p:cNvPr id="8" name="Text 6"/>
          <p:cNvSpPr txBox="1"/>
          <p:nvPr/>
        </p:nvSpPr>
        <p:spPr>
          <a:xfrm>
            <a:off x="1133856" y="3474720"/>
            <a:ext cx="2747162" cy="868680"/>
          </a:xfrm>
          <a:prstGeom prst="rect">
            <a:avLst/>
          </a:prstGeom>
          <a:noFill/>
          <a:ln/>
        </p:spPr>
        <p:txBody>
          <a:bodyPr wrap="square" lIns="0" tIns="0" rIns="0" bIns="0" rtlCol="0" anchor="t"/>
          <a:lstStyle/>
          <a:p>
            <a:pPr indent="0" marL="0">
              <a:buNone/>
            </a:pPr>
            <a:r>
              <a:rPr lang="en-US" sz="2600" b="1" dirty="0">
                <a:solidFill>
                  <a:srgbClr val="5EEAD4"/>
                </a:solidFill>
                <a:latin typeface="Calibri" pitchFamily="34" charset="0"/>
                <a:ea typeface="Calibri" pitchFamily="34" charset="-122"/>
                <a:cs typeface="Calibri" pitchFamily="34" charset="-120"/>
              </a:rPr>
              <a:t>Track</a:t>
            </a:r>
            <a:endParaRPr lang="en-US" sz="2600" dirty="0"/>
          </a:p>
        </p:txBody>
      </p:sp>
      <p:sp>
        <p:nvSpPr>
          <p:cNvPr id="9" name="Text 7"/>
          <p:cNvSpPr txBox="1"/>
          <p:nvPr/>
        </p:nvSpPr>
        <p:spPr>
          <a:xfrm>
            <a:off x="1133856" y="4389120"/>
            <a:ext cx="2747162" cy="1508760"/>
          </a:xfrm>
          <a:prstGeom prst="rect">
            <a:avLst/>
          </a:prstGeom>
          <a:noFill/>
          <a:ln/>
        </p:spPr>
        <p:txBody>
          <a:bodyPr wrap="square" lIns="0" tIns="0" rIns="0" bIns="0" rtlCol="0" anchor="t"/>
          <a:lstStyle/>
          <a:p>
            <a:pPr indent="0" marL="0">
              <a:buNone/>
            </a:pPr>
            <a:r>
              <a:rPr lang="en-US" sz="1400" dirty="0">
                <a:solidFill>
                  <a:srgbClr val="C7D3DD"/>
                </a:solidFill>
                <a:latin typeface="Calibri" pitchFamily="34" charset="0"/>
                <a:ea typeface="Calibri" pitchFamily="34" charset="-122"/>
                <a:cs typeface="Calibri" pitchFamily="34" charset="-120"/>
              </a:rPr>
              <a:t>Sensors read temperature, humidity, gas, CO₂ and PM1.0, PM2.5 and PM10 every two seconds. AQI uses India's CPCB scale, and we never cap it at 500.</a:t>
            </a:r>
            <a:endParaRPr lang="en-US" sz="1400" dirty="0"/>
          </a:p>
        </p:txBody>
      </p:sp>
      <p:sp>
        <p:nvSpPr>
          <p:cNvPr id="10" name="Shape 8"/>
          <p:cNvSpPr/>
          <p:nvPr/>
        </p:nvSpPr>
        <p:spPr>
          <a:xfrm>
            <a:off x="4402226" y="2514600"/>
            <a:ext cx="3387242" cy="3520440"/>
          </a:xfrm>
          <a:prstGeom prst="roundRect">
            <a:avLst>
              <a:gd name="adj" fmla="val 2700"/>
            </a:avLst>
          </a:prstGeom>
          <a:solidFill>
            <a:srgbClr val="121B24"/>
          </a:solidFill>
          <a:ln w="12700">
            <a:solidFill>
              <a:srgbClr val="22303D"/>
            </a:solidFill>
            <a:prstDash val="solid"/>
          </a:ln>
        </p:spPr>
      </p:sp>
      <p:sp>
        <p:nvSpPr>
          <p:cNvPr id="11" name="Shape 9"/>
          <p:cNvSpPr/>
          <p:nvPr/>
        </p:nvSpPr>
        <p:spPr>
          <a:xfrm>
            <a:off x="4722266" y="2834640"/>
            <a:ext cx="457200" cy="457200"/>
          </a:xfrm>
          <a:prstGeom prst="ellipse">
            <a:avLst/>
          </a:prstGeom>
          <a:solidFill>
            <a:srgbClr val="5EEAD4"/>
          </a:solidFill>
          <a:ln w="12700">
            <a:solidFill>
              <a:srgbClr val="5EEAD4"/>
            </a:solidFill>
            <a:prstDash val="solid"/>
          </a:ln>
        </p:spPr>
      </p:sp>
      <p:sp>
        <p:nvSpPr>
          <p:cNvPr id="12" name="Text 10"/>
          <p:cNvSpPr txBox="1"/>
          <p:nvPr/>
        </p:nvSpPr>
        <p:spPr>
          <a:xfrm>
            <a:off x="4722266" y="2834640"/>
            <a:ext cx="457200" cy="457200"/>
          </a:xfrm>
          <a:prstGeom prst="rect">
            <a:avLst/>
          </a:prstGeom>
          <a:noFill/>
          <a:ln/>
        </p:spPr>
        <p:txBody>
          <a:bodyPr wrap="square" lIns="0" tIns="0" rIns="0" bIns="0" rtlCol="0" anchor="ctr"/>
          <a:lstStyle/>
          <a:p>
            <a:pPr algn="ctr" indent="0" marL="0">
              <a:buNone/>
            </a:pPr>
            <a:r>
              <a:rPr lang="en-US" sz="1500" b="1" dirty="0">
                <a:solidFill>
                  <a:srgbClr val="0B1117"/>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5316626" y="2926080"/>
            <a:ext cx="2198522" cy="274320"/>
          </a:xfrm>
          <a:prstGeom prst="rect">
            <a:avLst/>
          </a:prstGeom>
          <a:noFill/>
          <a:ln/>
        </p:spPr>
        <p:txBody>
          <a:bodyPr wrap="square" lIns="0" tIns="0" rIns="0" bIns="0" rtlCol="0" anchor="t"/>
          <a:lstStyle/>
          <a:p>
            <a:pPr indent="0" marL="0">
              <a:buNone/>
            </a:pPr>
            <a:r>
              <a:rPr lang="en-US" sz="1200" spc="300" kern="0" dirty="0">
                <a:solidFill>
                  <a:srgbClr val="9AABBA"/>
                </a:solidFill>
                <a:latin typeface="Consolas" pitchFamily="34" charset="0"/>
                <a:ea typeface="Consolas" pitchFamily="34" charset="-122"/>
                <a:cs typeface="Consolas" pitchFamily="34" charset="-120"/>
              </a:rPr>
              <a:t>EXPOSURE</a:t>
            </a:r>
            <a:endParaRPr lang="en-US" sz="1200" dirty="0"/>
          </a:p>
        </p:txBody>
      </p:sp>
      <p:sp>
        <p:nvSpPr>
          <p:cNvPr id="14" name="Text 12"/>
          <p:cNvSpPr txBox="1"/>
          <p:nvPr/>
        </p:nvSpPr>
        <p:spPr>
          <a:xfrm>
            <a:off x="4722266" y="3474720"/>
            <a:ext cx="2747162" cy="868680"/>
          </a:xfrm>
          <a:prstGeom prst="rect">
            <a:avLst/>
          </a:prstGeom>
          <a:noFill/>
          <a:ln/>
        </p:spPr>
        <p:txBody>
          <a:bodyPr wrap="square" lIns="0" tIns="0" rIns="0" bIns="0" rtlCol="0" anchor="t"/>
          <a:lstStyle/>
          <a:p>
            <a:pPr indent="0" marL="0">
              <a:buNone/>
            </a:pPr>
            <a:r>
              <a:rPr lang="en-US" sz="2600" b="1" dirty="0">
                <a:solidFill>
                  <a:srgbClr val="5EEAD4"/>
                </a:solidFill>
                <a:latin typeface="Calibri" pitchFamily="34" charset="0"/>
                <a:ea typeface="Calibri" pitchFamily="34" charset="-122"/>
                <a:cs typeface="Calibri" pitchFamily="34" charset="-120"/>
              </a:rPr>
              <a:t>Warn the most exposed</a:t>
            </a:r>
            <a:endParaRPr lang="en-US" sz="2600" dirty="0"/>
          </a:p>
        </p:txBody>
      </p:sp>
      <p:sp>
        <p:nvSpPr>
          <p:cNvPr id="15" name="Text 13"/>
          <p:cNvSpPr txBox="1"/>
          <p:nvPr/>
        </p:nvSpPr>
        <p:spPr>
          <a:xfrm>
            <a:off x="4722266" y="4389120"/>
            <a:ext cx="2747162" cy="1508760"/>
          </a:xfrm>
          <a:prstGeom prst="rect">
            <a:avLst/>
          </a:prstGeom>
          <a:noFill/>
          <a:ln/>
        </p:spPr>
        <p:txBody>
          <a:bodyPr wrap="square" lIns="0" tIns="0" rIns="0" bIns="0" rtlCol="0" anchor="t"/>
          <a:lstStyle/>
          <a:p>
            <a:pPr indent="0" marL="0">
              <a:buNone/>
            </a:pPr>
            <a:r>
              <a:rPr lang="en-US" sz="1400" dirty="0">
                <a:solidFill>
                  <a:srgbClr val="C7D3DD"/>
                </a:solidFill>
                <a:latin typeface="Calibri" pitchFamily="34" charset="0"/>
                <a:ea typeface="Calibri" pitchFamily="34" charset="-122"/>
                <a:cs typeface="Calibri" pitchFamily="34" charset="-120"/>
              </a:rPr>
              <a:t>Each passenger group gets its own dose against WHO and India NAAQS limits, the time left to the daily limit, and plain advice.</a:t>
            </a:r>
            <a:endParaRPr lang="en-US" sz="1400" dirty="0"/>
          </a:p>
        </p:txBody>
      </p:sp>
      <p:sp>
        <p:nvSpPr>
          <p:cNvPr id="16" name="Shape 14"/>
          <p:cNvSpPr/>
          <p:nvPr/>
        </p:nvSpPr>
        <p:spPr>
          <a:xfrm>
            <a:off x="7990637" y="2514600"/>
            <a:ext cx="3387242" cy="3520440"/>
          </a:xfrm>
          <a:prstGeom prst="roundRect">
            <a:avLst>
              <a:gd name="adj" fmla="val 2700"/>
            </a:avLst>
          </a:prstGeom>
          <a:solidFill>
            <a:srgbClr val="121B24"/>
          </a:solidFill>
          <a:ln w="12700">
            <a:solidFill>
              <a:srgbClr val="22303D"/>
            </a:solidFill>
            <a:prstDash val="solid"/>
          </a:ln>
        </p:spPr>
      </p:sp>
      <p:sp>
        <p:nvSpPr>
          <p:cNvPr id="17" name="Shape 15"/>
          <p:cNvSpPr/>
          <p:nvPr/>
        </p:nvSpPr>
        <p:spPr>
          <a:xfrm>
            <a:off x="8310677" y="2834640"/>
            <a:ext cx="457200" cy="457200"/>
          </a:xfrm>
          <a:prstGeom prst="ellipse">
            <a:avLst/>
          </a:prstGeom>
          <a:solidFill>
            <a:srgbClr val="FBBF24"/>
          </a:solidFill>
          <a:ln w="12700">
            <a:solidFill>
              <a:srgbClr val="FBBF24"/>
            </a:solidFill>
            <a:prstDash val="solid"/>
          </a:ln>
        </p:spPr>
      </p:sp>
      <p:sp>
        <p:nvSpPr>
          <p:cNvPr id="18" name="Text 16"/>
          <p:cNvSpPr txBox="1"/>
          <p:nvPr/>
        </p:nvSpPr>
        <p:spPr>
          <a:xfrm>
            <a:off x="8310677" y="2834640"/>
            <a:ext cx="457200" cy="457200"/>
          </a:xfrm>
          <a:prstGeom prst="rect">
            <a:avLst/>
          </a:prstGeom>
          <a:noFill/>
          <a:ln/>
        </p:spPr>
        <p:txBody>
          <a:bodyPr wrap="square" lIns="0" tIns="0" rIns="0" bIns="0" rtlCol="0" anchor="ctr"/>
          <a:lstStyle/>
          <a:p>
            <a:pPr algn="ctr" indent="0" marL="0">
              <a:buNone/>
            </a:pPr>
            <a:r>
              <a:rPr lang="en-US" sz="1500" b="1" dirty="0">
                <a:solidFill>
                  <a:srgbClr val="0B1117"/>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8905037" y="2926080"/>
            <a:ext cx="2198522" cy="274320"/>
          </a:xfrm>
          <a:prstGeom prst="rect">
            <a:avLst/>
          </a:prstGeom>
          <a:noFill/>
          <a:ln/>
        </p:spPr>
        <p:txBody>
          <a:bodyPr wrap="square" lIns="0" tIns="0" rIns="0" bIns="0" rtlCol="0" anchor="t"/>
          <a:lstStyle/>
          <a:p>
            <a:pPr indent="0" marL="0">
              <a:buNone/>
            </a:pPr>
            <a:r>
              <a:rPr lang="en-US" sz="1200" spc="300" kern="0" dirty="0">
                <a:solidFill>
                  <a:srgbClr val="9AABBA"/>
                </a:solidFill>
                <a:latin typeface="Consolas" pitchFamily="34" charset="0"/>
                <a:ea typeface="Consolas" pitchFamily="34" charset="-122"/>
                <a:cs typeface="Consolas" pitchFamily="34" charset="-120"/>
              </a:rPr>
              <a:t>OFF THE CHART</a:t>
            </a:r>
            <a:endParaRPr lang="en-US" sz="1200" dirty="0"/>
          </a:p>
        </p:txBody>
      </p:sp>
      <p:sp>
        <p:nvSpPr>
          <p:cNvPr id="20" name="Text 18"/>
          <p:cNvSpPr txBox="1"/>
          <p:nvPr/>
        </p:nvSpPr>
        <p:spPr>
          <a:xfrm>
            <a:off x="8310677" y="3474720"/>
            <a:ext cx="2747162" cy="868680"/>
          </a:xfrm>
          <a:prstGeom prst="rect">
            <a:avLst/>
          </a:prstGeom>
          <a:noFill/>
          <a:ln/>
        </p:spPr>
        <p:txBody>
          <a:bodyPr wrap="square" lIns="0" tIns="0" rIns="0" bIns="0" rtlCol="0" anchor="t"/>
          <a:lstStyle/>
          <a:p>
            <a:pPr indent="0" marL="0">
              <a:buNone/>
            </a:pPr>
            <a:r>
              <a:rPr lang="en-US" sz="2600" b="1" dirty="0">
                <a:solidFill>
                  <a:srgbClr val="FBBF24"/>
                </a:solidFill>
                <a:latin typeface="Calibri" pitchFamily="34" charset="0"/>
                <a:ea typeface="Calibri" pitchFamily="34" charset="-122"/>
                <a:cs typeface="Calibri" pitchFamily="34" charset="-120"/>
              </a:rPr>
              <a:t>Change what happens</a:t>
            </a:r>
            <a:endParaRPr lang="en-US" sz="2600" dirty="0"/>
          </a:p>
        </p:txBody>
      </p:sp>
      <p:sp>
        <p:nvSpPr>
          <p:cNvPr id="21" name="Text 19"/>
          <p:cNvSpPr txBox="1"/>
          <p:nvPr/>
        </p:nvSpPr>
        <p:spPr>
          <a:xfrm>
            <a:off x="8310677" y="4389120"/>
            <a:ext cx="2747162" cy="1508760"/>
          </a:xfrm>
          <a:prstGeom prst="rect">
            <a:avLst/>
          </a:prstGeom>
          <a:noFill/>
          <a:ln/>
        </p:spPr>
        <p:txBody>
          <a:bodyPr wrap="square" lIns="0" tIns="0" rIns="0" bIns="0" rtlCol="0" anchor="t"/>
          <a:lstStyle/>
          <a:p>
            <a:pPr indent="0" marL="0">
              <a:buNone/>
            </a:pPr>
            <a:r>
              <a:rPr lang="en-US" sz="1400" dirty="0">
                <a:solidFill>
                  <a:srgbClr val="C7D3DD"/>
                </a:solidFill>
                <a:latin typeface="Calibri" pitchFamily="34" charset="0"/>
                <a:ea typeface="Calibri" pitchFamily="34" charset="-122"/>
                <a:cs typeface="Calibri" pitchFamily="34" charset="-120"/>
              </a:rPr>
              <a:t>Past AQI 500, Bad Day Mode runs a playbook: ventilation boost, a bilingual announcement, alerts, a move to the cleanest coach and an incident report.</a:t>
            </a:r>
            <a:endParaRPr lang="en-US" sz="1400" dirty="0"/>
          </a:p>
        </p:txBody>
      </p:sp>
      <p:sp>
        <p:nvSpPr>
          <p:cNvPr id="25" name="Slide Number Placeholder 0"/>
          <p:cNvSpPr>
            <a:spLocks noGrp="1"/>
          </p:cNvSpPr>
          <p:nvPr>
            <p:ph type="sldNum" sz="quarter" idx="4294967295"/>
          </p:nvPr>
        </p:nvSpPr>
        <p:spPr>
          <a:xfrm>
            <a:off x="10463479" y="6263640"/>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D90A3"/>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813816" y="813816"/>
            <a:ext cx="10564063" cy="292608"/>
          </a:xfrm>
          <a:prstGeom prst="rect">
            <a:avLst/>
          </a:prstGeom>
          <a:noFill/>
          <a:ln/>
        </p:spPr>
        <p:txBody>
          <a:bodyPr wrap="square" lIns="0" tIns="0" rIns="0" bIns="0" rtlCol="0" anchor="t"/>
          <a:lstStyle/>
          <a:p>
            <a:pPr indent="0" marL="0">
              <a:buNone/>
            </a:pPr>
            <a:r>
              <a:rPr lang="en-US" sz="1200" spc="300" kern="0" dirty="0">
                <a:solidFill>
                  <a:srgbClr val="0F766E"/>
                </a:solidFill>
                <a:latin typeface="Consolas" pitchFamily="34" charset="0"/>
                <a:ea typeface="Consolas" pitchFamily="34" charset="-122"/>
                <a:cs typeface="Consolas" pitchFamily="34" charset="-120"/>
              </a:rPr>
              <a:t>04 · THE PROTOTYPE</a:t>
            </a:r>
            <a:endParaRPr lang="en-US" sz="1200" dirty="0"/>
          </a:p>
        </p:txBody>
      </p:sp>
      <p:sp>
        <p:nvSpPr>
          <p:cNvPr id="3" name="Text 0"/>
          <p:cNvSpPr/>
          <p:nvPr>
            <p:ph idx="100" type="title" hasCustomPrompt="1"/>
          </p:nvPr>
        </p:nvSpPr>
        <p:spPr>
          <a:xfrm>
            <a:off x="813816" y="1161288"/>
            <a:ext cx="10564063" cy="1188720"/>
          </a:xfrm>
          <a:prstGeom prst="rect">
            <a:avLst/>
          </a:prstGeom>
          <a:noFill/>
          <a:ln/>
        </p:spPr>
        <p:txBody>
          <a:bodyPr wrap="square" lIns="0" tIns="0" rIns="0" bIns="0" rtlCol="0" anchor="t"/>
          <a:lstStyle/>
          <a:p>
            <a:pPr algn="l" indent="0" marL="0">
              <a:buNone/>
            </a:pPr>
            <a:r>
              <a:rPr lang="en-US" sz="3600" b="1" dirty="0">
                <a:solidFill>
                  <a:srgbClr val="14202B"/>
                </a:solidFill>
                <a:latin typeface="Calibri" pitchFamily="34" charset="0"/>
                <a:ea typeface="Calibri" pitchFamily="34" charset="-122"/>
                <a:cs typeface="Calibri" pitchFamily="34" charset="-120"/>
              </a:rPr>
              <a:t>One sensor node per coach, built on an Arduino Mega</a:t>
            </a:r>
            <a:endParaRPr lang="en-US" sz="3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3816" y="2514600"/>
          <a:ext cx="7114032" cy="914400"/>
        </p:xfrm>
        <a:graphic>
          <a:graphicData uri="http://schemas.openxmlformats.org/drawingml/2006/table">
            <a:tbl>
              <a:tblPr/>
              <a:tblGrid>
                <a:gridCol w="1563624"/>
                <a:gridCol w="2706624"/>
                <a:gridCol w="2843784"/>
              </a:tblGrid>
              <a:tr h="384048">
                <a:tc>
                  <a:txBody>
                    <a:bodyPr/>
                    <a:lstStyle/>
                    <a:p>
                      <a:pPr indent="0" marL="0">
                        <a:buNone/>
                      </a:pPr>
                      <a:r>
                        <a:rPr lang="en-US" sz="1300" b="1" dirty="0">
                          <a:solidFill>
                            <a:srgbClr val="E8EEF2"/>
                          </a:solidFill>
                          <a:latin typeface="Calibri" pitchFamily="34" charset="0"/>
                          <a:ea typeface="Calibri" pitchFamily="34" charset="-122"/>
                          <a:cs typeface="Calibri" pitchFamily="34" charset="-120"/>
                        </a:rPr>
                        <a:t>Part</a:t>
                      </a:r>
                      <a:endParaRPr lang="en-US" sz="1300" dirty="0">
                        <a:latin typeface="Calibri" charset="0"/>
                        <a:ea typeface="Calibri" charset="0"/>
                        <a:cs typeface="Calibri" charset="0"/>
                      </a:endParaRPr>
                    </a:p>
                  </a:txBody>
                  <a:tcPr marL="109728" marR="109728" marT="0" marB="0" anchor="ctr">
                    <a:lnL w="12700" cap="flat" cmpd="sng" algn="ctr">
                      <a:solidFill>
                        <a:srgbClr val="D9E1DF"/>
                      </a:solidFill>
                      <a:prstDash val="solid"/>
                      <a:round/>
                      <a:headEnd type="none" w="med" len="med"/>
                      <a:tailEnd type="none" w="med" len="med"/>
                    </a:lnL>
                    <a:lnR w="12700" cap="flat" cmpd="sng" algn="ctr">
                      <a:solidFill>
                        <a:srgbClr val="D9E1DF"/>
                      </a:solidFill>
                      <a:prstDash val="solid"/>
                      <a:round/>
                      <a:headEnd type="none" w="med" len="med"/>
                      <a:tailEnd type="none" w="med" len="med"/>
                    </a:lnR>
                    <a:lnT w="12700" cap="flat" cmpd="sng" algn="ctr">
                      <a:solidFill>
                        <a:srgbClr val="D9E1DF"/>
                      </a:solidFill>
                      <a:prstDash val="solid"/>
                      <a:round/>
                      <a:headEnd type="none" w="med" len="med"/>
                      <a:tailEnd type="none" w="med" len="med"/>
                    </a:lnT>
                    <a:lnB w="12700" cap="flat" cmpd="sng" algn="ctr">
                      <a:solidFill>
                        <a:srgbClr val="D9E1DF"/>
                      </a:solidFill>
                      <a:prstDash val="solid"/>
                      <a:round/>
                      <a:headEnd type="none" w="med" len="med"/>
                      <a:tailEnd type="none" w="med" len="med"/>
                    </a:lnB>
                    <a:solidFill>
                      <a:srgbClr val="14202B"/>
                    </a:solidFill>
                  </a:tcPr>
                </a:tc>
                <a:tc>
                  <a:txBody>
                    <a:bodyPr/>
                    <a:lstStyle/>
                    <a:p>
                      <a:pPr indent="0" marL="0">
                        <a:buNone/>
                      </a:pPr>
                      <a:r>
                        <a:rPr lang="en-US" sz="1300" b="1" dirty="0">
                          <a:solidFill>
                            <a:srgbClr val="E8EEF2"/>
                          </a:solidFill>
                          <a:latin typeface="Calibri" pitchFamily="34" charset="0"/>
                          <a:ea typeface="Calibri" pitchFamily="34" charset="-122"/>
                          <a:cs typeface="Calibri" pitchFamily="34" charset="-120"/>
                        </a:rPr>
                        <a:t>Measures or does</a:t>
                      </a:r>
                      <a:endParaRPr lang="en-US" sz="1300" dirty="0">
                        <a:latin typeface="Calibri" charset="0"/>
                        <a:ea typeface="Calibri" charset="0"/>
                        <a:cs typeface="Calibri" charset="0"/>
                      </a:endParaRPr>
                    </a:p>
                  </a:txBody>
                  <a:tcPr marL="109728" marR="109728" marT="0" marB="0" anchor="ctr">
                    <a:lnL w="12700" cap="flat" cmpd="sng" algn="ctr">
                      <a:solidFill>
                        <a:srgbClr val="D9E1DF"/>
                      </a:solidFill>
                      <a:prstDash val="solid"/>
                      <a:round/>
                      <a:headEnd type="none" w="med" len="med"/>
                      <a:tailEnd type="none" w="med" len="med"/>
                    </a:lnL>
                    <a:lnR w="12700" cap="flat" cmpd="sng" algn="ctr">
                      <a:solidFill>
                        <a:srgbClr val="D9E1DF"/>
                      </a:solidFill>
                      <a:prstDash val="solid"/>
                      <a:round/>
                      <a:headEnd type="none" w="med" len="med"/>
                      <a:tailEnd type="none" w="med" len="med"/>
                    </a:lnR>
                    <a:lnT w="12700" cap="flat" cmpd="sng" algn="ctr">
                      <a:solidFill>
                        <a:srgbClr val="D9E1DF"/>
                      </a:solidFill>
                      <a:prstDash val="solid"/>
                      <a:round/>
                      <a:headEnd type="none" w="med" len="med"/>
                      <a:tailEnd type="none" w="med" len="med"/>
                    </a:lnT>
                    <a:lnB w="12700" cap="flat" cmpd="sng" algn="ctr">
                      <a:solidFill>
                        <a:srgbClr val="D9E1DF"/>
                      </a:solidFill>
                      <a:prstDash val="solid"/>
                      <a:round/>
                      <a:headEnd type="none" w="med" len="med"/>
                      <a:tailEnd type="none" w="med" len="med"/>
                    </a:lnB>
                    <a:solidFill>
                      <a:srgbClr val="14202B"/>
                    </a:solidFill>
                  </a:tcPr>
                </a:tc>
                <a:tc>
                  <a:txBody>
                    <a:bodyPr/>
                    <a:lstStyle/>
                    <a:p>
                      <a:pPr indent="0" marL="0">
                        <a:buNone/>
                      </a:pPr>
                      <a:r>
                        <a:rPr lang="en-US" sz="1300" b="1" dirty="0">
                          <a:solidFill>
                            <a:srgbClr val="E8EEF2"/>
                          </a:solidFill>
                          <a:latin typeface="Calibri" pitchFamily="34" charset="0"/>
                          <a:ea typeface="Calibri" pitchFamily="34" charset="-122"/>
                          <a:cs typeface="Calibri" pitchFamily="34" charset="-120"/>
                        </a:rPr>
                        <a:t>Drives</a:t>
                      </a:r>
                      <a:endParaRPr lang="en-US" sz="1300" dirty="0">
                        <a:latin typeface="Calibri" charset="0"/>
                        <a:ea typeface="Calibri" charset="0"/>
                        <a:cs typeface="Calibri" charset="0"/>
                      </a:endParaRPr>
                    </a:p>
                  </a:txBody>
                  <a:tcPr marL="109728" marR="109728" marT="0" marB="0" anchor="ctr">
                    <a:lnL w="12700" cap="flat" cmpd="sng" algn="ctr">
                      <a:solidFill>
                        <a:srgbClr val="D9E1DF"/>
                      </a:solidFill>
                      <a:prstDash val="solid"/>
                      <a:round/>
                      <a:headEnd type="none" w="med" len="med"/>
                      <a:tailEnd type="none" w="med" len="med"/>
                    </a:lnL>
                    <a:lnR w="12700" cap="flat" cmpd="sng" algn="ctr">
                      <a:solidFill>
                        <a:srgbClr val="D9E1DF"/>
                      </a:solidFill>
                      <a:prstDash val="solid"/>
                      <a:round/>
                      <a:headEnd type="none" w="med" len="med"/>
                      <a:tailEnd type="none" w="med" len="med"/>
                    </a:lnR>
                    <a:lnT w="12700" cap="flat" cmpd="sng" algn="ctr">
                      <a:solidFill>
                        <a:srgbClr val="D9E1DF"/>
                      </a:solidFill>
                      <a:prstDash val="solid"/>
                      <a:round/>
                      <a:headEnd type="none" w="med" len="med"/>
                      <a:tailEnd type="none" w="med" len="med"/>
                    </a:lnT>
                    <a:lnB w="12700" cap="flat" cmpd="sng" algn="ctr">
                      <a:solidFill>
                        <a:srgbClr val="D9E1DF"/>
                      </a:solidFill>
                      <a:prstDash val="solid"/>
                      <a:round/>
                      <a:headEnd type="none" w="med" len="med"/>
                      <a:tailEnd type="none" w="med" len="med"/>
                    </a:lnB>
                    <a:solidFill>
                      <a:srgbClr val="14202B"/>
                    </a:solidFill>
                  </a:tcPr>
                </a:tc>
              </a:tr>
              <a:tr h="384048">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DHT11</a:t>
                      </a:r>
                      <a:endParaRPr lang="en-US" sz="1300" dirty="0">
                        <a:latin typeface="Calibri" charset="0"/>
                        <a:ea typeface="Calibri" charset="0"/>
                        <a:cs typeface="Calibri" charset="0"/>
                      </a:endParaRPr>
                    </a:p>
                  </a:txBody>
                  <a:tcPr marL="109728" marR="109728" marT="0" marB="0" anchor="ctr">
                    <a:lnL w="12700" cap="flat" cmpd="sng" algn="ctr">
                      <a:solidFill>
                        <a:srgbClr val="D9E1DF"/>
                      </a:solidFill>
                      <a:prstDash val="solid"/>
                      <a:round/>
                      <a:headEnd type="none" w="med" len="med"/>
                      <a:tailEnd type="none" w="med" len="med"/>
                    </a:lnL>
                    <a:lnR w="12700" cap="flat" cmpd="sng" algn="ctr">
                      <a:solidFill>
                        <a:srgbClr val="D9E1DF"/>
                      </a:solidFill>
                      <a:prstDash val="solid"/>
                      <a:round/>
                      <a:headEnd type="none" w="med" len="med"/>
                      <a:tailEnd type="none" w="med" len="med"/>
                    </a:lnR>
                    <a:lnT w="12700" cap="flat" cmpd="sng" algn="ctr">
                      <a:solidFill>
                        <a:srgbClr val="D9E1DF"/>
                      </a:solidFill>
                      <a:prstDash val="solid"/>
                      <a:round/>
                      <a:headEnd type="none" w="med" len="med"/>
                      <a:tailEnd type="none" w="med" len="med"/>
                    </a:lnT>
                    <a:lnB w="12700" cap="flat" cmpd="sng" algn="ctr">
                      <a:solidFill>
                        <a:srgbClr val="D9E1DF"/>
                      </a:solidFill>
                      <a:prstDash val="solid"/>
                      <a:round/>
                      <a:headEnd type="none" w="med" len="med"/>
                      <a:tailEnd type="none" w="med" len="med"/>
                    </a:lnB>
                    <a:solidFill>
                      <a:srgbClr val="FBFCFB"/>
                    </a:solidFill>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Temperature, humidity</a:t>
                      </a:r>
                      <a:endParaRPr lang="en-US" sz="1300" dirty="0">
                        <a:latin typeface="Calibri" charset="0"/>
                        <a:ea typeface="Calibri" charset="0"/>
                        <a:cs typeface="Calibri" charset="0"/>
                      </a:endParaRPr>
                    </a:p>
                  </a:txBody>
                  <a:tcPr marL="109728" marR="109728" marT="0" marB="0" anchor="ctr">
                    <a:lnL w="12700" cap="flat" cmpd="sng" algn="ctr">
                      <a:solidFill>
                        <a:srgbClr val="D9E1DF"/>
                      </a:solidFill>
                      <a:prstDash val="solid"/>
                      <a:round/>
                      <a:headEnd type="none" w="med" len="med"/>
                      <a:tailEnd type="none" w="med" len="med"/>
                    </a:lnL>
                    <a:lnR w="12700" cap="flat" cmpd="sng" algn="ctr">
                      <a:solidFill>
                        <a:srgbClr val="D9E1DF"/>
                      </a:solidFill>
                      <a:prstDash val="solid"/>
                      <a:round/>
                      <a:headEnd type="none" w="med" len="med"/>
                      <a:tailEnd type="none" w="med" len="med"/>
                    </a:lnR>
                    <a:lnT w="12700" cap="flat" cmpd="sng" algn="ctr">
                      <a:solidFill>
                        <a:srgbClr val="D9E1DF"/>
                      </a:solidFill>
                      <a:prstDash val="solid"/>
                      <a:round/>
                      <a:headEnd type="none" w="med" len="med"/>
                      <a:tailEnd type="none" w="med" len="med"/>
                    </a:lnT>
                    <a:lnB w="12700" cap="flat" cmpd="sng" algn="ctr">
                      <a:solidFill>
                        <a:srgbClr val="D9E1DF"/>
                      </a:solidFill>
                      <a:prstDash val="solid"/>
                      <a:round/>
                      <a:headEnd type="none" w="med" len="med"/>
                      <a:tailEnd type="none" w="med" len="med"/>
                    </a:lnB>
                    <a:solidFill>
                      <a:srgbClr val="FBFCFB"/>
                    </a:solidFill>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X → exhaust fan</a:t>
                      </a:r>
                      <a:endParaRPr lang="en-US" sz="1300" dirty="0">
                        <a:latin typeface="Calibri" charset="0"/>
                        <a:ea typeface="Calibri" charset="0"/>
                        <a:cs typeface="Calibri" charset="0"/>
                      </a:endParaRPr>
                    </a:p>
                  </a:txBody>
                  <a:tcPr marL="109728" marR="109728" marT="0" marB="0" anchor="ctr">
                    <a:lnL w="12700" cap="flat" cmpd="sng" algn="ctr">
                      <a:solidFill>
                        <a:srgbClr val="D9E1DF"/>
                      </a:solidFill>
                      <a:prstDash val="solid"/>
                      <a:round/>
                      <a:headEnd type="none" w="med" len="med"/>
                      <a:tailEnd type="none" w="med" len="med"/>
                    </a:lnL>
                    <a:lnR w="12700" cap="flat" cmpd="sng" algn="ctr">
                      <a:solidFill>
                        <a:srgbClr val="D9E1DF"/>
                      </a:solidFill>
                      <a:prstDash val="solid"/>
                      <a:round/>
                      <a:headEnd type="none" w="med" len="med"/>
                      <a:tailEnd type="none" w="med" len="med"/>
                    </a:lnR>
                    <a:lnT w="12700" cap="flat" cmpd="sng" algn="ctr">
                      <a:solidFill>
                        <a:srgbClr val="D9E1DF"/>
                      </a:solidFill>
                      <a:prstDash val="solid"/>
                      <a:round/>
                      <a:headEnd type="none" w="med" len="med"/>
                      <a:tailEnd type="none" w="med" len="med"/>
                    </a:lnT>
                    <a:lnB w="12700" cap="flat" cmpd="sng" algn="ctr">
                      <a:solidFill>
                        <a:srgbClr val="D9E1DF"/>
                      </a:solidFill>
                      <a:prstDash val="solid"/>
                      <a:round/>
                      <a:headEnd type="none" w="med" len="med"/>
                      <a:tailEnd type="none" w="med" len="med"/>
                    </a:lnB>
                    <a:solidFill>
                      <a:srgbClr val="FBFCFB"/>
                    </a:solidFill>
                  </a:tcPr>
                </a:tc>
              </a:tr>
              <a:tr h="384048">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MQ-2</a:t>
                      </a:r>
                      <a:endParaRPr lang="en-US" sz="1300" dirty="0">
                        <a:latin typeface="Calibri" charset="0"/>
                        <a:ea typeface="Calibri" charset="0"/>
                        <a:cs typeface="Calibri" charset="0"/>
                      </a:endParaRPr>
                    </a:p>
                  </a:txBody>
                  <a:tcPr marL="109728" marR="109728" marT="0" marB="0" anchor="ctr">
                    <a:lnL w="12700" cap="flat" cmpd="sng" algn="ctr">
                      <a:solidFill>
                        <a:srgbClr val="D9E1DF"/>
                      </a:solidFill>
                      <a:prstDash val="solid"/>
                      <a:round/>
                      <a:headEnd type="none" w="med" len="med"/>
                      <a:tailEnd type="none" w="med" len="med"/>
                    </a:lnL>
                    <a:lnR w="12700" cap="flat" cmpd="sng" algn="ctr">
                      <a:solidFill>
                        <a:srgbClr val="D9E1DF"/>
                      </a:solidFill>
                      <a:prstDash val="solid"/>
                      <a:round/>
                      <a:headEnd type="none" w="med" len="med"/>
                      <a:tailEnd type="none" w="med" len="med"/>
                    </a:lnR>
                    <a:lnT w="12700" cap="flat" cmpd="sng" algn="ctr">
                      <a:solidFill>
                        <a:srgbClr val="D9E1DF"/>
                      </a:solidFill>
                      <a:prstDash val="solid"/>
                      <a:round/>
                      <a:headEnd type="none" w="med" len="med"/>
                      <a:tailEnd type="none" w="med" len="med"/>
                    </a:lnT>
                    <a:lnB w="12700" cap="flat" cmpd="sng" algn="ctr">
                      <a:solidFill>
                        <a:srgbClr val="D9E1DF"/>
                      </a:solidFill>
                      <a:prstDash val="solid"/>
                      <a:round/>
                      <a:headEnd type="none" w="med" len="med"/>
                      <a:tailEnd type="none" w="med" len="med"/>
                    </a:lnB>
                    <a:solidFill>
                      <a:srgbClr val="FBFCFB"/>
                    </a:solidFill>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Gas and smoke</a:t>
                      </a:r>
                      <a:endParaRPr lang="en-US" sz="1300" dirty="0">
                        <a:latin typeface="Calibri" charset="0"/>
                        <a:ea typeface="Calibri" charset="0"/>
                        <a:cs typeface="Calibri" charset="0"/>
                      </a:endParaRPr>
                    </a:p>
                  </a:txBody>
                  <a:tcPr marL="109728" marR="109728" marT="0" marB="0" anchor="ctr">
                    <a:lnL w="12700" cap="flat" cmpd="sng" algn="ctr">
                      <a:solidFill>
                        <a:srgbClr val="D9E1DF"/>
                      </a:solidFill>
                      <a:prstDash val="solid"/>
                      <a:round/>
                      <a:headEnd type="none" w="med" len="med"/>
                      <a:tailEnd type="none" w="med" len="med"/>
                    </a:lnL>
                    <a:lnR w="12700" cap="flat" cmpd="sng" algn="ctr">
                      <a:solidFill>
                        <a:srgbClr val="D9E1DF"/>
                      </a:solidFill>
                      <a:prstDash val="solid"/>
                      <a:round/>
                      <a:headEnd type="none" w="med" len="med"/>
                      <a:tailEnd type="none" w="med" len="med"/>
                    </a:lnR>
                    <a:lnT w="12700" cap="flat" cmpd="sng" algn="ctr">
                      <a:solidFill>
                        <a:srgbClr val="D9E1DF"/>
                      </a:solidFill>
                      <a:prstDash val="solid"/>
                      <a:round/>
                      <a:headEnd type="none" w="med" len="med"/>
                      <a:tailEnd type="none" w="med" len="med"/>
                    </a:lnT>
                    <a:lnB w="12700" cap="flat" cmpd="sng" algn="ctr">
                      <a:solidFill>
                        <a:srgbClr val="D9E1DF"/>
                      </a:solidFill>
                      <a:prstDash val="solid"/>
                      <a:round/>
                      <a:headEnd type="none" w="med" len="med"/>
                      <a:tailEnd type="none" w="med" len="med"/>
                    </a:lnB>
                    <a:solidFill>
                      <a:srgbClr val="FBFCFB"/>
                    </a:solidFill>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Y → ozone generator 2</a:t>
                      </a:r>
                      <a:endParaRPr lang="en-US" sz="1300" dirty="0">
                        <a:latin typeface="Calibri" charset="0"/>
                        <a:ea typeface="Calibri" charset="0"/>
                        <a:cs typeface="Calibri" charset="0"/>
                      </a:endParaRPr>
                    </a:p>
                  </a:txBody>
                  <a:tcPr marL="109728" marR="109728" marT="0" marB="0" anchor="ctr">
                    <a:lnL w="12700" cap="flat" cmpd="sng" algn="ctr">
                      <a:solidFill>
                        <a:srgbClr val="D9E1DF"/>
                      </a:solidFill>
                      <a:prstDash val="solid"/>
                      <a:round/>
                      <a:headEnd type="none" w="med" len="med"/>
                      <a:tailEnd type="none" w="med" len="med"/>
                    </a:lnL>
                    <a:lnR w="12700" cap="flat" cmpd="sng" algn="ctr">
                      <a:solidFill>
                        <a:srgbClr val="D9E1DF"/>
                      </a:solidFill>
                      <a:prstDash val="solid"/>
                      <a:round/>
                      <a:headEnd type="none" w="med" len="med"/>
                      <a:tailEnd type="none" w="med" len="med"/>
                    </a:lnR>
                    <a:lnT w="12700" cap="flat" cmpd="sng" algn="ctr">
                      <a:solidFill>
                        <a:srgbClr val="D9E1DF"/>
                      </a:solidFill>
                      <a:prstDash val="solid"/>
                      <a:round/>
                      <a:headEnd type="none" w="med" len="med"/>
                      <a:tailEnd type="none" w="med" len="med"/>
                    </a:lnT>
                    <a:lnB w="12700" cap="flat" cmpd="sng" algn="ctr">
                      <a:solidFill>
                        <a:srgbClr val="D9E1DF"/>
                      </a:solidFill>
                      <a:prstDash val="solid"/>
                      <a:round/>
                      <a:headEnd type="none" w="med" len="med"/>
                      <a:tailEnd type="none" w="med" len="med"/>
                    </a:lnB>
                    <a:solidFill>
                      <a:srgbClr val="FBFCFB"/>
                    </a:solidFill>
                  </a:tcPr>
                </a:tc>
              </a:tr>
              <a:tr h="384048">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MQ-135</a:t>
                      </a:r>
                      <a:endParaRPr lang="en-US" sz="1300" dirty="0">
                        <a:latin typeface="Calibri" charset="0"/>
                        <a:ea typeface="Calibri" charset="0"/>
                        <a:cs typeface="Calibri" charset="0"/>
                      </a:endParaRPr>
                    </a:p>
                  </a:txBody>
                  <a:tcPr marL="109728" marR="109728" marT="0" marB="0" anchor="ctr">
                    <a:lnL w="12700" cap="flat" cmpd="sng" algn="ctr">
                      <a:solidFill>
                        <a:srgbClr val="D9E1DF"/>
                      </a:solidFill>
                      <a:prstDash val="solid"/>
                      <a:round/>
                      <a:headEnd type="none" w="med" len="med"/>
                      <a:tailEnd type="none" w="med" len="med"/>
                    </a:lnL>
                    <a:lnR w="12700" cap="flat" cmpd="sng" algn="ctr">
                      <a:solidFill>
                        <a:srgbClr val="D9E1DF"/>
                      </a:solidFill>
                      <a:prstDash val="solid"/>
                      <a:round/>
                      <a:headEnd type="none" w="med" len="med"/>
                      <a:tailEnd type="none" w="med" len="med"/>
                    </a:lnR>
                    <a:lnT w="12700" cap="flat" cmpd="sng" algn="ctr">
                      <a:solidFill>
                        <a:srgbClr val="D9E1DF"/>
                      </a:solidFill>
                      <a:prstDash val="solid"/>
                      <a:round/>
                      <a:headEnd type="none" w="med" len="med"/>
                      <a:tailEnd type="none" w="med" len="med"/>
                    </a:lnT>
                    <a:lnB w="12700" cap="flat" cmpd="sng" algn="ctr">
                      <a:solidFill>
                        <a:srgbClr val="D9E1DF"/>
                      </a:solidFill>
                      <a:prstDash val="solid"/>
                      <a:round/>
                      <a:headEnd type="none" w="med" len="med"/>
                      <a:tailEnd type="none" w="med" len="med"/>
                    </a:lnB>
                    <a:solidFill>
                      <a:srgbClr val="FBFCFB"/>
                    </a:solidFill>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CO₂, air-quality gases</a:t>
                      </a:r>
                      <a:endParaRPr lang="en-US" sz="1300" dirty="0">
                        <a:latin typeface="Calibri" charset="0"/>
                        <a:ea typeface="Calibri" charset="0"/>
                        <a:cs typeface="Calibri" charset="0"/>
                      </a:endParaRPr>
                    </a:p>
                  </a:txBody>
                  <a:tcPr marL="109728" marR="109728" marT="0" marB="0" anchor="ctr">
                    <a:lnL w="12700" cap="flat" cmpd="sng" algn="ctr">
                      <a:solidFill>
                        <a:srgbClr val="D9E1DF"/>
                      </a:solidFill>
                      <a:prstDash val="solid"/>
                      <a:round/>
                      <a:headEnd type="none" w="med" len="med"/>
                      <a:tailEnd type="none" w="med" len="med"/>
                    </a:lnL>
                    <a:lnR w="12700" cap="flat" cmpd="sng" algn="ctr">
                      <a:solidFill>
                        <a:srgbClr val="D9E1DF"/>
                      </a:solidFill>
                      <a:prstDash val="solid"/>
                      <a:round/>
                      <a:headEnd type="none" w="med" len="med"/>
                      <a:tailEnd type="none" w="med" len="med"/>
                    </a:lnR>
                    <a:lnT w="12700" cap="flat" cmpd="sng" algn="ctr">
                      <a:solidFill>
                        <a:srgbClr val="D9E1DF"/>
                      </a:solidFill>
                      <a:prstDash val="solid"/>
                      <a:round/>
                      <a:headEnd type="none" w="med" len="med"/>
                      <a:tailEnd type="none" w="med" len="med"/>
                    </a:lnT>
                    <a:lnB w="12700" cap="flat" cmpd="sng" algn="ctr">
                      <a:solidFill>
                        <a:srgbClr val="D9E1DF"/>
                      </a:solidFill>
                      <a:prstDash val="solid"/>
                      <a:round/>
                      <a:headEnd type="none" w="med" len="med"/>
                      <a:tailEnd type="none" w="med" len="med"/>
                    </a:lnB>
                    <a:solidFill>
                      <a:srgbClr val="FBFCFB"/>
                    </a:solidFill>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Z → ozone generator 1</a:t>
                      </a:r>
                      <a:endParaRPr lang="en-US" sz="1300" dirty="0">
                        <a:latin typeface="Calibri" charset="0"/>
                        <a:ea typeface="Calibri" charset="0"/>
                        <a:cs typeface="Calibri" charset="0"/>
                      </a:endParaRPr>
                    </a:p>
                  </a:txBody>
                  <a:tcPr marL="109728" marR="109728" marT="0" marB="0" anchor="ctr">
                    <a:lnL w="12700" cap="flat" cmpd="sng" algn="ctr">
                      <a:solidFill>
                        <a:srgbClr val="D9E1DF"/>
                      </a:solidFill>
                      <a:prstDash val="solid"/>
                      <a:round/>
                      <a:headEnd type="none" w="med" len="med"/>
                      <a:tailEnd type="none" w="med" len="med"/>
                    </a:lnL>
                    <a:lnR w="12700" cap="flat" cmpd="sng" algn="ctr">
                      <a:solidFill>
                        <a:srgbClr val="D9E1DF"/>
                      </a:solidFill>
                      <a:prstDash val="solid"/>
                      <a:round/>
                      <a:headEnd type="none" w="med" len="med"/>
                      <a:tailEnd type="none" w="med" len="med"/>
                    </a:lnR>
                    <a:lnT w="12700" cap="flat" cmpd="sng" algn="ctr">
                      <a:solidFill>
                        <a:srgbClr val="D9E1DF"/>
                      </a:solidFill>
                      <a:prstDash val="solid"/>
                      <a:round/>
                      <a:headEnd type="none" w="med" len="med"/>
                      <a:tailEnd type="none" w="med" len="med"/>
                    </a:lnT>
                    <a:lnB w="12700" cap="flat" cmpd="sng" algn="ctr">
                      <a:solidFill>
                        <a:srgbClr val="D9E1DF"/>
                      </a:solidFill>
                      <a:prstDash val="solid"/>
                      <a:round/>
                      <a:headEnd type="none" w="med" len="med"/>
                      <a:tailEnd type="none" w="med" len="med"/>
                    </a:lnB>
                    <a:solidFill>
                      <a:srgbClr val="FBFCFB"/>
                    </a:solidFill>
                  </a:tcPr>
                </a:tc>
              </a:tr>
              <a:tr h="384048">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PMS7003</a:t>
                      </a:r>
                      <a:endParaRPr lang="en-US" sz="1300" dirty="0">
                        <a:latin typeface="Calibri" charset="0"/>
                        <a:ea typeface="Calibri" charset="0"/>
                        <a:cs typeface="Calibri" charset="0"/>
                      </a:endParaRPr>
                    </a:p>
                  </a:txBody>
                  <a:tcPr marL="109728" marR="109728" marT="0" marB="0" anchor="ctr">
                    <a:lnL w="12700" cap="flat" cmpd="sng" algn="ctr">
                      <a:solidFill>
                        <a:srgbClr val="D9E1DF"/>
                      </a:solidFill>
                      <a:prstDash val="solid"/>
                      <a:round/>
                      <a:headEnd type="none" w="med" len="med"/>
                      <a:tailEnd type="none" w="med" len="med"/>
                    </a:lnL>
                    <a:lnR w="12700" cap="flat" cmpd="sng" algn="ctr">
                      <a:solidFill>
                        <a:srgbClr val="D9E1DF"/>
                      </a:solidFill>
                      <a:prstDash val="solid"/>
                      <a:round/>
                      <a:headEnd type="none" w="med" len="med"/>
                      <a:tailEnd type="none" w="med" len="med"/>
                    </a:lnR>
                    <a:lnT w="12700" cap="flat" cmpd="sng" algn="ctr">
                      <a:solidFill>
                        <a:srgbClr val="D9E1DF"/>
                      </a:solidFill>
                      <a:prstDash val="solid"/>
                      <a:round/>
                      <a:headEnd type="none" w="med" len="med"/>
                      <a:tailEnd type="none" w="med" len="med"/>
                    </a:lnT>
                    <a:lnB w="12700" cap="flat" cmpd="sng" algn="ctr">
                      <a:solidFill>
                        <a:srgbClr val="D9E1DF"/>
                      </a:solidFill>
                      <a:prstDash val="solid"/>
                      <a:round/>
                      <a:headEnd type="none" w="med" len="med"/>
                      <a:tailEnd type="none" w="med" len="med"/>
                    </a:lnB>
                    <a:solidFill>
                      <a:srgbClr val="FBFCFB"/>
                    </a:solidFill>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PM1.0, PM2.5, PM10</a:t>
                      </a:r>
                      <a:endParaRPr lang="en-US" sz="1300" dirty="0">
                        <a:latin typeface="Calibri" charset="0"/>
                        <a:ea typeface="Calibri" charset="0"/>
                        <a:cs typeface="Calibri" charset="0"/>
                      </a:endParaRPr>
                    </a:p>
                  </a:txBody>
                  <a:tcPr marL="109728" marR="109728" marT="0" marB="0" anchor="ctr">
                    <a:lnL w="12700" cap="flat" cmpd="sng" algn="ctr">
                      <a:solidFill>
                        <a:srgbClr val="D9E1DF"/>
                      </a:solidFill>
                      <a:prstDash val="solid"/>
                      <a:round/>
                      <a:headEnd type="none" w="med" len="med"/>
                      <a:tailEnd type="none" w="med" len="med"/>
                    </a:lnL>
                    <a:lnR w="12700" cap="flat" cmpd="sng" algn="ctr">
                      <a:solidFill>
                        <a:srgbClr val="D9E1DF"/>
                      </a:solidFill>
                      <a:prstDash val="solid"/>
                      <a:round/>
                      <a:headEnd type="none" w="med" len="med"/>
                      <a:tailEnd type="none" w="med" len="med"/>
                    </a:lnR>
                    <a:lnT w="12700" cap="flat" cmpd="sng" algn="ctr">
                      <a:solidFill>
                        <a:srgbClr val="D9E1DF"/>
                      </a:solidFill>
                      <a:prstDash val="solid"/>
                      <a:round/>
                      <a:headEnd type="none" w="med" len="med"/>
                      <a:tailEnd type="none" w="med" len="med"/>
                    </a:lnT>
                    <a:lnB w="12700" cap="flat" cmpd="sng" algn="ctr">
                      <a:solidFill>
                        <a:srgbClr val="D9E1DF"/>
                      </a:solidFill>
                      <a:prstDash val="solid"/>
                      <a:round/>
                      <a:headEnd type="none" w="med" len="med"/>
                      <a:tailEnd type="none" w="med" len="med"/>
                    </a:lnB>
                    <a:solidFill>
                      <a:srgbClr val="FBFCFB"/>
                    </a:solidFill>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W → dust alert</a:t>
                      </a:r>
                      <a:endParaRPr lang="en-US" sz="1300" dirty="0">
                        <a:latin typeface="Calibri" charset="0"/>
                        <a:ea typeface="Calibri" charset="0"/>
                        <a:cs typeface="Calibri" charset="0"/>
                      </a:endParaRPr>
                    </a:p>
                  </a:txBody>
                  <a:tcPr marL="109728" marR="109728" marT="0" marB="0" anchor="ctr">
                    <a:lnL w="12700" cap="flat" cmpd="sng" algn="ctr">
                      <a:solidFill>
                        <a:srgbClr val="D9E1DF"/>
                      </a:solidFill>
                      <a:prstDash val="solid"/>
                      <a:round/>
                      <a:headEnd type="none" w="med" len="med"/>
                      <a:tailEnd type="none" w="med" len="med"/>
                    </a:lnL>
                    <a:lnR w="12700" cap="flat" cmpd="sng" algn="ctr">
                      <a:solidFill>
                        <a:srgbClr val="D9E1DF"/>
                      </a:solidFill>
                      <a:prstDash val="solid"/>
                      <a:round/>
                      <a:headEnd type="none" w="med" len="med"/>
                      <a:tailEnd type="none" w="med" len="med"/>
                    </a:lnR>
                    <a:lnT w="12700" cap="flat" cmpd="sng" algn="ctr">
                      <a:solidFill>
                        <a:srgbClr val="D9E1DF"/>
                      </a:solidFill>
                      <a:prstDash val="solid"/>
                      <a:round/>
                      <a:headEnd type="none" w="med" len="med"/>
                      <a:tailEnd type="none" w="med" len="med"/>
                    </a:lnT>
                    <a:lnB w="12700" cap="flat" cmpd="sng" algn="ctr">
                      <a:solidFill>
                        <a:srgbClr val="D9E1DF"/>
                      </a:solidFill>
                      <a:prstDash val="solid"/>
                      <a:round/>
                      <a:headEnd type="none" w="med" len="med"/>
                      <a:tailEnd type="none" w="med" len="med"/>
                    </a:lnB>
                    <a:solidFill>
                      <a:srgbClr val="FBFCFB"/>
                    </a:solidFill>
                  </a:tcPr>
                </a:tc>
              </a:tr>
              <a:tr h="384048">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Relay board</a:t>
                      </a:r>
                      <a:endParaRPr lang="en-US" sz="1300" dirty="0">
                        <a:latin typeface="Calibri" charset="0"/>
                        <a:ea typeface="Calibri" charset="0"/>
                        <a:cs typeface="Calibri" charset="0"/>
                      </a:endParaRPr>
                    </a:p>
                  </a:txBody>
                  <a:tcPr marL="109728" marR="109728" marT="0" marB="0" anchor="ctr">
                    <a:lnL w="12700" cap="flat" cmpd="sng" algn="ctr">
                      <a:solidFill>
                        <a:srgbClr val="D9E1DF"/>
                      </a:solidFill>
                      <a:prstDash val="solid"/>
                      <a:round/>
                      <a:headEnd type="none" w="med" len="med"/>
                      <a:tailEnd type="none" w="med" len="med"/>
                    </a:lnL>
                    <a:lnR w="12700" cap="flat" cmpd="sng" algn="ctr">
                      <a:solidFill>
                        <a:srgbClr val="D9E1DF"/>
                      </a:solidFill>
                      <a:prstDash val="solid"/>
                      <a:round/>
                      <a:headEnd type="none" w="med" len="med"/>
                      <a:tailEnd type="none" w="med" len="med"/>
                    </a:lnR>
                    <a:lnT w="12700" cap="flat" cmpd="sng" algn="ctr">
                      <a:solidFill>
                        <a:srgbClr val="D9E1DF"/>
                      </a:solidFill>
                      <a:prstDash val="solid"/>
                      <a:round/>
                      <a:headEnd type="none" w="med" len="med"/>
                      <a:tailEnd type="none" w="med" len="med"/>
                    </a:lnT>
                    <a:lnB w="12700" cap="flat" cmpd="sng" algn="ctr">
                      <a:solidFill>
                        <a:srgbClr val="D9E1DF"/>
                      </a:solidFill>
                      <a:prstDash val="solid"/>
                      <a:round/>
                      <a:headEnd type="none" w="med" len="med"/>
                      <a:tailEnd type="none" w="med" len="med"/>
                    </a:lnB>
                    <a:solidFill>
                      <a:srgbClr val="FBFCFB"/>
                    </a:solidFill>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Fan + 2 ozone generators</a:t>
                      </a:r>
                      <a:endParaRPr lang="en-US" sz="1300" dirty="0">
                        <a:latin typeface="Calibri" charset="0"/>
                        <a:ea typeface="Calibri" charset="0"/>
                        <a:cs typeface="Calibri" charset="0"/>
                      </a:endParaRPr>
                    </a:p>
                  </a:txBody>
                  <a:tcPr marL="109728" marR="109728" marT="0" marB="0" anchor="ctr">
                    <a:lnL w="12700" cap="flat" cmpd="sng" algn="ctr">
                      <a:solidFill>
                        <a:srgbClr val="D9E1DF"/>
                      </a:solidFill>
                      <a:prstDash val="solid"/>
                      <a:round/>
                      <a:headEnd type="none" w="med" len="med"/>
                      <a:tailEnd type="none" w="med" len="med"/>
                    </a:lnL>
                    <a:lnR w="12700" cap="flat" cmpd="sng" algn="ctr">
                      <a:solidFill>
                        <a:srgbClr val="D9E1DF"/>
                      </a:solidFill>
                      <a:prstDash val="solid"/>
                      <a:round/>
                      <a:headEnd type="none" w="med" len="med"/>
                      <a:tailEnd type="none" w="med" len="med"/>
                    </a:lnR>
                    <a:lnT w="12700" cap="flat" cmpd="sng" algn="ctr">
                      <a:solidFill>
                        <a:srgbClr val="D9E1DF"/>
                      </a:solidFill>
                      <a:prstDash val="solid"/>
                      <a:round/>
                      <a:headEnd type="none" w="med" len="med"/>
                      <a:tailEnd type="none" w="med" len="med"/>
                    </a:lnT>
                    <a:lnB w="12700" cap="flat" cmpd="sng" algn="ctr">
                      <a:solidFill>
                        <a:srgbClr val="D9E1DF"/>
                      </a:solidFill>
                      <a:prstDash val="solid"/>
                      <a:round/>
                      <a:headEnd type="none" w="med" len="med"/>
                      <a:tailEnd type="none" w="med" len="med"/>
                    </a:lnB>
                    <a:solidFill>
                      <a:srgbClr val="FBFCFB"/>
                    </a:solidFill>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Active-low, interlocked</a:t>
                      </a:r>
                      <a:endParaRPr lang="en-US" sz="1300" dirty="0">
                        <a:latin typeface="Calibri" charset="0"/>
                        <a:ea typeface="Calibri" charset="0"/>
                        <a:cs typeface="Calibri" charset="0"/>
                      </a:endParaRPr>
                    </a:p>
                  </a:txBody>
                  <a:tcPr marL="109728" marR="109728" marT="0" marB="0" anchor="ctr">
                    <a:lnL w="12700" cap="flat" cmpd="sng" algn="ctr">
                      <a:solidFill>
                        <a:srgbClr val="D9E1DF"/>
                      </a:solidFill>
                      <a:prstDash val="solid"/>
                      <a:round/>
                      <a:headEnd type="none" w="med" len="med"/>
                      <a:tailEnd type="none" w="med" len="med"/>
                    </a:lnL>
                    <a:lnR w="12700" cap="flat" cmpd="sng" algn="ctr">
                      <a:solidFill>
                        <a:srgbClr val="D9E1DF"/>
                      </a:solidFill>
                      <a:prstDash val="solid"/>
                      <a:round/>
                      <a:headEnd type="none" w="med" len="med"/>
                      <a:tailEnd type="none" w="med" len="med"/>
                    </a:lnR>
                    <a:lnT w="12700" cap="flat" cmpd="sng" algn="ctr">
                      <a:solidFill>
                        <a:srgbClr val="D9E1DF"/>
                      </a:solidFill>
                      <a:prstDash val="solid"/>
                      <a:round/>
                      <a:headEnd type="none" w="med" len="med"/>
                      <a:tailEnd type="none" w="med" len="med"/>
                    </a:lnT>
                    <a:lnB w="12700" cap="flat" cmpd="sng" algn="ctr">
                      <a:solidFill>
                        <a:srgbClr val="D9E1DF"/>
                      </a:solidFill>
                      <a:prstDash val="solid"/>
                      <a:round/>
                      <a:headEnd type="none" w="med" len="med"/>
                      <a:tailEnd type="none" w="med" len="med"/>
                    </a:lnB>
                    <a:solidFill>
                      <a:srgbClr val="FBFCFB"/>
                    </a:solidFill>
                  </a:tcPr>
                </a:tc>
              </a:tr>
              <a:tr h="384048">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16×2 LCD</a:t>
                      </a:r>
                      <a:endParaRPr lang="en-US" sz="1300" dirty="0">
                        <a:latin typeface="Calibri" charset="0"/>
                        <a:ea typeface="Calibri" charset="0"/>
                        <a:cs typeface="Calibri" charset="0"/>
                      </a:endParaRPr>
                    </a:p>
                  </a:txBody>
                  <a:tcPr marL="109728" marR="109728" marT="0" marB="0" anchor="ctr">
                    <a:lnL w="12700" cap="flat" cmpd="sng" algn="ctr">
                      <a:solidFill>
                        <a:srgbClr val="D9E1DF"/>
                      </a:solidFill>
                      <a:prstDash val="solid"/>
                      <a:round/>
                      <a:headEnd type="none" w="med" len="med"/>
                      <a:tailEnd type="none" w="med" len="med"/>
                    </a:lnL>
                    <a:lnR w="12700" cap="flat" cmpd="sng" algn="ctr">
                      <a:solidFill>
                        <a:srgbClr val="D9E1DF"/>
                      </a:solidFill>
                      <a:prstDash val="solid"/>
                      <a:round/>
                      <a:headEnd type="none" w="med" len="med"/>
                      <a:tailEnd type="none" w="med" len="med"/>
                    </a:lnR>
                    <a:lnT w="12700" cap="flat" cmpd="sng" algn="ctr">
                      <a:solidFill>
                        <a:srgbClr val="D9E1DF"/>
                      </a:solidFill>
                      <a:prstDash val="solid"/>
                      <a:round/>
                      <a:headEnd type="none" w="med" len="med"/>
                      <a:tailEnd type="none" w="med" len="med"/>
                    </a:lnT>
                    <a:lnB w="12700" cap="flat" cmpd="sng" algn="ctr">
                      <a:solidFill>
                        <a:srgbClr val="D9E1DF"/>
                      </a:solidFill>
                      <a:prstDash val="solid"/>
                      <a:round/>
                      <a:headEnd type="none" w="med" len="med"/>
                      <a:tailEnd type="none" w="med" len="med"/>
                    </a:lnB>
                    <a:solidFill>
                      <a:srgbClr val="FBFCFB"/>
                    </a:solidFill>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Verdict on the coach wall</a:t>
                      </a:r>
                      <a:endParaRPr lang="en-US" sz="1300" dirty="0">
                        <a:latin typeface="Calibri" charset="0"/>
                        <a:ea typeface="Calibri" charset="0"/>
                        <a:cs typeface="Calibri" charset="0"/>
                      </a:endParaRPr>
                    </a:p>
                  </a:txBody>
                  <a:tcPr marL="109728" marR="109728" marT="0" marB="0" anchor="ctr">
                    <a:lnL w="12700" cap="flat" cmpd="sng" algn="ctr">
                      <a:solidFill>
                        <a:srgbClr val="D9E1DF"/>
                      </a:solidFill>
                      <a:prstDash val="solid"/>
                      <a:round/>
                      <a:headEnd type="none" w="med" len="med"/>
                      <a:tailEnd type="none" w="med" len="med"/>
                    </a:lnL>
                    <a:lnR w="12700" cap="flat" cmpd="sng" algn="ctr">
                      <a:solidFill>
                        <a:srgbClr val="D9E1DF"/>
                      </a:solidFill>
                      <a:prstDash val="solid"/>
                      <a:round/>
                      <a:headEnd type="none" w="med" len="med"/>
                      <a:tailEnd type="none" w="med" len="med"/>
                    </a:lnR>
                    <a:lnT w="12700" cap="flat" cmpd="sng" algn="ctr">
                      <a:solidFill>
                        <a:srgbClr val="D9E1DF"/>
                      </a:solidFill>
                      <a:prstDash val="solid"/>
                      <a:round/>
                      <a:headEnd type="none" w="med" len="med"/>
                      <a:tailEnd type="none" w="med" len="med"/>
                    </a:lnT>
                    <a:lnB w="12700" cap="flat" cmpd="sng" algn="ctr">
                      <a:solidFill>
                        <a:srgbClr val="D9E1DF"/>
                      </a:solidFill>
                      <a:prstDash val="solid"/>
                      <a:round/>
                      <a:headEnd type="none" w="med" len="med"/>
                      <a:tailEnd type="none" w="med" len="med"/>
                    </a:lnB>
                    <a:solidFill>
                      <a:srgbClr val="FBFCFB"/>
                    </a:solidFill>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T → G → CO₂ → dust</a:t>
                      </a:r>
                      <a:endParaRPr lang="en-US" sz="1300" dirty="0">
                        <a:latin typeface="Calibri" charset="0"/>
                        <a:ea typeface="Calibri" charset="0"/>
                        <a:cs typeface="Calibri" charset="0"/>
                      </a:endParaRPr>
                    </a:p>
                  </a:txBody>
                  <a:tcPr marL="109728" marR="109728" marT="0" marB="0" anchor="ctr">
                    <a:lnL w="12700" cap="flat" cmpd="sng" algn="ctr">
                      <a:solidFill>
                        <a:srgbClr val="D9E1DF"/>
                      </a:solidFill>
                      <a:prstDash val="solid"/>
                      <a:round/>
                      <a:headEnd type="none" w="med" len="med"/>
                      <a:tailEnd type="none" w="med" len="med"/>
                    </a:lnL>
                    <a:lnR w="12700" cap="flat" cmpd="sng" algn="ctr">
                      <a:solidFill>
                        <a:srgbClr val="D9E1DF"/>
                      </a:solidFill>
                      <a:prstDash val="solid"/>
                      <a:round/>
                      <a:headEnd type="none" w="med" len="med"/>
                      <a:tailEnd type="none" w="med" len="med"/>
                    </a:lnR>
                    <a:lnT w="12700" cap="flat" cmpd="sng" algn="ctr">
                      <a:solidFill>
                        <a:srgbClr val="D9E1DF"/>
                      </a:solidFill>
                      <a:prstDash val="solid"/>
                      <a:round/>
                      <a:headEnd type="none" w="med" len="med"/>
                      <a:tailEnd type="none" w="med" len="med"/>
                    </a:lnT>
                    <a:lnB w="12700" cap="flat" cmpd="sng" algn="ctr">
                      <a:solidFill>
                        <a:srgbClr val="D9E1DF"/>
                      </a:solidFill>
                      <a:prstDash val="solid"/>
                      <a:round/>
                      <a:headEnd type="none" w="med" len="med"/>
                      <a:tailEnd type="none" w="med" len="med"/>
                    </a:lnB>
                    <a:solidFill>
                      <a:srgbClr val="FBFCFB"/>
                    </a:solidFill>
                  </a:tcPr>
                </a:tc>
              </a:tr>
              <a:tr h="384048">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ESP8266</a:t>
                      </a:r>
                      <a:endParaRPr lang="en-US" sz="1300" dirty="0">
                        <a:latin typeface="Calibri" charset="0"/>
                        <a:ea typeface="Calibri" charset="0"/>
                        <a:cs typeface="Calibri" charset="0"/>
                      </a:endParaRPr>
                    </a:p>
                  </a:txBody>
                  <a:tcPr marL="109728" marR="109728" marT="0" marB="0" anchor="ctr">
                    <a:lnL w="12700" cap="flat" cmpd="sng" algn="ctr">
                      <a:solidFill>
                        <a:srgbClr val="D9E1DF"/>
                      </a:solidFill>
                      <a:prstDash val="solid"/>
                      <a:round/>
                      <a:headEnd type="none" w="med" len="med"/>
                      <a:tailEnd type="none" w="med" len="med"/>
                    </a:lnL>
                    <a:lnR w="12700" cap="flat" cmpd="sng" algn="ctr">
                      <a:solidFill>
                        <a:srgbClr val="D9E1DF"/>
                      </a:solidFill>
                      <a:prstDash val="solid"/>
                      <a:round/>
                      <a:headEnd type="none" w="med" len="med"/>
                      <a:tailEnd type="none" w="med" len="med"/>
                    </a:lnR>
                    <a:lnT w="12700" cap="flat" cmpd="sng" algn="ctr">
                      <a:solidFill>
                        <a:srgbClr val="D9E1DF"/>
                      </a:solidFill>
                      <a:prstDash val="solid"/>
                      <a:round/>
                      <a:headEnd type="none" w="med" len="med"/>
                      <a:tailEnd type="none" w="med" len="med"/>
                    </a:lnT>
                    <a:lnB w="12700" cap="flat" cmpd="sng" algn="ctr">
                      <a:solidFill>
                        <a:srgbClr val="D9E1DF"/>
                      </a:solidFill>
                      <a:prstDash val="solid"/>
                      <a:round/>
                      <a:headEnd type="none" w="med" len="med"/>
                      <a:tailEnd type="none" w="med" len="med"/>
                    </a:lnB>
                    <a:solidFill>
                      <a:srgbClr val="FBFCFB"/>
                    </a:solidFill>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Wi-Fi bridge</a:t>
                      </a:r>
                      <a:endParaRPr lang="en-US" sz="1300" dirty="0">
                        <a:latin typeface="Calibri" charset="0"/>
                        <a:ea typeface="Calibri" charset="0"/>
                        <a:cs typeface="Calibri" charset="0"/>
                      </a:endParaRPr>
                    </a:p>
                  </a:txBody>
                  <a:tcPr marL="109728" marR="109728" marT="0" marB="0" anchor="ctr">
                    <a:lnL w="12700" cap="flat" cmpd="sng" algn="ctr">
                      <a:solidFill>
                        <a:srgbClr val="D9E1DF"/>
                      </a:solidFill>
                      <a:prstDash val="solid"/>
                      <a:round/>
                      <a:headEnd type="none" w="med" len="med"/>
                      <a:tailEnd type="none" w="med" len="med"/>
                    </a:lnL>
                    <a:lnR w="12700" cap="flat" cmpd="sng" algn="ctr">
                      <a:solidFill>
                        <a:srgbClr val="D9E1DF"/>
                      </a:solidFill>
                      <a:prstDash val="solid"/>
                      <a:round/>
                      <a:headEnd type="none" w="med" len="med"/>
                      <a:tailEnd type="none" w="med" len="med"/>
                    </a:lnR>
                    <a:lnT w="12700" cap="flat" cmpd="sng" algn="ctr">
                      <a:solidFill>
                        <a:srgbClr val="D9E1DF"/>
                      </a:solidFill>
                      <a:prstDash val="solid"/>
                      <a:round/>
                      <a:headEnd type="none" w="med" len="med"/>
                      <a:tailEnd type="none" w="med" len="med"/>
                    </a:lnT>
                    <a:lnB w="12700" cap="flat" cmpd="sng" algn="ctr">
                      <a:solidFill>
                        <a:srgbClr val="D9E1DF"/>
                      </a:solidFill>
                      <a:prstDash val="solid"/>
                      <a:round/>
                      <a:headEnd type="none" w="med" len="med"/>
                      <a:tailEnd type="none" w="med" len="med"/>
                    </a:lnB>
                    <a:solidFill>
                      <a:srgbClr val="FBFCFB"/>
                    </a:solidFill>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To AWS IoT Core</a:t>
                      </a:r>
                      <a:endParaRPr lang="en-US" sz="1300" dirty="0">
                        <a:latin typeface="Calibri" charset="0"/>
                        <a:ea typeface="Calibri" charset="0"/>
                        <a:cs typeface="Calibri" charset="0"/>
                      </a:endParaRPr>
                    </a:p>
                  </a:txBody>
                  <a:tcPr marL="109728" marR="109728" marT="0" marB="0" anchor="ctr">
                    <a:lnL w="12700" cap="flat" cmpd="sng" algn="ctr">
                      <a:solidFill>
                        <a:srgbClr val="D9E1DF"/>
                      </a:solidFill>
                      <a:prstDash val="solid"/>
                      <a:round/>
                      <a:headEnd type="none" w="med" len="med"/>
                      <a:tailEnd type="none" w="med" len="med"/>
                    </a:lnL>
                    <a:lnR w="12700" cap="flat" cmpd="sng" algn="ctr">
                      <a:solidFill>
                        <a:srgbClr val="D9E1DF"/>
                      </a:solidFill>
                      <a:prstDash val="solid"/>
                      <a:round/>
                      <a:headEnd type="none" w="med" len="med"/>
                      <a:tailEnd type="none" w="med" len="med"/>
                    </a:lnR>
                    <a:lnT w="12700" cap="flat" cmpd="sng" algn="ctr">
                      <a:solidFill>
                        <a:srgbClr val="D9E1DF"/>
                      </a:solidFill>
                      <a:prstDash val="solid"/>
                      <a:round/>
                      <a:headEnd type="none" w="med" len="med"/>
                      <a:tailEnd type="none" w="med" len="med"/>
                    </a:lnT>
                    <a:lnB w="12700" cap="flat" cmpd="sng" algn="ctr">
                      <a:solidFill>
                        <a:srgbClr val="D9E1DF"/>
                      </a:solidFill>
                      <a:prstDash val="solid"/>
                      <a:round/>
                      <a:headEnd type="none" w="med" len="med"/>
                      <a:tailEnd type="none" w="med" len="med"/>
                    </a:lnB>
                    <a:solidFill>
                      <a:srgbClr val="FBFCFB"/>
                    </a:solidFill>
                  </a:tcPr>
                </a:tc>
              </a:tr>
            </a:tbl>
          </a:graphicData>
        </a:graphic>
      </p:graphicFrame>
      <p:sp>
        <p:nvSpPr>
          <p:cNvPr id="5" name="Shape 2"/>
          <p:cNvSpPr/>
          <p:nvPr/>
        </p:nvSpPr>
        <p:spPr>
          <a:xfrm>
            <a:off x="8129016" y="2514600"/>
            <a:ext cx="3248863" cy="3072384"/>
          </a:xfrm>
          <a:prstGeom prst="roundRect">
            <a:avLst>
              <a:gd name="adj" fmla="val 2976"/>
            </a:avLst>
          </a:prstGeom>
          <a:solidFill>
            <a:srgbClr val="14202B"/>
          </a:solidFill>
          <a:ln w="12700">
            <a:solidFill>
              <a:srgbClr val="14202B"/>
            </a:solidFill>
            <a:prstDash val="solid"/>
          </a:ln>
        </p:spPr>
      </p:sp>
      <p:sp>
        <p:nvSpPr>
          <p:cNvPr id="6" name="Text 3"/>
          <p:cNvSpPr txBox="1"/>
          <p:nvPr/>
        </p:nvSpPr>
        <p:spPr>
          <a:xfrm>
            <a:off x="8403336" y="2770632"/>
            <a:ext cx="2700223" cy="274320"/>
          </a:xfrm>
          <a:prstGeom prst="rect">
            <a:avLst/>
          </a:prstGeom>
          <a:noFill/>
          <a:ln/>
        </p:spPr>
        <p:txBody>
          <a:bodyPr wrap="square" lIns="0" tIns="0" rIns="0" bIns="0" rtlCol="0" anchor="t"/>
          <a:lstStyle/>
          <a:p>
            <a:pPr indent="0" marL="0">
              <a:buNone/>
            </a:pPr>
            <a:r>
              <a:rPr lang="en-US" sz="1200" spc="300" kern="0" dirty="0">
                <a:solidFill>
                  <a:srgbClr val="9AABBA"/>
                </a:solidFill>
                <a:latin typeface="Consolas" pitchFamily="34" charset="0"/>
                <a:ea typeface="Consolas" pitchFamily="34" charset="-122"/>
                <a:cs typeface="Consolas" pitchFamily="34" charset="-120"/>
              </a:rPr>
              <a:t>COACH → CLOUD</a:t>
            </a:r>
            <a:endParaRPr lang="en-US" sz="1200" dirty="0"/>
          </a:p>
        </p:txBody>
      </p:sp>
      <p:sp>
        <p:nvSpPr>
          <p:cNvPr id="7" name="Text 4"/>
          <p:cNvSpPr txBox="1"/>
          <p:nvPr/>
        </p:nvSpPr>
        <p:spPr>
          <a:xfrm>
            <a:off x="8403336" y="3063240"/>
            <a:ext cx="2700223" cy="411480"/>
          </a:xfrm>
          <a:prstGeom prst="rect">
            <a:avLst/>
          </a:prstGeom>
          <a:noFill/>
          <a:ln/>
        </p:spPr>
        <p:txBody>
          <a:bodyPr wrap="square" lIns="0" tIns="0" rIns="0" bIns="0" rtlCol="0" anchor="t"/>
          <a:lstStyle/>
          <a:p>
            <a:pPr indent="0" marL="0">
              <a:buNone/>
            </a:pPr>
            <a:r>
              <a:rPr lang="en-US" sz="2200" b="1" dirty="0">
                <a:solidFill>
                  <a:srgbClr val="5EEAD4"/>
                </a:solidFill>
                <a:latin typeface="Consolas" pitchFamily="34" charset="0"/>
                <a:ea typeface="Consolas" pitchFamily="34" charset="-122"/>
                <a:cs typeface="Consolas" pitchFamily="34" charset="-120"/>
              </a:rPr>
              <a:t>a26.60b1c1d3e</a:t>
            </a:r>
            <a:endParaRPr lang="en-US" sz="2200" dirty="0"/>
          </a:p>
        </p:txBody>
      </p:sp>
      <p:sp>
        <p:nvSpPr>
          <p:cNvPr id="8" name="Text 5"/>
          <p:cNvSpPr txBox="1"/>
          <p:nvPr/>
        </p:nvSpPr>
        <p:spPr>
          <a:xfrm>
            <a:off x="8403336" y="3502152"/>
            <a:ext cx="2700223" cy="274320"/>
          </a:xfrm>
          <a:prstGeom prst="rect">
            <a:avLst/>
          </a:prstGeom>
          <a:noFill/>
          <a:ln/>
        </p:spPr>
        <p:txBody>
          <a:bodyPr wrap="square" lIns="0" tIns="0" rIns="0" bIns="0" rtlCol="0" anchor="t"/>
          <a:lstStyle/>
          <a:p>
            <a:pPr indent="0" marL="0">
              <a:buNone/>
            </a:pPr>
            <a:r>
              <a:rPr lang="en-US" sz="1200" dirty="0">
                <a:solidFill>
                  <a:srgbClr val="C7D3DD"/>
                </a:solidFill>
                <a:latin typeface="Calibri" pitchFamily="34" charset="0"/>
                <a:ea typeface="Calibri" pitchFamily="34" charset="-122"/>
                <a:cs typeface="Calibri" pitchFamily="34" charset="-120"/>
              </a:rPr>
              <a:t>a temp · b gas · c CO₂ · d PM</a:t>
            </a:r>
            <a:endParaRPr lang="en-US" sz="1200" dirty="0"/>
          </a:p>
        </p:txBody>
      </p:sp>
      <p:sp>
        <p:nvSpPr>
          <p:cNvPr id="9" name="Shape 6"/>
          <p:cNvSpPr/>
          <p:nvPr/>
        </p:nvSpPr>
        <p:spPr>
          <a:xfrm>
            <a:off x="8403336" y="3886200"/>
            <a:ext cx="2700223" cy="0"/>
          </a:xfrm>
          <a:prstGeom prst="line">
            <a:avLst/>
          </a:prstGeom>
          <a:noFill/>
          <a:ln w="12700">
            <a:solidFill>
              <a:srgbClr val="22303D"/>
            </a:solidFill>
            <a:prstDash val="solid"/>
          </a:ln>
        </p:spPr>
      </p:sp>
      <p:sp>
        <p:nvSpPr>
          <p:cNvPr id="10" name="Text 7"/>
          <p:cNvSpPr txBox="1"/>
          <p:nvPr/>
        </p:nvSpPr>
        <p:spPr>
          <a:xfrm>
            <a:off x="8403336" y="4023360"/>
            <a:ext cx="2700223" cy="274320"/>
          </a:xfrm>
          <a:prstGeom prst="rect">
            <a:avLst/>
          </a:prstGeom>
          <a:noFill/>
          <a:ln/>
        </p:spPr>
        <p:txBody>
          <a:bodyPr wrap="square" lIns="0" tIns="0" rIns="0" bIns="0" rtlCol="0" anchor="t"/>
          <a:lstStyle/>
          <a:p>
            <a:pPr indent="0" marL="0">
              <a:buNone/>
            </a:pPr>
            <a:r>
              <a:rPr lang="en-US" sz="1200" spc="300" kern="0" dirty="0">
                <a:solidFill>
                  <a:srgbClr val="9AABBA"/>
                </a:solidFill>
                <a:latin typeface="Consolas" pitchFamily="34" charset="0"/>
                <a:ea typeface="Consolas" pitchFamily="34" charset="-122"/>
                <a:cs typeface="Consolas" pitchFamily="34" charset="-120"/>
              </a:rPr>
              <a:t>CLOUD → COACH</a:t>
            </a:r>
            <a:endParaRPr lang="en-US" sz="1200" dirty="0"/>
          </a:p>
        </p:txBody>
      </p:sp>
      <p:sp>
        <p:nvSpPr>
          <p:cNvPr id="11" name="Text 8"/>
          <p:cNvSpPr txBox="1"/>
          <p:nvPr/>
        </p:nvSpPr>
        <p:spPr>
          <a:xfrm>
            <a:off x="8403336" y="4315968"/>
            <a:ext cx="2700223" cy="411480"/>
          </a:xfrm>
          <a:prstGeom prst="rect">
            <a:avLst/>
          </a:prstGeom>
          <a:noFill/>
          <a:ln/>
        </p:spPr>
        <p:txBody>
          <a:bodyPr wrap="square" lIns="0" tIns="0" rIns="0" bIns="0" rtlCol="0" anchor="t"/>
          <a:lstStyle/>
          <a:p>
            <a:pPr indent="0" marL="0">
              <a:buNone/>
            </a:pPr>
            <a:r>
              <a:rPr lang="en-US" sz="2200" b="1" dirty="0">
                <a:solidFill>
                  <a:srgbClr val="5EEAD4"/>
                </a:solidFill>
                <a:latin typeface="Consolas" pitchFamily="34" charset="0"/>
                <a:ea typeface="Consolas" pitchFamily="34" charset="-122"/>
                <a:cs typeface="Consolas" pitchFamily="34" charset="-120"/>
              </a:rPr>
              <a:t>t0u0v0x0y</a:t>
            </a:r>
            <a:endParaRPr lang="en-US" sz="2200" dirty="0"/>
          </a:p>
        </p:txBody>
      </p:sp>
      <p:sp>
        <p:nvSpPr>
          <p:cNvPr id="12" name="Text 9"/>
          <p:cNvSpPr txBox="1"/>
          <p:nvPr/>
        </p:nvSpPr>
        <p:spPr>
          <a:xfrm>
            <a:off x="8403336" y="4754880"/>
            <a:ext cx="2700223" cy="640080"/>
          </a:xfrm>
          <a:prstGeom prst="rect">
            <a:avLst/>
          </a:prstGeom>
          <a:noFill/>
          <a:ln/>
        </p:spPr>
        <p:txBody>
          <a:bodyPr wrap="square" lIns="0" tIns="0" rIns="0" bIns="0" rtlCol="0" anchor="t"/>
          <a:lstStyle/>
          <a:p>
            <a:pPr indent="0" marL="0">
              <a:buNone/>
            </a:pPr>
            <a:r>
              <a:rPr lang="en-US" sz="1200" dirty="0">
                <a:solidFill>
                  <a:srgbClr val="C7D3DD"/>
                </a:solidFill>
                <a:latin typeface="Calibri" pitchFamily="34" charset="0"/>
                <a:ea typeface="Calibri" pitchFamily="34" charset="-122"/>
                <a:cs typeface="Calibri" pitchFamily="34" charset="-120"/>
              </a:rPr>
              <a:t>One bit per head: X Y Z W. A frame every two seconds, over MQTT.</a:t>
            </a:r>
            <a:endParaRPr lang="en-US" sz="1200" dirty="0"/>
          </a:p>
        </p:txBody>
      </p:sp>
      <p:sp>
        <p:nvSpPr>
          <p:cNvPr id="25" name="Slide Number Placeholder 0"/>
          <p:cNvSpPr>
            <a:spLocks noGrp="1"/>
          </p:cNvSpPr>
          <p:nvPr>
            <p:ph type="sldNum" sz="quarter" idx="4294967295"/>
          </p:nvPr>
        </p:nvSpPr>
        <p:spPr>
          <a:xfrm>
            <a:off x="10463479" y="6263640"/>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4A5A68"/>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813816" y="813816"/>
            <a:ext cx="10564063" cy="292608"/>
          </a:xfrm>
          <a:prstGeom prst="rect">
            <a:avLst/>
          </a:prstGeom>
          <a:noFill/>
          <a:ln/>
        </p:spPr>
        <p:txBody>
          <a:bodyPr wrap="square" lIns="0" tIns="0" rIns="0" bIns="0" rtlCol="0" anchor="t"/>
          <a:lstStyle/>
          <a:p>
            <a:pPr indent="0" marL="0">
              <a:buNone/>
            </a:pPr>
            <a:r>
              <a:rPr lang="en-US" sz="1200" spc="300" kern="0" dirty="0">
                <a:solidFill>
                  <a:srgbClr val="5EEAD4"/>
                </a:solidFill>
                <a:latin typeface="Consolas" pitchFamily="34" charset="0"/>
                <a:ea typeface="Consolas" pitchFamily="34" charset="-122"/>
                <a:cs typeface="Consolas" pitchFamily="34" charset="-120"/>
              </a:rPr>
              <a:t>05 · THE MODEL</a:t>
            </a:r>
            <a:endParaRPr lang="en-US" sz="1200" dirty="0"/>
          </a:p>
        </p:txBody>
      </p:sp>
      <p:sp>
        <p:nvSpPr>
          <p:cNvPr id="3" name="Text 0"/>
          <p:cNvSpPr/>
          <p:nvPr>
            <p:ph idx="100" type="title" hasCustomPrompt="1"/>
          </p:nvPr>
        </p:nvSpPr>
        <p:spPr>
          <a:xfrm>
            <a:off x="813816" y="1161288"/>
            <a:ext cx="10564063" cy="1188720"/>
          </a:xfrm>
          <a:prstGeom prst="rect">
            <a:avLst/>
          </a:prstGeom>
          <a:noFill/>
          <a:ln/>
        </p:spPr>
        <p:txBody>
          <a:bodyPr wrap="square" lIns="0" tIns="0" rIns="0" bIns="0" rtlCol="0" anchor="t"/>
          <a:lstStyle/>
          <a:p>
            <a:pPr algn="l" indent="0" marL="0">
              <a:buNone/>
            </a:pPr>
            <a:r>
              <a:rPr lang="en-US" sz="3600" b="1" dirty="0">
                <a:solidFill>
                  <a:srgbClr val="E8EEF2"/>
                </a:solidFill>
                <a:latin typeface="Calibri" pitchFamily="34" charset="0"/>
                <a:ea typeface="Calibri" pitchFamily="34" charset="-122"/>
                <a:cs typeface="Calibri" pitchFamily="34" charset="-120"/>
              </a:rPr>
              <a:t>Four small forests, one clear answer</a:t>
            </a:r>
            <a:endParaRPr lang="en-US" sz="3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13816" y="2514600"/>
          <a:ext cx="10564063" cy="914400"/>
        </p:xfrm>
        <a:graphic>
          <a:graphicData uri="http://schemas.openxmlformats.org/drawingml/2006/table">
            <a:tbl>
              <a:tblPr/>
              <a:tblGrid>
                <a:gridCol w="1271016"/>
                <a:gridCol w="3172968"/>
                <a:gridCol w="4014216"/>
                <a:gridCol w="2105863"/>
              </a:tblGrid>
              <a:tr h="457200">
                <a:tc>
                  <a:txBody>
                    <a:bodyPr/>
                    <a:lstStyle/>
                    <a:p>
                      <a:pPr algn="l" indent="0" marL="0">
                        <a:buNone/>
                      </a:pPr>
                      <a:r>
                        <a:rPr lang="en-US" sz="1600" b="1" dirty="0">
                          <a:solidFill>
                            <a:srgbClr val="9AABBA"/>
                          </a:solidFill>
                          <a:latin typeface="Calibri" pitchFamily="34" charset="0"/>
                          <a:ea typeface="Calibri" pitchFamily="34" charset="-122"/>
                          <a:cs typeface="Calibri" pitchFamily="34" charset="-120"/>
                        </a:rPr>
                        <a:t>Head</a:t>
                      </a:r>
                      <a:endParaRPr lang="en-US" sz="1600" dirty="0">
                        <a:latin typeface="Calibri" charset="0"/>
                        <a:ea typeface="Calibri" charset="0"/>
                        <a:cs typeface="Calibri" charset="0"/>
                      </a:endParaRPr>
                    </a:p>
                  </a:txBody>
                  <a:tcPr marL="164592" marR="164592" marT="0" marB="0" anchor="ctr">
                    <a:lnL w="12700" cap="flat" cmpd="sng" algn="ctr">
                      <a:solidFill>
                        <a:srgbClr val="22303D"/>
                      </a:solidFill>
                      <a:prstDash val="solid"/>
                      <a:round/>
                      <a:headEnd type="none" w="med" len="med"/>
                      <a:tailEnd type="none" w="med" len="med"/>
                    </a:lnL>
                    <a:lnR w="12700" cap="flat" cmpd="sng" algn="ctr">
                      <a:solidFill>
                        <a:srgbClr val="22303D"/>
                      </a:solidFill>
                      <a:prstDash val="solid"/>
                      <a:round/>
                      <a:headEnd type="none" w="med" len="med"/>
                      <a:tailEnd type="none" w="med" len="med"/>
                    </a:lnR>
                    <a:lnT w="12700" cap="flat" cmpd="sng" algn="ctr">
                      <a:solidFill>
                        <a:srgbClr val="22303D"/>
                      </a:solidFill>
                      <a:prstDash val="solid"/>
                      <a:round/>
                      <a:headEnd type="none" w="med" len="med"/>
                      <a:tailEnd type="none" w="med" len="med"/>
                    </a:lnT>
                    <a:lnB w="12700" cap="flat" cmpd="sng" algn="ctr">
                      <a:solidFill>
                        <a:srgbClr val="22303D"/>
                      </a:solidFill>
                      <a:prstDash val="solid"/>
                      <a:round/>
                      <a:headEnd type="none" w="med" len="med"/>
                      <a:tailEnd type="none" w="med" len="med"/>
                    </a:lnB>
                    <a:solidFill>
                      <a:srgbClr val="121B24"/>
                    </a:solidFill>
                  </a:tcPr>
                </a:tc>
                <a:tc>
                  <a:txBody>
                    <a:bodyPr/>
                    <a:lstStyle/>
                    <a:p>
                      <a:pPr algn="l" indent="0" marL="0">
                        <a:buNone/>
                      </a:pPr>
                      <a:r>
                        <a:rPr lang="en-US" sz="1600" b="1" dirty="0">
                          <a:solidFill>
                            <a:srgbClr val="9AABBA"/>
                          </a:solidFill>
                          <a:latin typeface="Calibri" pitchFamily="34" charset="0"/>
                          <a:ea typeface="Calibri" pitchFamily="34" charset="-122"/>
                          <a:cs typeface="Calibri" pitchFamily="34" charset="-120"/>
                        </a:rPr>
                        <a:t>Reads</a:t>
                      </a:r>
                      <a:endParaRPr lang="en-US" sz="1600" dirty="0">
                        <a:latin typeface="Calibri" charset="0"/>
                        <a:ea typeface="Calibri" charset="0"/>
                        <a:cs typeface="Calibri" charset="0"/>
                      </a:endParaRPr>
                    </a:p>
                  </a:txBody>
                  <a:tcPr marL="164592" marR="164592" marT="0" marB="0" anchor="ctr">
                    <a:lnL w="12700" cap="flat" cmpd="sng" algn="ctr">
                      <a:solidFill>
                        <a:srgbClr val="22303D"/>
                      </a:solidFill>
                      <a:prstDash val="solid"/>
                      <a:round/>
                      <a:headEnd type="none" w="med" len="med"/>
                      <a:tailEnd type="none" w="med" len="med"/>
                    </a:lnL>
                    <a:lnR w="12700" cap="flat" cmpd="sng" algn="ctr">
                      <a:solidFill>
                        <a:srgbClr val="22303D"/>
                      </a:solidFill>
                      <a:prstDash val="solid"/>
                      <a:round/>
                      <a:headEnd type="none" w="med" len="med"/>
                      <a:tailEnd type="none" w="med" len="med"/>
                    </a:lnR>
                    <a:lnT w="12700" cap="flat" cmpd="sng" algn="ctr">
                      <a:solidFill>
                        <a:srgbClr val="22303D"/>
                      </a:solidFill>
                      <a:prstDash val="solid"/>
                      <a:round/>
                      <a:headEnd type="none" w="med" len="med"/>
                      <a:tailEnd type="none" w="med" len="med"/>
                    </a:lnT>
                    <a:lnB w="12700" cap="flat" cmpd="sng" algn="ctr">
                      <a:solidFill>
                        <a:srgbClr val="22303D"/>
                      </a:solidFill>
                      <a:prstDash val="solid"/>
                      <a:round/>
                      <a:headEnd type="none" w="med" len="med"/>
                      <a:tailEnd type="none" w="med" len="med"/>
                    </a:lnB>
                    <a:solidFill>
                      <a:srgbClr val="121B24"/>
                    </a:solidFill>
                  </a:tcPr>
                </a:tc>
                <a:tc>
                  <a:txBody>
                    <a:bodyPr/>
                    <a:lstStyle/>
                    <a:p>
                      <a:pPr algn="l" indent="0" marL="0">
                        <a:buNone/>
                      </a:pPr>
                      <a:r>
                        <a:rPr lang="en-US" sz="1600" b="1" dirty="0">
                          <a:solidFill>
                            <a:srgbClr val="9AABBA"/>
                          </a:solidFill>
                          <a:latin typeface="Calibri" pitchFamily="34" charset="0"/>
                          <a:ea typeface="Calibri" pitchFamily="34" charset="-122"/>
                          <a:cs typeface="Calibri" pitchFamily="34" charset="-120"/>
                        </a:rPr>
                        <a:t>Switches</a:t>
                      </a:r>
                      <a:endParaRPr lang="en-US" sz="1600" dirty="0">
                        <a:latin typeface="Calibri" charset="0"/>
                        <a:ea typeface="Calibri" charset="0"/>
                        <a:cs typeface="Calibri" charset="0"/>
                      </a:endParaRPr>
                    </a:p>
                  </a:txBody>
                  <a:tcPr marL="164592" marR="164592" marT="0" marB="0" anchor="ctr">
                    <a:lnL w="12700" cap="flat" cmpd="sng" algn="ctr">
                      <a:solidFill>
                        <a:srgbClr val="22303D"/>
                      </a:solidFill>
                      <a:prstDash val="solid"/>
                      <a:round/>
                      <a:headEnd type="none" w="med" len="med"/>
                      <a:tailEnd type="none" w="med" len="med"/>
                    </a:lnL>
                    <a:lnR w="12700" cap="flat" cmpd="sng" algn="ctr">
                      <a:solidFill>
                        <a:srgbClr val="22303D"/>
                      </a:solidFill>
                      <a:prstDash val="solid"/>
                      <a:round/>
                      <a:headEnd type="none" w="med" len="med"/>
                      <a:tailEnd type="none" w="med" len="med"/>
                    </a:lnR>
                    <a:lnT w="12700" cap="flat" cmpd="sng" algn="ctr">
                      <a:solidFill>
                        <a:srgbClr val="22303D"/>
                      </a:solidFill>
                      <a:prstDash val="solid"/>
                      <a:round/>
                      <a:headEnd type="none" w="med" len="med"/>
                      <a:tailEnd type="none" w="med" len="med"/>
                    </a:lnT>
                    <a:lnB w="12700" cap="flat" cmpd="sng" algn="ctr">
                      <a:solidFill>
                        <a:srgbClr val="22303D"/>
                      </a:solidFill>
                      <a:prstDash val="solid"/>
                      <a:round/>
                      <a:headEnd type="none" w="med" len="med"/>
                      <a:tailEnd type="none" w="med" len="med"/>
                    </a:lnB>
                    <a:solidFill>
                      <a:srgbClr val="121B24"/>
                    </a:solidFill>
                  </a:tcPr>
                </a:tc>
                <a:tc>
                  <a:txBody>
                    <a:bodyPr/>
                    <a:lstStyle/>
                    <a:p>
                      <a:pPr algn="r" indent="0" marL="0">
                        <a:buNone/>
                      </a:pPr>
                      <a:r>
                        <a:rPr lang="en-US" sz="1600" b="1" dirty="0">
                          <a:solidFill>
                            <a:srgbClr val="9AABBA"/>
                          </a:solidFill>
                          <a:latin typeface="Calibri" pitchFamily="34" charset="0"/>
                          <a:ea typeface="Calibri" pitchFamily="34" charset="-122"/>
                          <a:cs typeface="Calibri" pitchFamily="34" charset="-120"/>
                        </a:rPr>
                        <a:t>Accuracy</a:t>
                      </a:r>
                      <a:endParaRPr lang="en-US" sz="1600" dirty="0">
                        <a:latin typeface="Calibri" charset="0"/>
                        <a:ea typeface="Calibri" charset="0"/>
                        <a:cs typeface="Calibri" charset="0"/>
                      </a:endParaRPr>
                    </a:p>
                  </a:txBody>
                  <a:tcPr marL="164592" marR="164592" marT="0" marB="0" anchor="ctr">
                    <a:lnL w="12700" cap="flat" cmpd="sng" algn="ctr">
                      <a:solidFill>
                        <a:srgbClr val="22303D"/>
                      </a:solidFill>
                      <a:prstDash val="solid"/>
                      <a:round/>
                      <a:headEnd type="none" w="med" len="med"/>
                      <a:tailEnd type="none" w="med" len="med"/>
                    </a:lnL>
                    <a:lnR w="12700" cap="flat" cmpd="sng" algn="ctr">
                      <a:solidFill>
                        <a:srgbClr val="22303D"/>
                      </a:solidFill>
                      <a:prstDash val="solid"/>
                      <a:round/>
                      <a:headEnd type="none" w="med" len="med"/>
                      <a:tailEnd type="none" w="med" len="med"/>
                    </a:lnR>
                    <a:lnT w="12700" cap="flat" cmpd="sng" algn="ctr">
                      <a:solidFill>
                        <a:srgbClr val="22303D"/>
                      </a:solidFill>
                      <a:prstDash val="solid"/>
                      <a:round/>
                      <a:headEnd type="none" w="med" len="med"/>
                      <a:tailEnd type="none" w="med" len="med"/>
                    </a:lnT>
                    <a:lnB w="12700" cap="flat" cmpd="sng" algn="ctr">
                      <a:solidFill>
                        <a:srgbClr val="22303D"/>
                      </a:solidFill>
                      <a:prstDash val="solid"/>
                      <a:round/>
                      <a:headEnd type="none" w="med" len="med"/>
                      <a:tailEnd type="none" w="med" len="med"/>
                    </a:lnB>
                    <a:solidFill>
                      <a:srgbClr val="121B24"/>
                    </a:solidFill>
                  </a:tcPr>
                </a:tc>
              </a:tr>
              <a:tr h="457200">
                <a:tc>
                  <a:txBody>
                    <a:bodyPr/>
                    <a:lstStyle/>
                    <a:p>
                      <a:pPr indent="0" marL="0">
                        <a:buNone/>
                      </a:pPr>
                      <a:r>
                        <a:rPr lang="en-US" sz="1600" dirty="0">
                          <a:solidFill>
                            <a:srgbClr val="E8EEF2"/>
                          </a:solidFill>
                          <a:latin typeface="Calibri" pitchFamily="34" charset="0"/>
                          <a:ea typeface="Calibri" pitchFamily="34" charset="-122"/>
                          <a:cs typeface="Calibri" pitchFamily="34" charset="-120"/>
                        </a:rPr>
                        <a:t>X</a:t>
                      </a:r>
                      <a:endParaRPr lang="en-US" sz="1600" dirty="0">
                        <a:latin typeface="Calibri" charset="0"/>
                        <a:ea typeface="Calibri" charset="0"/>
                        <a:cs typeface="Calibri" charset="0"/>
                      </a:endParaRPr>
                    </a:p>
                  </a:txBody>
                  <a:tcPr marL="164592" marR="164592" marT="0" marB="0" anchor="ctr">
                    <a:lnL w="12700" cap="flat" cmpd="sng" algn="ctr">
                      <a:solidFill>
                        <a:srgbClr val="22303D"/>
                      </a:solidFill>
                      <a:prstDash val="solid"/>
                      <a:round/>
                      <a:headEnd type="none" w="med" len="med"/>
                      <a:tailEnd type="none" w="med" len="med"/>
                    </a:lnL>
                    <a:lnR w="12700" cap="flat" cmpd="sng" algn="ctr">
                      <a:solidFill>
                        <a:srgbClr val="22303D"/>
                      </a:solidFill>
                      <a:prstDash val="solid"/>
                      <a:round/>
                      <a:headEnd type="none" w="med" len="med"/>
                      <a:tailEnd type="none" w="med" len="med"/>
                    </a:lnR>
                    <a:lnT w="12700" cap="flat" cmpd="sng" algn="ctr">
                      <a:solidFill>
                        <a:srgbClr val="22303D"/>
                      </a:solidFill>
                      <a:prstDash val="solid"/>
                      <a:round/>
                      <a:headEnd type="none" w="med" len="med"/>
                      <a:tailEnd type="none" w="med" len="med"/>
                    </a:lnT>
                    <a:lnB w="12700" cap="flat" cmpd="sng" algn="ctr">
                      <a:solidFill>
                        <a:srgbClr val="22303D"/>
                      </a:solidFill>
                      <a:prstDash val="solid"/>
                      <a:round/>
                      <a:headEnd type="none" w="med" len="med"/>
                      <a:tailEnd type="none" w="med" len="med"/>
                    </a:lnB>
                    <a:solidFill>
                      <a:srgbClr val="121B24"/>
                    </a:solidFill>
                  </a:tcPr>
                </a:tc>
                <a:tc>
                  <a:txBody>
                    <a:bodyPr/>
                    <a:lstStyle/>
                    <a:p>
                      <a:pPr indent="0" marL="0">
                        <a:buNone/>
                      </a:pPr>
                      <a:r>
                        <a:rPr lang="en-US" sz="1600" dirty="0">
                          <a:solidFill>
                            <a:srgbClr val="E8EEF2"/>
                          </a:solidFill>
                          <a:latin typeface="Calibri" pitchFamily="34" charset="0"/>
                          <a:ea typeface="Calibri" pitchFamily="34" charset="-122"/>
                          <a:cs typeface="Calibri" pitchFamily="34" charset="-120"/>
                        </a:rPr>
                        <a:t>Temperature</a:t>
                      </a:r>
                      <a:endParaRPr lang="en-US" sz="1600" dirty="0">
                        <a:latin typeface="Calibri" charset="0"/>
                        <a:ea typeface="Calibri" charset="0"/>
                        <a:cs typeface="Calibri" charset="0"/>
                      </a:endParaRPr>
                    </a:p>
                  </a:txBody>
                  <a:tcPr marL="164592" marR="164592" marT="0" marB="0" anchor="ctr">
                    <a:lnL w="12700" cap="flat" cmpd="sng" algn="ctr">
                      <a:solidFill>
                        <a:srgbClr val="22303D"/>
                      </a:solidFill>
                      <a:prstDash val="solid"/>
                      <a:round/>
                      <a:headEnd type="none" w="med" len="med"/>
                      <a:tailEnd type="none" w="med" len="med"/>
                    </a:lnL>
                    <a:lnR w="12700" cap="flat" cmpd="sng" algn="ctr">
                      <a:solidFill>
                        <a:srgbClr val="22303D"/>
                      </a:solidFill>
                      <a:prstDash val="solid"/>
                      <a:round/>
                      <a:headEnd type="none" w="med" len="med"/>
                      <a:tailEnd type="none" w="med" len="med"/>
                    </a:lnR>
                    <a:lnT w="12700" cap="flat" cmpd="sng" algn="ctr">
                      <a:solidFill>
                        <a:srgbClr val="22303D"/>
                      </a:solidFill>
                      <a:prstDash val="solid"/>
                      <a:round/>
                      <a:headEnd type="none" w="med" len="med"/>
                      <a:tailEnd type="none" w="med" len="med"/>
                    </a:lnT>
                    <a:lnB w="12700" cap="flat" cmpd="sng" algn="ctr">
                      <a:solidFill>
                        <a:srgbClr val="22303D"/>
                      </a:solidFill>
                      <a:prstDash val="solid"/>
                      <a:round/>
                      <a:headEnd type="none" w="med" len="med"/>
                      <a:tailEnd type="none" w="med" len="med"/>
                    </a:lnB>
                    <a:solidFill>
                      <a:srgbClr val="121B24"/>
                    </a:solidFill>
                  </a:tcPr>
                </a:tc>
                <a:tc>
                  <a:txBody>
                    <a:bodyPr/>
                    <a:lstStyle/>
                    <a:p>
                      <a:pPr indent="0" marL="0">
                        <a:buNone/>
                      </a:pPr>
                      <a:r>
                        <a:rPr lang="en-US" sz="1600" dirty="0">
                          <a:solidFill>
                            <a:srgbClr val="E8EEF2"/>
                          </a:solidFill>
                          <a:latin typeface="Calibri" pitchFamily="34" charset="0"/>
                          <a:ea typeface="Calibri" pitchFamily="34" charset="-122"/>
                          <a:cs typeface="Calibri" pitchFamily="34" charset="-120"/>
                        </a:rPr>
                        <a:t>Exhaust fan</a:t>
                      </a:r>
                      <a:endParaRPr lang="en-US" sz="1600" dirty="0">
                        <a:latin typeface="Calibri" charset="0"/>
                        <a:ea typeface="Calibri" charset="0"/>
                        <a:cs typeface="Calibri" charset="0"/>
                      </a:endParaRPr>
                    </a:p>
                  </a:txBody>
                  <a:tcPr marL="164592" marR="164592" marT="0" marB="0" anchor="ctr">
                    <a:lnL w="12700" cap="flat" cmpd="sng" algn="ctr">
                      <a:solidFill>
                        <a:srgbClr val="22303D"/>
                      </a:solidFill>
                      <a:prstDash val="solid"/>
                      <a:round/>
                      <a:headEnd type="none" w="med" len="med"/>
                      <a:tailEnd type="none" w="med" len="med"/>
                    </a:lnL>
                    <a:lnR w="12700" cap="flat" cmpd="sng" algn="ctr">
                      <a:solidFill>
                        <a:srgbClr val="22303D"/>
                      </a:solidFill>
                      <a:prstDash val="solid"/>
                      <a:round/>
                      <a:headEnd type="none" w="med" len="med"/>
                      <a:tailEnd type="none" w="med" len="med"/>
                    </a:lnR>
                    <a:lnT w="12700" cap="flat" cmpd="sng" algn="ctr">
                      <a:solidFill>
                        <a:srgbClr val="22303D"/>
                      </a:solidFill>
                      <a:prstDash val="solid"/>
                      <a:round/>
                      <a:headEnd type="none" w="med" len="med"/>
                      <a:tailEnd type="none" w="med" len="med"/>
                    </a:lnT>
                    <a:lnB w="12700" cap="flat" cmpd="sng" algn="ctr">
                      <a:solidFill>
                        <a:srgbClr val="22303D"/>
                      </a:solidFill>
                      <a:prstDash val="solid"/>
                      <a:round/>
                      <a:headEnd type="none" w="med" len="med"/>
                      <a:tailEnd type="none" w="med" len="med"/>
                    </a:lnB>
                    <a:solidFill>
                      <a:srgbClr val="121B24"/>
                    </a:solidFill>
                  </a:tcPr>
                </a:tc>
                <a:tc>
                  <a:txBody>
                    <a:bodyPr/>
                    <a:lstStyle/>
                    <a:p>
                      <a:pPr algn="r" indent="0" marL="0">
                        <a:buNone/>
                      </a:pPr>
                      <a:r>
                        <a:rPr lang="en-US" sz="1600" b="1" dirty="0">
                          <a:solidFill>
                            <a:srgbClr val="5EEAD4"/>
                          </a:solidFill>
                          <a:latin typeface="Calibri" pitchFamily="34" charset="0"/>
                          <a:ea typeface="Calibri" pitchFamily="34" charset="-122"/>
                          <a:cs typeface="Calibri" pitchFamily="34" charset="-120"/>
                        </a:rPr>
                        <a:t>95%</a:t>
                      </a:r>
                      <a:endParaRPr lang="en-US" sz="1600" dirty="0">
                        <a:latin typeface="Calibri" charset="0"/>
                        <a:ea typeface="Calibri" charset="0"/>
                        <a:cs typeface="Calibri" charset="0"/>
                      </a:endParaRPr>
                    </a:p>
                  </a:txBody>
                  <a:tcPr marL="164592" marR="164592" marT="0" marB="0" anchor="ctr">
                    <a:lnL w="12700" cap="flat" cmpd="sng" algn="ctr">
                      <a:solidFill>
                        <a:srgbClr val="22303D"/>
                      </a:solidFill>
                      <a:prstDash val="solid"/>
                      <a:round/>
                      <a:headEnd type="none" w="med" len="med"/>
                      <a:tailEnd type="none" w="med" len="med"/>
                    </a:lnL>
                    <a:lnR w="12700" cap="flat" cmpd="sng" algn="ctr">
                      <a:solidFill>
                        <a:srgbClr val="22303D"/>
                      </a:solidFill>
                      <a:prstDash val="solid"/>
                      <a:round/>
                      <a:headEnd type="none" w="med" len="med"/>
                      <a:tailEnd type="none" w="med" len="med"/>
                    </a:lnR>
                    <a:lnT w="12700" cap="flat" cmpd="sng" algn="ctr">
                      <a:solidFill>
                        <a:srgbClr val="22303D"/>
                      </a:solidFill>
                      <a:prstDash val="solid"/>
                      <a:round/>
                      <a:headEnd type="none" w="med" len="med"/>
                      <a:tailEnd type="none" w="med" len="med"/>
                    </a:lnT>
                    <a:lnB w="12700" cap="flat" cmpd="sng" algn="ctr">
                      <a:solidFill>
                        <a:srgbClr val="22303D"/>
                      </a:solidFill>
                      <a:prstDash val="solid"/>
                      <a:round/>
                      <a:headEnd type="none" w="med" len="med"/>
                      <a:tailEnd type="none" w="med" len="med"/>
                    </a:lnB>
                    <a:solidFill>
                      <a:srgbClr val="121B24"/>
                    </a:solidFill>
                  </a:tcPr>
                </a:tc>
              </a:tr>
              <a:tr h="457200">
                <a:tc>
                  <a:txBody>
                    <a:bodyPr/>
                    <a:lstStyle/>
                    <a:p>
                      <a:pPr indent="0" marL="0">
                        <a:buNone/>
                      </a:pPr>
                      <a:r>
                        <a:rPr lang="en-US" sz="1600" dirty="0">
                          <a:solidFill>
                            <a:srgbClr val="E8EEF2"/>
                          </a:solidFill>
                          <a:latin typeface="Calibri" pitchFamily="34" charset="0"/>
                          <a:ea typeface="Calibri" pitchFamily="34" charset="-122"/>
                          <a:cs typeface="Calibri" pitchFamily="34" charset="-120"/>
                        </a:rPr>
                        <a:t>Y</a:t>
                      </a:r>
                      <a:endParaRPr lang="en-US" sz="1600" dirty="0">
                        <a:latin typeface="Calibri" charset="0"/>
                        <a:ea typeface="Calibri" charset="0"/>
                        <a:cs typeface="Calibri" charset="0"/>
                      </a:endParaRPr>
                    </a:p>
                  </a:txBody>
                  <a:tcPr marL="164592" marR="164592" marT="0" marB="0" anchor="ctr">
                    <a:lnL w="12700" cap="flat" cmpd="sng" algn="ctr">
                      <a:solidFill>
                        <a:srgbClr val="22303D"/>
                      </a:solidFill>
                      <a:prstDash val="solid"/>
                      <a:round/>
                      <a:headEnd type="none" w="med" len="med"/>
                      <a:tailEnd type="none" w="med" len="med"/>
                    </a:lnL>
                    <a:lnR w="12700" cap="flat" cmpd="sng" algn="ctr">
                      <a:solidFill>
                        <a:srgbClr val="22303D"/>
                      </a:solidFill>
                      <a:prstDash val="solid"/>
                      <a:round/>
                      <a:headEnd type="none" w="med" len="med"/>
                      <a:tailEnd type="none" w="med" len="med"/>
                    </a:lnR>
                    <a:lnT w="12700" cap="flat" cmpd="sng" algn="ctr">
                      <a:solidFill>
                        <a:srgbClr val="22303D"/>
                      </a:solidFill>
                      <a:prstDash val="solid"/>
                      <a:round/>
                      <a:headEnd type="none" w="med" len="med"/>
                      <a:tailEnd type="none" w="med" len="med"/>
                    </a:lnT>
                    <a:lnB w="12700" cap="flat" cmpd="sng" algn="ctr">
                      <a:solidFill>
                        <a:srgbClr val="22303D"/>
                      </a:solidFill>
                      <a:prstDash val="solid"/>
                      <a:round/>
                      <a:headEnd type="none" w="med" len="med"/>
                      <a:tailEnd type="none" w="med" len="med"/>
                    </a:lnB>
                    <a:solidFill>
                      <a:srgbClr val="121B24"/>
                    </a:solidFill>
                  </a:tcPr>
                </a:tc>
                <a:tc>
                  <a:txBody>
                    <a:bodyPr/>
                    <a:lstStyle/>
                    <a:p>
                      <a:pPr indent="0" marL="0">
                        <a:buNone/>
                      </a:pPr>
                      <a:r>
                        <a:rPr lang="en-US" sz="1600" dirty="0">
                          <a:solidFill>
                            <a:srgbClr val="E8EEF2"/>
                          </a:solidFill>
                          <a:latin typeface="Calibri" pitchFamily="34" charset="0"/>
                          <a:ea typeface="Calibri" pitchFamily="34" charset="-122"/>
                          <a:cs typeface="Calibri" pitchFamily="34" charset="-120"/>
                        </a:rPr>
                        <a:t>Gas (MQ-2)</a:t>
                      </a:r>
                      <a:endParaRPr lang="en-US" sz="1600" dirty="0">
                        <a:latin typeface="Calibri" charset="0"/>
                        <a:ea typeface="Calibri" charset="0"/>
                        <a:cs typeface="Calibri" charset="0"/>
                      </a:endParaRPr>
                    </a:p>
                  </a:txBody>
                  <a:tcPr marL="164592" marR="164592" marT="0" marB="0" anchor="ctr">
                    <a:lnL w="12700" cap="flat" cmpd="sng" algn="ctr">
                      <a:solidFill>
                        <a:srgbClr val="22303D"/>
                      </a:solidFill>
                      <a:prstDash val="solid"/>
                      <a:round/>
                      <a:headEnd type="none" w="med" len="med"/>
                      <a:tailEnd type="none" w="med" len="med"/>
                    </a:lnL>
                    <a:lnR w="12700" cap="flat" cmpd="sng" algn="ctr">
                      <a:solidFill>
                        <a:srgbClr val="22303D"/>
                      </a:solidFill>
                      <a:prstDash val="solid"/>
                      <a:round/>
                      <a:headEnd type="none" w="med" len="med"/>
                      <a:tailEnd type="none" w="med" len="med"/>
                    </a:lnR>
                    <a:lnT w="12700" cap="flat" cmpd="sng" algn="ctr">
                      <a:solidFill>
                        <a:srgbClr val="22303D"/>
                      </a:solidFill>
                      <a:prstDash val="solid"/>
                      <a:round/>
                      <a:headEnd type="none" w="med" len="med"/>
                      <a:tailEnd type="none" w="med" len="med"/>
                    </a:lnT>
                    <a:lnB w="12700" cap="flat" cmpd="sng" algn="ctr">
                      <a:solidFill>
                        <a:srgbClr val="22303D"/>
                      </a:solidFill>
                      <a:prstDash val="solid"/>
                      <a:round/>
                      <a:headEnd type="none" w="med" len="med"/>
                      <a:tailEnd type="none" w="med" len="med"/>
                    </a:lnB>
                    <a:solidFill>
                      <a:srgbClr val="121B24"/>
                    </a:solidFill>
                  </a:tcPr>
                </a:tc>
                <a:tc>
                  <a:txBody>
                    <a:bodyPr/>
                    <a:lstStyle/>
                    <a:p>
                      <a:pPr indent="0" marL="0">
                        <a:buNone/>
                      </a:pPr>
                      <a:r>
                        <a:rPr lang="en-US" sz="1600" dirty="0">
                          <a:solidFill>
                            <a:srgbClr val="E8EEF2"/>
                          </a:solidFill>
                          <a:latin typeface="Calibri" pitchFamily="34" charset="0"/>
                          <a:ea typeface="Calibri" pitchFamily="34" charset="-122"/>
                          <a:cs typeface="Calibri" pitchFamily="34" charset="-120"/>
                        </a:rPr>
                        <a:t>Ozone generator 2</a:t>
                      </a:r>
                      <a:endParaRPr lang="en-US" sz="1600" dirty="0">
                        <a:latin typeface="Calibri" charset="0"/>
                        <a:ea typeface="Calibri" charset="0"/>
                        <a:cs typeface="Calibri" charset="0"/>
                      </a:endParaRPr>
                    </a:p>
                  </a:txBody>
                  <a:tcPr marL="164592" marR="164592" marT="0" marB="0" anchor="ctr">
                    <a:lnL w="12700" cap="flat" cmpd="sng" algn="ctr">
                      <a:solidFill>
                        <a:srgbClr val="22303D"/>
                      </a:solidFill>
                      <a:prstDash val="solid"/>
                      <a:round/>
                      <a:headEnd type="none" w="med" len="med"/>
                      <a:tailEnd type="none" w="med" len="med"/>
                    </a:lnL>
                    <a:lnR w="12700" cap="flat" cmpd="sng" algn="ctr">
                      <a:solidFill>
                        <a:srgbClr val="22303D"/>
                      </a:solidFill>
                      <a:prstDash val="solid"/>
                      <a:round/>
                      <a:headEnd type="none" w="med" len="med"/>
                      <a:tailEnd type="none" w="med" len="med"/>
                    </a:lnR>
                    <a:lnT w="12700" cap="flat" cmpd="sng" algn="ctr">
                      <a:solidFill>
                        <a:srgbClr val="22303D"/>
                      </a:solidFill>
                      <a:prstDash val="solid"/>
                      <a:round/>
                      <a:headEnd type="none" w="med" len="med"/>
                      <a:tailEnd type="none" w="med" len="med"/>
                    </a:lnT>
                    <a:lnB w="12700" cap="flat" cmpd="sng" algn="ctr">
                      <a:solidFill>
                        <a:srgbClr val="22303D"/>
                      </a:solidFill>
                      <a:prstDash val="solid"/>
                      <a:round/>
                      <a:headEnd type="none" w="med" len="med"/>
                      <a:tailEnd type="none" w="med" len="med"/>
                    </a:lnB>
                    <a:solidFill>
                      <a:srgbClr val="121B24"/>
                    </a:solidFill>
                  </a:tcPr>
                </a:tc>
                <a:tc>
                  <a:txBody>
                    <a:bodyPr/>
                    <a:lstStyle/>
                    <a:p>
                      <a:pPr algn="r" indent="0" marL="0">
                        <a:buNone/>
                      </a:pPr>
                      <a:r>
                        <a:rPr lang="en-US" sz="1600" b="1" dirty="0">
                          <a:solidFill>
                            <a:srgbClr val="5EEAD4"/>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164592" marR="164592" marT="0" marB="0" anchor="ctr">
                    <a:lnL w="12700" cap="flat" cmpd="sng" algn="ctr">
                      <a:solidFill>
                        <a:srgbClr val="22303D"/>
                      </a:solidFill>
                      <a:prstDash val="solid"/>
                      <a:round/>
                      <a:headEnd type="none" w="med" len="med"/>
                      <a:tailEnd type="none" w="med" len="med"/>
                    </a:lnL>
                    <a:lnR w="12700" cap="flat" cmpd="sng" algn="ctr">
                      <a:solidFill>
                        <a:srgbClr val="22303D"/>
                      </a:solidFill>
                      <a:prstDash val="solid"/>
                      <a:round/>
                      <a:headEnd type="none" w="med" len="med"/>
                      <a:tailEnd type="none" w="med" len="med"/>
                    </a:lnR>
                    <a:lnT w="12700" cap="flat" cmpd="sng" algn="ctr">
                      <a:solidFill>
                        <a:srgbClr val="22303D"/>
                      </a:solidFill>
                      <a:prstDash val="solid"/>
                      <a:round/>
                      <a:headEnd type="none" w="med" len="med"/>
                      <a:tailEnd type="none" w="med" len="med"/>
                    </a:lnT>
                    <a:lnB w="12700" cap="flat" cmpd="sng" algn="ctr">
                      <a:solidFill>
                        <a:srgbClr val="22303D"/>
                      </a:solidFill>
                      <a:prstDash val="solid"/>
                      <a:round/>
                      <a:headEnd type="none" w="med" len="med"/>
                      <a:tailEnd type="none" w="med" len="med"/>
                    </a:lnB>
                    <a:solidFill>
                      <a:srgbClr val="121B24"/>
                    </a:solidFill>
                  </a:tcPr>
                </a:tc>
              </a:tr>
              <a:tr h="457200">
                <a:tc>
                  <a:txBody>
                    <a:bodyPr/>
                    <a:lstStyle/>
                    <a:p>
                      <a:pPr indent="0" marL="0">
                        <a:buNone/>
                      </a:pPr>
                      <a:r>
                        <a:rPr lang="en-US" sz="1600" dirty="0">
                          <a:solidFill>
                            <a:srgbClr val="E8EEF2"/>
                          </a:solidFill>
                          <a:latin typeface="Calibri" pitchFamily="34" charset="0"/>
                          <a:ea typeface="Calibri" pitchFamily="34" charset="-122"/>
                          <a:cs typeface="Calibri" pitchFamily="34" charset="-120"/>
                        </a:rPr>
                        <a:t>Z</a:t>
                      </a:r>
                      <a:endParaRPr lang="en-US" sz="1600" dirty="0">
                        <a:latin typeface="Calibri" charset="0"/>
                        <a:ea typeface="Calibri" charset="0"/>
                        <a:cs typeface="Calibri" charset="0"/>
                      </a:endParaRPr>
                    </a:p>
                  </a:txBody>
                  <a:tcPr marL="164592" marR="164592" marT="0" marB="0" anchor="ctr">
                    <a:lnL w="12700" cap="flat" cmpd="sng" algn="ctr">
                      <a:solidFill>
                        <a:srgbClr val="22303D"/>
                      </a:solidFill>
                      <a:prstDash val="solid"/>
                      <a:round/>
                      <a:headEnd type="none" w="med" len="med"/>
                      <a:tailEnd type="none" w="med" len="med"/>
                    </a:lnL>
                    <a:lnR w="12700" cap="flat" cmpd="sng" algn="ctr">
                      <a:solidFill>
                        <a:srgbClr val="22303D"/>
                      </a:solidFill>
                      <a:prstDash val="solid"/>
                      <a:round/>
                      <a:headEnd type="none" w="med" len="med"/>
                      <a:tailEnd type="none" w="med" len="med"/>
                    </a:lnR>
                    <a:lnT w="12700" cap="flat" cmpd="sng" algn="ctr">
                      <a:solidFill>
                        <a:srgbClr val="22303D"/>
                      </a:solidFill>
                      <a:prstDash val="solid"/>
                      <a:round/>
                      <a:headEnd type="none" w="med" len="med"/>
                      <a:tailEnd type="none" w="med" len="med"/>
                    </a:lnT>
                    <a:lnB w="12700" cap="flat" cmpd="sng" algn="ctr">
                      <a:solidFill>
                        <a:srgbClr val="22303D"/>
                      </a:solidFill>
                      <a:prstDash val="solid"/>
                      <a:round/>
                      <a:headEnd type="none" w="med" len="med"/>
                      <a:tailEnd type="none" w="med" len="med"/>
                    </a:lnB>
                    <a:solidFill>
                      <a:srgbClr val="121B24"/>
                    </a:solidFill>
                  </a:tcPr>
                </a:tc>
                <a:tc>
                  <a:txBody>
                    <a:bodyPr/>
                    <a:lstStyle/>
                    <a:p>
                      <a:pPr indent="0" marL="0">
                        <a:buNone/>
                      </a:pPr>
                      <a:r>
                        <a:rPr lang="en-US" sz="1600" dirty="0">
                          <a:solidFill>
                            <a:srgbClr val="E8EEF2"/>
                          </a:solidFill>
                          <a:latin typeface="Calibri" pitchFamily="34" charset="0"/>
                          <a:ea typeface="Calibri" pitchFamily="34" charset="-122"/>
                          <a:cs typeface="Calibri" pitchFamily="34" charset="-120"/>
                        </a:rPr>
                        <a:t>CO₂ (MQ-135)</a:t>
                      </a:r>
                      <a:endParaRPr lang="en-US" sz="1600" dirty="0">
                        <a:latin typeface="Calibri" charset="0"/>
                        <a:ea typeface="Calibri" charset="0"/>
                        <a:cs typeface="Calibri" charset="0"/>
                      </a:endParaRPr>
                    </a:p>
                  </a:txBody>
                  <a:tcPr marL="164592" marR="164592" marT="0" marB="0" anchor="ctr">
                    <a:lnL w="12700" cap="flat" cmpd="sng" algn="ctr">
                      <a:solidFill>
                        <a:srgbClr val="22303D"/>
                      </a:solidFill>
                      <a:prstDash val="solid"/>
                      <a:round/>
                      <a:headEnd type="none" w="med" len="med"/>
                      <a:tailEnd type="none" w="med" len="med"/>
                    </a:lnL>
                    <a:lnR w="12700" cap="flat" cmpd="sng" algn="ctr">
                      <a:solidFill>
                        <a:srgbClr val="22303D"/>
                      </a:solidFill>
                      <a:prstDash val="solid"/>
                      <a:round/>
                      <a:headEnd type="none" w="med" len="med"/>
                      <a:tailEnd type="none" w="med" len="med"/>
                    </a:lnR>
                    <a:lnT w="12700" cap="flat" cmpd="sng" algn="ctr">
                      <a:solidFill>
                        <a:srgbClr val="22303D"/>
                      </a:solidFill>
                      <a:prstDash val="solid"/>
                      <a:round/>
                      <a:headEnd type="none" w="med" len="med"/>
                      <a:tailEnd type="none" w="med" len="med"/>
                    </a:lnT>
                    <a:lnB w="12700" cap="flat" cmpd="sng" algn="ctr">
                      <a:solidFill>
                        <a:srgbClr val="22303D"/>
                      </a:solidFill>
                      <a:prstDash val="solid"/>
                      <a:round/>
                      <a:headEnd type="none" w="med" len="med"/>
                      <a:tailEnd type="none" w="med" len="med"/>
                    </a:lnB>
                    <a:solidFill>
                      <a:srgbClr val="121B24"/>
                    </a:solidFill>
                  </a:tcPr>
                </a:tc>
                <a:tc>
                  <a:txBody>
                    <a:bodyPr/>
                    <a:lstStyle/>
                    <a:p>
                      <a:pPr indent="0" marL="0">
                        <a:buNone/>
                      </a:pPr>
                      <a:r>
                        <a:rPr lang="en-US" sz="1600" dirty="0">
                          <a:solidFill>
                            <a:srgbClr val="E8EEF2"/>
                          </a:solidFill>
                          <a:latin typeface="Calibri" pitchFamily="34" charset="0"/>
                          <a:ea typeface="Calibri" pitchFamily="34" charset="-122"/>
                          <a:cs typeface="Calibri" pitchFamily="34" charset="-120"/>
                        </a:rPr>
                        <a:t>Ozone generator 1</a:t>
                      </a:r>
                      <a:endParaRPr lang="en-US" sz="1600" dirty="0">
                        <a:latin typeface="Calibri" charset="0"/>
                        <a:ea typeface="Calibri" charset="0"/>
                        <a:cs typeface="Calibri" charset="0"/>
                      </a:endParaRPr>
                    </a:p>
                  </a:txBody>
                  <a:tcPr marL="164592" marR="164592" marT="0" marB="0" anchor="ctr">
                    <a:lnL w="12700" cap="flat" cmpd="sng" algn="ctr">
                      <a:solidFill>
                        <a:srgbClr val="22303D"/>
                      </a:solidFill>
                      <a:prstDash val="solid"/>
                      <a:round/>
                      <a:headEnd type="none" w="med" len="med"/>
                      <a:tailEnd type="none" w="med" len="med"/>
                    </a:lnL>
                    <a:lnR w="12700" cap="flat" cmpd="sng" algn="ctr">
                      <a:solidFill>
                        <a:srgbClr val="22303D"/>
                      </a:solidFill>
                      <a:prstDash val="solid"/>
                      <a:round/>
                      <a:headEnd type="none" w="med" len="med"/>
                      <a:tailEnd type="none" w="med" len="med"/>
                    </a:lnR>
                    <a:lnT w="12700" cap="flat" cmpd="sng" algn="ctr">
                      <a:solidFill>
                        <a:srgbClr val="22303D"/>
                      </a:solidFill>
                      <a:prstDash val="solid"/>
                      <a:round/>
                      <a:headEnd type="none" w="med" len="med"/>
                      <a:tailEnd type="none" w="med" len="med"/>
                    </a:lnT>
                    <a:lnB w="12700" cap="flat" cmpd="sng" algn="ctr">
                      <a:solidFill>
                        <a:srgbClr val="22303D"/>
                      </a:solidFill>
                      <a:prstDash val="solid"/>
                      <a:round/>
                      <a:headEnd type="none" w="med" len="med"/>
                      <a:tailEnd type="none" w="med" len="med"/>
                    </a:lnB>
                    <a:solidFill>
                      <a:srgbClr val="121B24"/>
                    </a:solidFill>
                  </a:tcPr>
                </a:tc>
                <a:tc>
                  <a:txBody>
                    <a:bodyPr/>
                    <a:lstStyle/>
                    <a:p>
                      <a:pPr algn="r" indent="0" marL="0">
                        <a:buNone/>
                      </a:pPr>
                      <a:r>
                        <a:rPr lang="en-US" sz="1600" b="1" dirty="0">
                          <a:solidFill>
                            <a:srgbClr val="5EEAD4"/>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164592" marR="164592" marT="0" marB="0" anchor="ctr">
                    <a:lnL w="12700" cap="flat" cmpd="sng" algn="ctr">
                      <a:solidFill>
                        <a:srgbClr val="22303D"/>
                      </a:solidFill>
                      <a:prstDash val="solid"/>
                      <a:round/>
                      <a:headEnd type="none" w="med" len="med"/>
                      <a:tailEnd type="none" w="med" len="med"/>
                    </a:lnL>
                    <a:lnR w="12700" cap="flat" cmpd="sng" algn="ctr">
                      <a:solidFill>
                        <a:srgbClr val="22303D"/>
                      </a:solidFill>
                      <a:prstDash val="solid"/>
                      <a:round/>
                      <a:headEnd type="none" w="med" len="med"/>
                      <a:tailEnd type="none" w="med" len="med"/>
                    </a:lnR>
                    <a:lnT w="12700" cap="flat" cmpd="sng" algn="ctr">
                      <a:solidFill>
                        <a:srgbClr val="22303D"/>
                      </a:solidFill>
                      <a:prstDash val="solid"/>
                      <a:round/>
                      <a:headEnd type="none" w="med" len="med"/>
                      <a:tailEnd type="none" w="med" len="med"/>
                    </a:lnT>
                    <a:lnB w="12700" cap="flat" cmpd="sng" algn="ctr">
                      <a:solidFill>
                        <a:srgbClr val="22303D"/>
                      </a:solidFill>
                      <a:prstDash val="solid"/>
                      <a:round/>
                      <a:headEnd type="none" w="med" len="med"/>
                      <a:tailEnd type="none" w="med" len="med"/>
                    </a:lnB>
                    <a:solidFill>
                      <a:srgbClr val="121B24"/>
                    </a:solidFill>
                  </a:tcPr>
                </a:tc>
              </a:tr>
              <a:tr h="457200">
                <a:tc>
                  <a:txBody>
                    <a:bodyPr/>
                    <a:lstStyle/>
                    <a:p>
                      <a:pPr indent="0" marL="0">
                        <a:buNone/>
                      </a:pPr>
                      <a:r>
                        <a:rPr lang="en-US" sz="1600" dirty="0">
                          <a:solidFill>
                            <a:srgbClr val="E8EEF2"/>
                          </a:solidFill>
                          <a:latin typeface="Calibri" pitchFamily="34" charset="0"/>
                          <a:ea typeface="Calibri" pitchFamily="34" charset="-122"/>
                          <a:cs typeface="Calibri" pitchFamily="34" charset="-120"/>
                        </a:rPr>
                        <a:t>W</a:t>
                      </a:r>
                      <a:endParaRPr lang="en-US" sz="1600" dirty="0">
                        <a:latin typeface="Calibri" charset="0"/>
                        <a:ea typeface="Calibri" charset="0"/>
                        <a:cs typeface="Calibri" charset="0"/>
                      </a:endParaRPr>
                    </a:p>
                  </a:txBody>
                  <a:tcPr marL="164592" marR="164592" marT="0" marB="0" anchor="ctr">
                    <a:lnL w="12700" cap="flat" cmpd="sng" algn="ctr">
                      <a:solidFill>
                        <a:srgbClr val="22303D"/>
                      </a:solidFill>
                      <a:prstDash val="solid"/>
                      <a:round/>
                      <a:headEnd type="none" w="med" len="med"/>
                      <a:tailEnd type="none" w="med" len="med"/>
                    </a:lnL>
                    <a:lnR w="12700" cap="flat" cmpd="sng" algn="ctr">
                      <a:solidFill>
                        <a:srgbClr val="22303D"/>
                      </a:solidFill>
                      <a:prstDash val="solid"/>
                      <a:round/>
                      <a:headEnd type="none" w="med" len="med"/>
                      <a:tailEnd type="none" w="med" len="med"/>
                    </a:lnR>
                    <a:lnT w="12700" cap="flat" cmpd="sng" algn="ctr">
                      <a:solidFill>
                        <a:srgbClr val="22303D"/>
                      </a:solidFill>
                      <a:prstDash val="solid"/>
                      <a:round/>
                      <a:headEnd type="none" w="med" len="med"/>
                      <a:tailEnd type="none" w="med" len="med"/>
                    </a:lnT>
                    <a:lnB w="12700" cap="flat" cmpd="sng" algn="ctr">
                      <a:solidFill>
                        <a:srgbClr val="22303D"/>
                      </a:solidFill>
                      <a:prstDash val="solid"/>
                      <a:round/>
                      <a:headEnd type="none" w="med" len="med"/>
                      <a:tailEnd type="none" w="med" len="med"/>
                    </a:lnB>
                    <a:solidFill>
                      <a:srgbClr val="121B24"/>
                    </a:solidFill>
                  </a:tcPr>
                </a:tc>
                <a:tc>
                  <a:txBody>
                    <a:bodyPr/>
                    <a:lstStyle/>
                    <a:p>
                      <a:pPr indent="0" marL="0">
                        <a:buNone/>
                      </a:pPr>
                      <a:r>
                        <a:rPr lang="en-US" sz="1600" dirty="0">
                          <a:solidFill>
                            <a:srgbClr val="E8EEF2"/>
                          </a:solidFill>
                          <a:latin typeface="Calibri" pitchFamily="34" charset="0"/>
                          <a:ea typeface="Calibri" pitchFamily="34" charset="-122"/>
                          <a:cs typeface="Calibri" pitchFamily="34" charset="-120"/>
                        </a:rPr>
                        <a:t>Dust (PMS7003)</a:t>
                      </a:r>
                      <a:endParaRPr lang="en-US" sz="1600" dirty="0">
                        <a:latin typeface="Calibri" charset="0"/>
                        <a:ea typeface="Calibri" charset="0"/>
                        <a:cs typeface="Calibri" charset="0"/>
                      </a:endParaRPr>
                    </a:p>
                  </a:txBody>
                  <a:tcPr marL="164592" marR="164592" marT="0" marB="0" anchor="ctr">
                    <a:lnL w="12700" cap="flat" cmpd="sng" algn="ctr">
                      <a:solidFill>
                        <a:srgbClr val="22303D"/>
                      </a:solidFill>
                      <a:prstDash val="solid"/>
                      <a:round/>
                      <a:headEnd type="none" w="med" len="med"/>
                      <a:tailEnd type="none" w="med" len="med"/>
                    </a:lnL>
                    <a:lnR w="12700" cap="flat" cmpd="sng" algn="ctr">
                      <a:solidFill>
                        <a:srgbClr val="22303D"/>
                      </a:solidFill>
                      <a:prstDash val="solid"/>
                      <a:round/>
                      <a:headEnd type="none" w="med" len="med"/>
                      <a:tailEnd type="none" w="med" len="med"/>
                    </a:lnR>
                    <a:lnT w="12700" cap="flat" cmpd="sng" algn="ctr">
                      <a:solidFill>
                        <a:srgbClr val="22303D"/>
                      </a:solidFill>
                      <a:prstDash val="solid"/>
                      <a:round/>
                      <a:headEnd type="none" w="med" len="med"/>
                      <a:tailEnd type="none" w="med" len="med"/>
                    </a:lnT>
                    <a:lnB w="12700" cap="flat" cmpd="sng" algn="ctr">
                      <a:solidFill>
                        <a:srgbClr val="22303D"/>
                      </a:solidFill>
                      <a:prstDash val="solid"/>
                      <a:round/>
                      <a:headEnd type="none" w="med" len="med"/>
                      <a:tailEnd type="none" w="med" len="med"/>
                    </a:lnB>
                    <a:solidFill>
                      <a:srgbClr val="121B24"/>
                    </a:solidFill>
                  </a:tcPr>
                </a:tc>
                <a:tc>
                  <a:txBody>
                    <a:bodyPr/>
                    <a:lstStyle/>
                    <a:p>
                      <a:pPr indent="0" marL="0">
                        <a:buNone/>
                      </a:pPr>
                      <a:r>
                        <a:rPr lang="en-US" sz="1600" dirty="0">
                          <a:solidFill>
                            <a:srgbClr val="E8EEF2"/>
                          </a:solidFill>
                          <a:latin typeface="Calibri" pitchFamily="34" charset="0"/>
                          <a:ea typeface="Calibri" pitchFamily="34" charset="-122"/>
                          <a:cs typeface="Calibri" pitchFamily="34" charset="-120"/>
                        </a:rPr>
                        <a:t>Ozone, interlocked; LCD alert</a:t>
                      </a:r>
                      <a:endParaRPr lang="en-US" sz="1600" dirty="0">
                        <a:latin typeface="Calibri" charset="0"/>
                        <a:ea typeface="Calibri" charset="0"/>
                        <a:cs typeface="Calibri" charset="0"/>
                      </a:endParaRPr>
                    </a:p>
                  </a:txBody>
                  <a:tcPr marL="164592" marR="164592" marT="0" marB="0" anchor="ctr">
                    <a:lnL w="12700" cap="flat" cmpd="sng" algn="ctr">
                      <a:solidFill>
                        <a:srgbClr val="22303D"/>
                      </a:solidFill>
                      <a:prstDash val="solid"/>
                      <a:round/>
                      <a:headEnd type="none" w="med" len="med"/>
                      <a:tailEnd type="none" w="med" len="med"/>
                    </a:lnL>
                    <a:lnR w="12700" cap="flat" cmpd="sng" algn="ctr">
                      <a:solidFill>
                        <a:srgbClr val="22303D"/>
                      </a:solidFill>
                      <a:prstDash val="solid"/>
                      <a:round/>
                      <a:headEnd type="none" w="med" len="med"/>
                      <a:tailEnd type="none" w="med" len="med"/>
                    </a:lnR>
                    <a:lnT w="12700" cap="flat" cmpd="sng" algn="ctr">
                      <a:solidFill>
                        <a:srgbClr val="22303D"/>
                      </a:solidFill>
                      <a:prstDash val="solid"/>
                      <a:round/>
                      <a:headEnd type="none" w="med" len="med"/>
                      <a:tailEnd type="none" w="med" len="med"/>
                    </a:lnT>
                    <a:lnB w="12700" cap="flat" cmpd="sng" algn="ctr">
                      <a:solidFill>
                        <a:srgbClr val="22303D"/>
                      </a:solidFill>
                      <a:prstDash val="solid"/>
                      <a:round/>
                      <a:headEnd type="none" w="med" len="med"/>
                      <a:tailEnd type="none" w="med" len="med"/>
                    </a:lnB>
                    <a:solidFill>
                      <a:srgbClr val="121B24"/>
                    </a:solidFill>
                  </a:tcPr>
                </a:tc>
                <a:tc>
                  <a:txBody>
                    <a:bodyPr/>
                    <a:lstStyle/>
                    <a:p>
                      <a:pPr algn="r" indent="0" marL="0">
                        <a:buNone/>
                      </a:pPr>
                      <a:r>
                        <a:rPr lang="en-US" sz="1600" b="1" dirty="0">
                          <a:solidFill>
                            <a:srgbClr val="5EEAD4"/>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164592" marR="164592" marT="0" marB="0" anchor="ctr">
                    <a:lnL w="12700" cap="flat" cmpd="sng" algn="ctr">
                      <a:solidFill>
                        <a:srgbClr val="22303D"/>
                      </a:solidFill>
                      <a:prstDash val="solid"/>
                      <a:round/>
                      <a:headEnd type="none" w="med" len="med"/>
                      <a:tailEnd type="none" w="med" len="med"/>
                    </a:lnL>
                    <a:lnR w="12700" cap="flat" cmpd="sng" algn="ctr">
                      <a:solidFill>
                        <a:srgbClr val="22303D"/>
                      </a:solidFill>
                      <a:prstDash val="solid"/>
                      <a:round/>
                      <a:headEnd type="none" w="med" len="med"/>
                      <a:tailEnd type="none" w="med" len="med"/>
                    </a:lnR>
                    <a:lnT w="12700" cap="flat" cmpd="sng" algn="ctr">
                      <a:solidFill>
                        <a:srgbClr val="22303D"/>
                      </a:solidFill>
                      <a:prstDash val="solid"/>
                      <a:round/>
                      <a:headEnd type="none" w="med" len="med"/>
                      <a:tailEnd type="none" w="med" len="med"/>
                    </a:lnT>
                    <a:lnB w="12700" cap="flat" cmpd="sng" algn="ctr">
                      <a:solidFill>
                        <a:srgbClr val="22303D"/>
                      </a:solidFill>
                      <a:prstDash val="solid"/>
                      <a:round/>
                      <a:headEnd type="none" w="med" len="med"/>
                      <a:tailEnd type="none" w="med" len="med"/>
                    </a:lnB>
                    <a:solidFill>
                      <a:srgbClr val="121B24"/>
                    </a:solidFill>
                  </a:tcPr>
                </a:tc>
              </a:tr>
            </a:tbl>
          </a:graphicData>
        </a:graphic>
      </p:graphicFrame>
      <p:sp>
        <p:nvSpPr>
          <p:cNvPr id="5" name="Shape 2"/>
          <p:cNvSpPr/>
          <p:nvPr/>
        </p:nvSpPr>
        <p:spPr>
          <a:xfrm>
            <a:off x="813816" y="5029200"/>
            <a:ext cx="2524430" cy="960120"/>
          </a:xfrm>
          <a:prstGeom prst="roundRect">
            <a:avLst>
              <a:gd name="adj" fmla="val 9524"/>
            </a:avLst>
          </a:prstGeom>
          <a:solidFill>
            <a:srgbClr val="121B24"/>
          </a:solidFill>
          <a:ln w="12700">
            <a:solidFill>
              <a:srgbClr val="22303D"/>
            </a:solidFill>
            <a:prstDash val="solid"/>
          </a:ln>
        </p:spPr>
      </p:sp>
      <p:sp>
        <p:nvSpPr>
          <p:cNvPr id="6" name="Text 3"/>
          <p:cNvSpPr txBox="1"/>
          <p:nvPr/>
        </p:nvSpPr>
        <p:spPr>
          <a:xfrm>
            <a:off x="1014984" y="5157216"/>
            <a:ext cx="2122094" cy="411480"/>
          </a:xfrm>
          <a:prstGeom prst="rect">
            <a:avLst/>
          </a:prstGeom>
          <a:noFill/>
          <a:ln/>
        </p:spPr>
        <p:txBody>
          <a:bodyPr wrap="square" lIns="0" tIns="0" rIns="0" bIns="0" rtlCol="0" anchor="t"/>
          <a:lstStyle/>
          <a:p>
            <a:pPr indent="0" marL="0">
              <a:buNone/>
            </a:pPr>
            <a:r>
              <a:rPr lang="en-US" sz="2200" b="1" dirty="0">
                <a:solidFill>
                  <a:srgbClr val="E8EEF2"/>
                </a:solidFill>
                <a:latin typeface="Calibri" pitchFamily="34" charset="0"/>
                <a:ea typeface="Calibri" pitchFamily="34" charset="-122"/>
                <a:cs typeface="Calibri" pitchFamily="34" charset="-120"/>
              </a:rPr>
              <a:t>100</a:t>
            </a:r>
            <a:endParaRPr lang="en-US" sz="2200" dirty="0"/>
          </a:p>
        </p:txBody>
      </p:sp>
      <p:sp>
        <p:nvSpPr>
          <p:cNvPr id="7" name="Text 4"/>
          <p:cNvSpPr txBox="1"/>
          <p:nvPr/>
        </p:nvSpPr>
        <p:spPr>
          <a:xfrm>
            <a:off x="1014984" y="5577840"/>
            <a:ext cx="2122094" cy="365760"/>
          </a:xfrm>
          <a:prstGeom prst="rect">
            <a:avLst/>
          </a:prstGeom>
          <a:noFill/>
          <a:ln/>
        </p:spPr>
        <p:txBody>
          <a:bodyPr wrap="square" lIns="0" tIns="0" rIns="0" bIns="0" rtlCol="0" anchor="t"/>
          <a:lstStyle/>
          <a:p>
            <a:pPr indent="0" marL="0">
              <a:buNone/>
            </a:pPr>
            <a:r>
              <a:rPr lang="en-US" sz="1200" dirty="0">
                <a:solidFill>
                  <a:srgbClr val="9AABBA"/>
                </a:solidFill>
                <a:latin typeface="Calibri" pitchFamily="34" charset="0"/>
                <a:ea typeface="Calibri" pitchFamily="34" charset="-122"/>
                <a:cs typeface="Calibri" pitchFamily="34" charset="-120"/>
              </a:rPr>
              <a:t>trees per head, Random Forest</a:t>
            </a:r>
            <a:endParaRPr lang="en-US" sz="1200" dirty="0"/>
          </a:p>
        </p:txBody>
      </p:sp>
      <p:sp>
        <p:nvSpPr>
          <p:cNvPr id="8" name="Shape 5"/>
          <p:cNvSpPr/>
          <p:nvPr/>
        </p:nvSpPr>
        <p:spPr>
          <a:xfrm>
            <a:off x="3493694" y="5029200"/>
            <a:ext cx="2524430" cy="960120"/>
          </a:xfrm>
          <a:prstGeom prst="roundRect">
            <a:avLst>
              <a:gd name="adj" fmla="val 9524"/>
            </a:avLst>
          </a:prstGeom>
          <a:solidFill>
            <a:srgbClr val="121B24"/>
          </a:solidFill>
          <a:ln w="12700">
            <a:solidFill>
              <a:srgbClr val="22303D"/>
            </a:solidFill>
            <a:prstDash val="solid"/>
          </a:ln>
        </p:spPr>
      </p:sp>
      <p:sp>
        <p:nvSpPr>
          <p:cNvPr id="9" name="Text 6"/>
          <p:cNvSpPr txBox="1"/>
          <p:nvPr/>
        </p:nvSpPr>
        <p:spPr>
          <a:xfrm>
            <a:off x="3694862" y="5157216"/>
            <a:ext cx="2122094" cy="411480"/>
          </a:xfrm>
          <a:prstGeom prst="rect">
            <a:avLst/>
          </a:prstGeom>
          <a:noFill/>
          <a:ln/>
        </p:spPr>
        <p:txBody>
          <a:bodyPr wrap="square" lIns="0" tIns="0" rIns="0" bIns="0" rtlCol="0" anchor="t"/>
          <a:lstStyle/>
          <a:p>
            <a:pPr indent="0" marL="0">
              <a:buNone/>
            </a:pPr>
            <a:r>
              <a:rPr lang="en-US" sz="2200" b="1" dirty="0">
                <a:solidFill>
                  <a:srgbClr val="E8EEF2"/>
                </a:solidFill>
                <a:latin typeface="Calibri" pitchFamily="34" charset="0"/>
                <a:ea typeface="Calibri" pitchFamily="34" charset="-122"/>
                <a:cs typeface="Calibri" pitchFamily="34" charset="-120"/>
              </a:rPr>
              <a:t>200 rows</a:t>
            </a:r>
            <a:endParaRPr lang="en-US" sz="2200" dirty="0"/>
          </a:p>
        </p:txBody>
      </p:sp>
      <p:sp>
        <p:nvSpPr>
          <p:cNvPr id="10" name="Text 7"/>
          <p:cNvSpPr txBox="1"/>
          <p:nvPr/>
        </p:nvSpPr>
        <p:spPr>
          <a:xfrm>
            <a:off x="3694862" y="5577840"/>
            <a:ext cx="2122094" cy="365760"/>
          </a:xfrm>
          <a:prstGeom prst="rect">
            <a:avLst/>
          </a:prstGeom>
          <a:noFill/>
          <a:ln/>
        </p:spPr>
        <p:txBody>
          <a:bodyPr wrap="square" lIns="0" tIns="0" rIns="0" bIns="0" rtlCol="0" anchor="t"/>
          <a:lstStyle/>
          <a:p>
            <a:pPr indent="0" marL="0">
              <a:buNone/>
            </a:pPr>
            <a:r>
              <a:rPr lang="en-US" sz="1200" dirty="0">
                <a:solidFill>
                  <a:srgbClr val="9AABBA"/>
                </a:solidFill>
                <a:latin typeface="Calibri" pitchFamily="34" charset="0"/>
                <a:ea typeface="Calibri" pitchFamily="34" charset="-122"/>
                <a:cs typeface="Calibri" pitchFamily="34" charset="-120"/>
              </a:rPr>
              <a:t>labelled sensor data, 80/20 split</a:t>
            </a:r>
            <a:endParaRPr lang="en-US" sz="1200" dirty="0"/>
          </a:p>
        </p:txBody>
      </p:sp>
      <p:sp>
        <p:nvSpPr>
          <p:cNvPr id="11" name="Shape 8"/>
          <p:cNvSpPr/>
          <p:nvPr/>
        </p:nvSpPr>
        <p:spPr>
          <a:xfrm>
            <a:off x="6173572" y="5029200"/>
            <a:ext cx="2524430" cy="960120"/>
          </a:xfrm>
          <a:prstGeom prst="roundRect">
            <a:avLst>
              <a:gd name="adj" fmla="val 9524"/>
            </a:avLst>
          </a:prstGeom>
          <a:solidFill>
            <a:srgbClr val="121B24"/>
          </a:solidFill>
          <a:ln w="12700">
            <a:solidFill>
              <a:srgbClr val="22303D"/>
            </a:solidFill>
            <a:prstDash val="solid"/>
          </a:ln>
        </p:spPr>
      </p:sp>
      <p:sp>
        <p:nvSpPr>
          <p:cNvPr id="12" name="Text 9"/>
          <p:cNvSpPr txBox="1"/>
          <p:nvPr/>
        </p:nvSpPr>
        <p:spPr>
          <a:xfrm>
            <a:off x="6374740" y="5157216"/>
            <a:ext cx="2122094" cy="411480"/>
          </a:xfrm>
          <a:prstGeom prst="rect">
            <a:avLst/>
          </a:prstGeom>
          <a:noFill/>
          <a:ln/>
        </p:spPr>
        <p:txBody>
          <a:bodyPr wrap="square" lIns="0" tIns="0" rIns="0" bIns="0" rtlCol="0" anchor="t"/>
          <a:lstStyle/>
          <a:p>
            <a:pPr indent="0" marL="0">
              <a:buNone/>
            </a:pPr>
            <a:r>
              <a:rPr lang="en-US" sz="2200" b="1" dirty="0">
                <a:solidFill>
                  <a:srgbClr val="E8EEF2"/>
                </a:solidFill>
                <a:latin typeface="Calibri" pitchFamily="34" charset="0"/>
                <a:ea typeface="Calibri" pitchFamily="34" charset="-122"/>
                <a:cs typeface="Calibri" pitchFamily="34" charset="-120"/>
              </a:rPr>
              <a:t>~15 ms</a:t>
            </a:r>
            <a:endParaRPr lang="en-US" sz="2200" dirty="0"/>
          </a:p>
        </p:txBody>
      </p:sp>
      <p:sp>
        <p:nvSpPr>
          <p:cNvPr id="13" name="Text 10"/>
          <p:cNvSpPr txBox="1"/>
          <p:nvPr/>
        </p:nvSpPr>
        <p:spPr>
          <a:xfrm>
            <a:off x="6374740" y="5577840"/>
            <a:ext cx="2122094" cy="365760"/>
          </a:xfrm>
          <a:prstGeom prst="rect">
            <a:avLst/>
          </a:prstGeom>
          <a:noFill/>
          <a:ln/>
        </p:spPr>
        <p:txBody>
          <a:bodyPr wrap="square" lIns="0" tIns="0" rIns="0" bIns="0" rtlCol="0" anchor="t"/>
          <a:lstStyle/>
          <a:p>
            <a:pPr indent="0" marL="0">
              <a:buNone/>
            </a:pPr>
            <a:r>
              <a:rPr lang="en-US" sz="1200" dirty="0">
                <a:solidFill>
                  <a:srgbClr val="9AABBA"/>
                </a:solidFill>
                <a:latin typeface="Calibri" pitchFamily="34" charset="0"/>
                <a:ea typeface="Calibri" pitchFamily="34" charset="-122"/>
                <a:cs typeface="Calibri" pitchFamily="34" charset="-120"/>
              </a:rPr>
              <a:t>per frame, on AWS Lambda</a:t>
            </a:r>
            <a:endParaRPr lang="en-US" sz="1200" dirty="0"/>
          </a:p>
        </p:txBody>
      </p:sp>
      <p:sp>
        <p:nvSpPr>
          <p:cNvPr id="14" name="Shape 11"/>
          <p:cNvSpPr/>
          <p:nvPr/>
        </p:nvSpPr>
        <p:spPr>
          <a:xfrm>
            <a:off x="8853449" y="5029200"/>
            <a:ext cx="2524430" cy="960120"/>
          </a:xfrm>
          <a:prstGeom prst="roundRect">
            <a:avLst>
              <a:gd name="adj" fmla="val 9524"/>
            </a:avLst>
          </a:prstGeom>
          <a:solidFill>
            <a:srgbClr val="121B24"/>
          </a:solidFill>
          <a:ln w="12700">
            <a:solidFill>
              <a:srgbClr val="22303D"/>
            </a:solidFill>
            <a:prstDash val="solid"/>
          </a:ln>
        </p:spPr>
      </p:sp>
      <p:sp>
        <p:nvSpPr>
          <p:cNvPr id="15" name="Text 12"/>
          <p:cNvSpPr txBox="1"/>
          <p:nvPr/>
        </p:nvSpPr>
        <p:spPr>
          <a:xfrm>
            <a:off x="9054617" y="5157216"/>
            <a:ext cx="2122094" cy="411480"/>
          </a:xfrm>
          <a:prstGeom prst="rect">
            <a:avLst/>
          </a:prstGeom>
          <a:noFill/>
          <a:ln/>
        </p:spPr>
        <p:txBody>
          <a:bodyPr wrap="square" lIns="0" tIns="0" rIns="0" bIns="0" rtlCol="0" anchor="t"/>
          <a:lstStyle/>
          <a:p>
            <a:pPr indent="0" marL="0">
              <a:buNone/>
            </a:pPr>
            <a:r>
              <a:rPr lang="en-US" sz="2200" b="1" dirty="0">
                <a:solidFill>
                  <a:srgbClr val="E8EEF2"/>
                </a:solidFill>
                <a:latin typeface="Calibri" pitchFamily="34" charset="0"/>
                <a:ea typeface="Calibri" pitchFamily="34" charset="-122"/>
                <a:cs typeface="Calibri" pitchFamily="34" charset="-120"/>
              </a:rPr>
              <a:t>4,704 / 4,704</a:t>
            </a:r>
            <a:endParaRPr lang="en-US" sz="2200" dirty="0"/>
          </a:p>
        </p:txBody>
      </p:sp>
      <p:sp>
        <p:nvSpPr>
          <p:cNvPr id="16" name="Text 13"/>
          <p:cNvSpPr txBox="1"/>
          <p:nvPr/>
        </p:nvSpPr>
        <p:spPr>
          <a:xfrm>
            <a:off x="9054617" y="5577840"/>
            <a:ext cx="2122094" cy="365760"/>
          </a:xfrm>
          <a:prstGeom prst="rect">
            <a:avLst/>
          </a:prstGeom>
          <a:noFill/>
          <a:ln/>
        </p:spPr>
        <p:txBody>
          <a:bodyPr wrap="square" lIns="0" tIns="0" rIns="0" bIns="0" rtlCol="0" anchor="t"/>
          <a:lstStyle/>
          <a:p>
            <a:pPr indent="0" marL="0">
              <a:buNone/>
            </a:pPr>
            <a:r>
              <a:rPr lang="en-US" sz="1200" dirty="0">
                <a:solidFill>
                  <a:srgbClr val="9AABBA"/>
                </a:solidFill>
                <a:latin typeface="Calibri" pitchFamily="34" charset="0"/>
                <a:ea typeface="Calibri" pitchFamily="34" charset="-122"/>
                <a:cs typeface="Calibri" pitchFamily="34" charset="-120"/>
              </a:rPr>
              <a:t>test inputs match scikit-learn</a:t>
            </a:r>
            <a:endParaRPr lang="en-US" sz="1200" dirty="0"/>
          </a:p>
        </p:txBody>
      </p:sp>
      <p:sp>
        <p:nvSpPr>
          <p:cNvPr id="25" name="Slide Number Placeholder 0"/>
          <p:cNvSpPr>
            <a:spLocks noGrp="1"/>
          </p:cNvSpPr>
          <p:nvPr>
            <p:ph type="sldNum" sz="quarter" idx="4294967295"/>
          </p:nvPr>
        </p:nvSpPr>
        <p:spPr>
          <a:xfrm>
            <a:off x="10463479" y="6263640"/>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D90A3"/>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813816" y="813816"/>
            <a:ext cx="10564063" cy="292608"/>
          </a:xfrm>
          <a:prstGeom prst="rect">
            <a:avLst/>
          </a:prstGeom>
          <a:noFill/>
          <a:ln/>
        </p:spPr>
        <p:txBody>
          <a:bodyPr wrap="square" lIns="0" tIns="0" rIns="0" bIns="0" rtlCol="0" anchor="t"/>
          <a:lstStyle/>
          <a:p>
            <a:pPr indent="0" marL="0">
              <a:buNone/>
            </a:pPr>
            <a:r>
              <a:rPr lang="en-US" sz="1200" spc="300" kern="0" dirty="0">
                <a:solidFill>
                  <a:srgbClr val="5EEAD4"/>
                </a:solidFill>
                <a:latin typeface="Consolas" pitchFamily="34" charset="0"/>
                <a:ea typeface="Consolas" pitchFamily="34" charset="-122"/>
                <a:cs typeface="Consolas" pitchFamily="34" charset="-120"/>
              </a:rPr>
              <a:t>06 · SAFETY FIRST</a:t>
            </a:r>
            <a:endParaRPr lang="en-US" sz="1200" dirty="0"/>
          </a:p>
        </p:txBody>
      </p:sp>
      <p:sp>
        <p:nvSpPr>
          <p:cNvPr id="3" name="Text 0"/>
          <p:cNvSpPr/>
          <p:nvPr>
            <p:ph idx="100" type="title" hasCustomPrompt="1"/>
          </p:nvPr>
        </p:nvSpPr>
        <p:spPr>
          <a:xfrm>
            <a:off x="813816" y="1161288"/>
            <a:ext cx="10564063" cy="1188720"/>
          </a:xfrm>
          <a:prstGeom prst="rect">
            <a:avLst/>
          </a:prstGeom>
          <a:noFill/>
          <a:ln/>
        </p:spPr>
        <p:txBody>
          <a:bodyPr wrap="square" lIns="0" tIns="0" rIns="0" bIns="0" rtlCol="0" anchor="t"/>
          <a:lstStyle/>
          <a:p>
            <a:pPr algn="l" indent="0" marL="0">
              <a:buNone/>
            </a:pPr>
            <a:r>
              <a:rPr lang="en-US" sz="3600" b="1" dirty="0">
                <a:solidFill>
                  <a:srgbClr val="E8EEF2"/>
                </a:solidFill>
                <a:latin typeface="Calibri" pitchFamily="34" charset="0"/>
                <a:ea typeface="Calibri" pitchFamily="34" charset="-122"/>
                <a:cs typeface="Calibri" pitchFamily="34" charset="-120"/>
              </a:rPr>
              <a:t>The model suggests. The interlock decides</a:t>
            </a:r>
            <a:endParaRPr lang="en-US" sz="3600" dirty="0"/>
          </a:p>
        </p:txBody>
      </p:sp>
      <p:sp>
        <p:nvSpPr>
          <p:cNvPr id="4" name="Text 2"/>
          <p:cNvSpPr txBox="1"/>
          <p:nvPr/>
        </p:nvSpPr>
        <p:spPr>
          <a:xfrm>
            <a:off x="813816" y="2514600"/>
            <a:ext cx="4059936" cy="868680"/>
          </a:xfrm>
          <a:prstGeom prst="rect">
            <a:avLst/>
          </a:prstGeom>
          <a:noFill/>
          <a:ln/>
        </p:spPr>
        <p:txBody>
          <a:bodyPr wrap="square" lIns="0" tIns="0" rIns="0" bIns="0" rtlCol="0" anchor="t"/>
          <a:lstStyle/>
          <a:p>
            <a:pPr indent="0" marL="0">
              <a:buNone/>
            </a:pPr>
            <a:r>
              <a:rPr lang="en-US" sz="2200" b="1" dirty="0">
                <a:solidFill>
                  <a:srgbClr val="E8EEF2"/>
                </a:solidFill>
                <a:latin typeface="Calibri" pitchFamily="34" charset="0"/>
                <a:ea typeface="Calibri" pitchFamily="34" charset="-122"/>
                <a:cs typeface="Calibri" pitchFamily="34" charset="-120"/>
              </a:rPr>
              <a:t>Ozone purifies air, but it harms people.</a:t>
            </a:r>
            <a:endParaRPr lang="en-US" sz="2200" dirty="0"/>
          </a:p>
        </p:txBody>
      </p:sp>
      <p:sp>
        <p:nvSpPr>
          <p:cNvPr id="5" name="Text 3"/>
          <p:cNvSpPr txBox="1"/>
          <p:nvPr/>
        </p:nvSpPr>
        <p:spPr>
          <a:xfrm>
            <a:off x="813816" y="3520440"/>
            <a:ext cx="4059936" cy="1280160"/>
          </a:xfrm>
          <a:prstGeom prst="rect">
            <a:avLst/>
          </a:prstGeom>
          <a:noFill/>
          <a:ln/>
        </p:spPr>
        <p:txBody>
          <a:bodyPr wrap="square" lIns="0" tIns="0" rIns="0" bIns="0" rtlCol="0" anchor="t"/>
          <a:lstStyle/>
          <a:p>
            <a:pPr indent="0" marL="0">
              <a:buNone/>
            </a:pPr>
            <a:r>
              <a:rPr lang="en-US" sz="1400" dirty="0">
                <a:solidFill>
                  <a:srgbClr val="C7D3DD"/>
                </a:solidFill>
                <a:latin typeface="Calibri" pitchFamily="34" charset="0"/>
                <a:ea typeface="Calibri" pitchFamily="34" charset="-122"/>
                <a:cs typeface="Calibri" pitchFamily="34" charset="-120"/>
              </a:rPr>
              <a:t>CARB and the US EPA warn against ozone generators in occupied spaces. So BreatheIQ lets ozone run only when both checks pass.</a:t>
            </a:r>
            <a:endParaRPr lang="en-US" sz="1400" dirty="0"/>
          </a:p>
        </p:txBody>
      </p:sp>
      <p:sp>
        <p:nvSpPr>
          <p:cNvPr id="6" name="Shape 4"/>
          <p:cNvSpPr/>
          <p:nvPr/>
        </p:nvSpPr>
        <p:spPr>
          <a:xfrm>
            <a:off x="5175504" y="2514600"/>
            <a:ext cx="6202375" cy="1024128"/>
          </a:xfrm>
          <a:prstGeom prst="roundRect">
            <a:avLst>
              <a:gd name="adj" fmla="val 8929"/>
            </a:avLst>
          </a:prstGeom>
          <a:solidFill>
            <a:srgbClr val="121B24"/>
          </a:solidFill>
          <a:ln w="12700">
            <a:solidFill>
              <a:srgbClr val="22303D"/>
            </a:solidFill>
            <a:prstDash val="solid"/>
          </a:ln>
        </p:spPr>
      </p:sp>
      <p:sp>
        <p:nvSpPr>
          <p:cNvPr id="7" name="Shape 5"/>
          <p:cNvSpPr/>
          <p:nvPr/>
        </p:nvSpPr>
        <p:spPr>
          <a:xfrm>
            <a:off x="5449824" y="2752344"/>
            <a:ext cx="548640" cy="548640"/>
          </a:xfrm>
          <a:prstGeom prst="ellipse">
            <a:avLst/>
          </a:prstGeom>
          <a:solidFill>
            <a:srgbClr val="5EEAD4"/>
          </a:solidFill>
          <a:ln w="12700">
            <a:solidFill>
              <a:srgbClr val="5EEAD4"/>
            </a:solidFill>
            <a:prstDash val="solid"/>
          </a:ln>
        </p:spPr>
      </p:sp>
      <p:sp>
        <p:nvSpPr>
          <p:cNvPr id="8" name="Text 6"/>
          <p:cNvSpPr txBox="1"/>
          <p:nvPr/>
        </p:nvSpPr>
        <p:spPr>
          <a:xfrm>
            <a:off x="5449824" y="2752344"/>
            <a:ext cx="548640" cy="548640"/>
          </a:xfrm>
          <a:prstGeom prst="rect">
            <a:avLst/>
          </a:prstGeom>
          <a:noFill/>
          <a:ln/>
        </p:spPr>
        <p:txBody>
          <a:bodyPr wrap="square" lIns="0" tIns="0" rIns="0" bIns="0" rtlCol="0" anchor="ctr"/>
          <a:lstStyle/>
          <a:p>
            <a:pPr algn="ctr" indent="0" marL="0">
              <a:buNone/>
            </a:pPr>
            <a:r>
              <a:rPr lang="en-US" sz="1500" b="1" dirty="0">
                <a:solidFill>
                  <a:srgbClr val="0B1117"/>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6227064" y="2679192"/>
            <a:ext cx="4876495" cy="365760"/>
          </a:xfrm>
          <a:prstGeom prst="rect">
            <a:avLst/>
          </a:prstGeom>
          <a:noFill/>
          <a:ln/>
        </p:spPr>
        <p:txBody>
          <a:bodyPr wrap="square" lIns="0" tIns="0" rIns="0" bIns="0" rtlCol="0" anchor="t"/>
          <a:lstStyle/>
          <a:p>
            <a:pPr indent="0" marL="0">
              <a:buNone/>
            </a:pPr>
            <a:r>
              <a:rPr lang="en-US" sz="1800" b="1" dirty="0">
                <a:solidFill>
                  <a:srgbClr val="E8EEF2"/>
                </a:solidFill>
                <a:latin typeface="Calibri" pitchFamily="34" charset="0"/>
                <a:ea typeface="Calibri" pitchFamily="34" charset="-122"/>
                <a:cs typeface="Calibri" pitchFamily="34" charset="-120"/>
              </a:rPr>
              <a:t>Cabin unoccupied</a:t>
            </a:r>
            <a:endParaRPr lang="en-US" sz="1800" dirty="0"/>
          </a:p>
        </p:txBody>
      </p:sp>
      <p:sp>
        <p:nvSpPr>
          <p:cNvPr id="10" name="Text 8"/>
          <p:cNvSpPr txBox="1"/>
          <p:nvPr/>
        </p:nvSpPr>
        <p:spPr>
          <a:xfrm>
            <a:off x="6227064" y="3063240"/>
            <a:ext cx="4876495" cy="411480"/>
          </a:xfrm>
          <a:prstGeom prst="rect">
            <a:avLst/>
          </a:prstGeom>
          <a:noFill/>
          <a:ln/>
        </p:spPr>
        <p:txBody>
          <a:bodyPr wrap="square" lIns="0" tIns="0" rIns="0" bIns="0" rtlCol="0" anchor="t"/>
          <a:lstStyle/>
          <a:p>
            <a:pPr indent="0" marL="0">
              <a:buNone/>
            </a:pPr>
            <a:r>
              <a:rPr lang="en-US" sz="1300" dirty="0">
                <a:solidFill>
                  <a:srgbClr val="9AABBA"/>
                </a:solidFill>
                <a:latin typeface="Calibri" pitchFamily="34" charset="0"/>
                <a:ea typeface="Calibri" pitchFamily="34" charset="-122"/>
                <a:cs typeface="Calibri" pitchFamily="34" charset="-120"/>
              </a:rPr>
              <a:t>Depot cleaning or terminal turnaround.</a:t>
            </a:r>
            <a:endParaRPr lang="en-US" sz="1300" dirty="0"/>
          </a:p>
        </p:txBody>
      </p:sp>
      <p:sp>
        <p:nvSpPr>
          <p:cNvPr id="11" name="Shape 9"/>
          <p:cNvSpPr/>
          <p:nvPr/>
        </p:nvSpPr>
        <p:spPr>
          <a:xfrm>
            <a:off x="5175504" y="3694176"/>
            <a:ext cx="6202375" cy="1024128"/>
          </a:xfrm>
          <a:prstGeom prst="roundRect">
            <a:avLst>
              <a:gd name="adj" fmla="val 8929"/>
            </a:avLst>
          </a:prstGeom>
          <a:solidFill>
            <a:srgbClr val="121B24"/>
          </a:solidFill>
          <a:ln w="12700">
            <a:solidFill>
              <a:srgbClr val="22303D"/>
            </a:solidFill>
            <a:prstDash val="solid"/>
          </a:ln>
        </p:spPr>
      </p:sp>
      <p:sp>
        <p:nvSpPr>
          <p:cNvPr id="12" name="Shape 10"/>
          <p:cNvSpPr/>
          <p:nvPr/>
        </p:nvSpPr>
        <p:spPr>
          <a:xfrm>
            <a:off x="5449824" y="3931920"/>
            <a:ext cx="548640" cy="548640"/>
          </a:xfrm>
          <a:prstGeom prst="ellipse">
            <a:avLst/>
          </a:prstGeom>
          <a:solidFill>
            <a:srgbClr val="5EEAD4"/>
          </a:solidFill>
          <a:ln w="12700">
            <a:solidFill>
              <a:srgbClr val="5EEAD4"/>
            </a:solidFill>
            <a:prstDash val="solid"/>
          </a:ln>
        </p:spPr>
      </p:sp>
      <p:sp>
        <p:nvSpPr>
          <p:cNvPr id="13" name="Text 11"/>
          <p:cNvSpPr txBox="1"/>
          <p:nvPr/>
        </p:nvSpPr>
        <p:spPr>
          <a:xfrm>
            <a:off x="5449824" y="3931920"/>
            <a:ext cx="548640" cy="548640"/>
          </a:xfrm>
          <a:prstGeom prst="rect">
            <a:avLst/>
          </a:prstGeom>
          <a:noFill/>
          <a:ln/>
        </p:spPr>
        <p:txBody>
          <a:bodyPr wrap="square" lIns="0" tIns="0" rIns="0" bIns="0" rtlCol="0" anchor="ctr"/>
          <a:lstStyle/>
          <a:p>
            <a:pPr algn="ctr" indent="0" marL="0">
              <a:buNone/>
            </a:pPr>
            <a:r>
              <a:rPr lang="en-US" sz="1500" b="1" dirty="0">
                <a:solidFill>
                  <a:srgbClr val="0B1117"/>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6227064" y="3858768"/>
            <a:ext cx="4876495" cy="365760"/>
          </a:xfrm>
          <a:prstGeom prst="rect">
            <a:avLst/>
          </a:prstGeom>
          <a:noFill/>
          <a:ln/>
        </p:spPr>
        <p:txBody>
          <a:bodyPr wrap="square" lIns="0" tIns="0" rIns="0" bIns="0" rtlCol="0" anchor="t"/>
          <a:lstStyle/>
          <a:p>
            <a:pPr indent="0" marL="0">
              <a:buNone/>
            </a:pPr>
            <a:r>
              <a:rPr lang="en-US" sz="1800" b="1" dirty="0">
                <a:solidFill>
                  <a:srgbClr val="E8EEF2"/>
                </a:solidFill>
                <a:latin typeface="Calibri" pitchFamily="34" charset="0"/>
                <a:ea typeface="Calibri" pitchFamily="34" charset="-122"/>
                <a:cs typeface="Calibri" pitchFamily="34" charset="-120"/>
              </a:rPr>
              <a:t>Ozone under 0.07 ppm</a:t>
            </a:r>
            <a:endParaRPr lang="en-US" sz="1800" dirty="0"/>
          </a:p>
        </p:txBody>
      </p:sp>
      <p:sp>
        <p:nvSpPr>
          <p:cNvPr id="15" name="Text 13"/>
          <p:cNvSpPr txBox="1"/>
          <p:nvPr/>
        </p:nvSpPr>
        <p:spPr>
          <a:xfrm>
            <a:off x="6227064" y="4242816"/>
            <a:ext cx="4876495" cy="411480"/>
          </a:xfrm>
          <a:prstGeom prst="rect">
            <a:avLst/>
          </a:prstGeom>
          <a:noFill/>
          <a:ln/>
        </p:spPr>
        <p:txBody>
          <a:bodyPr wrap="square" lIns="0" tIns="0" rIns="0" bIns="0" rtlCol="0" anchor="t"/>
          <a:lstStyle/>
          <a:p>
            <a:pPr indent="0" marL="0">
              <a:buNone/>
            </a:pPr>
            <a:r>
              <a:rPr lang="en-US" sz="1300" dirty="0">
                <a:solidFill>
                  <a:srgbClr val="9AABBA"/>
                </a:solidFill>
                <a:latin typeface="Calibri" pitchFamily="34" charset="0"/>
                <a:ea typeface="Calibri" pitchFamily="34" charset="-122"/>
                <a:cs typeface="Calibri" pitchFamily="34" charset="-120"/>
              </a:rPr>
              <a:t>Estimated 8-hour average, the US EPA limit.</a:t>
            </a:r>
            <a:endParaRPr lang="en-US" sz="1300" dirty="0"/>
          </a:p>
        </p:txBody>
      </p:sp>
      <p:sp>
        <p:nvSpPr>
          <p:cNvPr id="16" name="Shape 14"/>
          <p:cNvSpPr/>
          <p:nvPr/>
        </p:nvSpPr>
        <p:spPr>
          <a:xfrm>
            <a:off x="5175504" y="4873752"/>
            <a:ext cx="6202375" cy="1024128"/>
          </a:xfrm>
          <a:prstGeom prst="roundRect">
            <a:avLst>
              <a:gd name="adj" fmla="val 8929"/>
            </a:avLst>
          </a:prstGeom>
          <a:solidFill>
            <a:srgbClr val="1E1A0E"/>
          </a:solidFill>
          <a:ln w="19050">
            <a:solidFill>
              <a:srgbClr val="FBBF24"/>
            </a:solidFill>
            <a:prstDash val="solid"/>
          </a:ln>
        </p:spPr>
      </p:sp>
      <p:sp>
        <p:nvSpPr>
          <p:cNvPr id="17" name="Shape 15"/>
          <p:cNvSpPr/>
          <p:nvPr/>
        </p:nvSpPr>
        <p:spPr>
          <a:xfrm>
            <a:off x="5449824" y="5111496"/>
            <a:ext cx="548640" cy="548640"/>
          </a:xfrm>
          <a:prstGeom prst="ellipse">
            <a:avLst/>
          </a:prstGeom>
          <a:solidFill>
            <a:srgbClr val="FBBF24"/>
          </a:solidFill>
          <a:ln w="12700">
            <a:solidFill>
              <a:srgbClr val="FBBF24"/>
            </a:solidFill>
            <a:prstDash val="solid"/>
          </a:ln>
        </p:spPr>
      </p:sp>
      <p:sp>
        <p:nvSpPr>
          <p:cNvPr id="18" name="Text 16"/>
          <p:cNvSpPr txBox="1"/>
          <p:nvPr/>
        </p:nvSpPr>
        <p:spPr>
          <a:xfrm>
            <a:off x="5449824" y="5111496"/>
            <a:ext cx="548640" cy="548640"/>
          </a:xfrm>
          <a:prstGeom prst="rect">
            <a:avLst/>
          </a:prstGeom>
          <a:noFill/>
          <a:ln/>
        </p:spPr>
        <p:txBody>
          <a:bodyPr wrap="square" lIns="0" tIns="0" rIns="0" bIns="0" rtlCol="0" anchor="ctr"/>
          <a:lstStyle/>
          <a:p>
            <a:pPr algn="ctr" indent="0" marL="0">
              <a:buNone/>
            </a:pPr>
            <a:r>
              <a:rPr lang="en-US" sz="1500" b="1" dirty="0">
                <a:solidFill>
                  <a:srgbClr val="0B1117"/>
                </a:solidFill>
                <a:latin typeface="Calibri" pitchFamily="34" charset="0"/>
                <a:ea typeface="Calibri" pitchFamily="34" charset="-122"/>
                <a:cs typeface="Calibri" pitchFamily="34" charset="-120"/>
              </a:rPr>
              <a:t>!</a:t>
            </a:r>
            <a:endParaRPr lang="en-US" sz="1500" dirty="0"/>
          </a:p>
        </p:txBody>
      </p:sp>
      <p:sp>
        <p:nvSpPr>
          <p:cNvPr id="19" name="Text 17"/>
          <p:cNvSpPr txBox="1"/>
          <p:nvPr/>
        </p:nvSpPr>
        <p:spPr>
          <a:xfrm>
            <a:off x="6227064" y="5038344"/>
            <a:ext cx="4876495" cy="365760"/>
          </a:xfrm>
          <a:prstGeom prst="rect">
            <a:avLst/>
          </a:prstGeom>
          <a:noFill/>
          <a:ln/>
        </p:spPr>
        <p:txBody>
          <a:bodyPr wrap="square" lIns="0" tIns="0" rIns="0" bIns="0" rtlCol="0" anchor="t"/>
          <a:lstStyle/>
          <a:p>
            <a:pPr indent="0" marL="0">
              <a:buNone/>
            </a:pPr>
            <a:r>
              <a:rPr lang="en-US" sz="1800" b="1" dirty="0">
                <a:solidFill>
                  <a:srgbClr val="FBBF24"/>
                </a:solidFill>
                <a:latin typeface="Calibri" pitchFamily="34" charset="0"/>
                <a:ea typeface="Calibri" pitchFamily="34" charset="-122"/>
                <a:cs typeface="Calibri" pitchFamily="34" charset="-120"/>
              </a:rPr>
              <a:t>Otherwise: blocked</a:t>
            </a:r>
            <a:endParaRPr lang="en-US" sz="1800" dirty="0"/>
          </a:p>
        </p:txBody>
      </p:sp>
      <p:sp>
        <p:nvSpPr>
          <p:cNvPr id="20" name="Text 18"/>
          <p:cNvSpPr txBox="1"/>
          <p:nvPr/>
        </p:nvSpPr>
        <p:spPr>
          <a:xfrm>
            <a:off x="6227064" y="5422392"/>
            <a:ext cx="4876495" cy="411480"/>
          </a:xfrm>
          <a:prstGeom prst="rect">
            <a:avLst/>
          </a:prstGeom>
          <a:noFill/>
          <a:ln/>
        </p:spPr>
        <p:txBody>
          <a:bodyPr wrap="square" lIns="0" tIns="0" rIns="0" bIns="0" rtlCol="0" anchor="t"/>
          <a:lstStyle/>
          <a:p>
            <a:pPr indent="0" marL="0">
              <a:buNone/>
            </a:pPr>
            <a:r>
              <a:rPr lang="en-US" sz="1300" dirty="0">
                <a:solidFill>
                  <a:srgbClr val="E8EEF2"/>
                </a:solidFill>
                <a:latin typeface="Calibri" pitchFamily="34" charset="0"/>
                <a:ea typeface="Calibri" pitchFamily="34" charset="-122"/>
                <a:cs typeface="Calibri" pitchFamily="34" charset="-120"/>
              </a:rPr>
              <a:t>Fan and filtration run instead; each decision is logged.</a:t>
            </a:r>
            <a:endParaRPr lang="en-US" sz="1300" dirty="0"/>
          </a:p>
        </p:txBody>
      </p:sp>
      <p:sp>
        <p:nvSpPr>
          <p:cNvPr id="25" name="Slide Number Placeholder 0"/>
          <p:cNvSpPr>
            <a:spLocks noGrp="1"/>
          </p:cNvSpPr>
          <p:nvPr>
            <p:ph type="sldNum" sz="quarter" idx="4294967295"/>
          </p:nvPr>
        </p:nvSpPr>
        <p:spPr>
          <a:xfrm>
            <a:off x="10463479" y="6263640"/>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D90A3"/>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813816" y="813816"/>
            <a:ext cx="10564063" cy="292608"/>
          </a:xfrm>
          <a:prstGeom prst="rect">
            <a:avLst/>
          </a:prstGeom>
          <a:noFill/>
          <a:ln/>
        </p:spPr>
        <p:txBody>
          <a:bodyPr wrap="square" lIns="0" tIns="0" rIns="0" bIns="0" rtlCol="0" anchor="t"/>
          <a:lstStyle/>
          <a:p>
            <a:pPr indent="0" marL="0">
              <a:buNone/>
            </a:pPr>
            <a:r>
              <a:rPr lang="en-US" sz="1200" spc="300" kern="0" dirty="0">
                <a:solidFill>
                  <a:srgbClr val="0F766E"/>
                </a:solidFill>
                <a:latin typeface="Consolas" pitchFamily="34" charset="0"/>
                <a:ea typeface="Consolas" pitchFamily="34" charset="-122"/>
                <a:cs typeface="Consolas" pitchFamily="34" charset="-120"/>
              </a:rPr>
              <a:t>07 · WARN THE MOST EXPOSED</a:t>
            </a:r>
            <a:endParaRPr lang="en-US" sz="1200" dirty="0"/>
          </a:p>
        </p:txBody>
      </p:sp>
      <p:sp>
        <p:nvSpPr>
          <p:cNvPr id="3" name="Text 0"/>
          <p:cNvSpPr/>
          <p:nvPr>
            <p:ph idx="100" type="title" hasCustomPrompt="1"/>
          </p:nvPr>
        </p:nvSpPr>
        <p:spPr>
          <a:xfrm>
            <a:off x="813816" y="1161288"/>
            <a:ext cx="10564063" cy="1188720"/>
          </a:xfrm>
          <a:prstGeom prst="rect">
            <a:avLst/>
          </a:prstGeom>
          <a:noFill/>
          <a:ln/>
        </p:spPr>
        <p:txBody>
          <a:bodyPr wrap="square" lIns="0" tIns="0" rIns="0" bIns="0" rtlCol="0" anchor="t"/>
          <a:lstStyle/>
          <a:p>
            <a:pPr algn="l" indent="0" marL="0">
              <a:buNone/>
            </a:pPr>
            <a:r>
              <a:rPr lang="en-US" sz="3600" b="1" dirty="0">
                <a:solidFill>
                  <a:srgbClr val="14202B"/>
                </a:solidFill>
                <a:latin typeface="Calibri" pitchFamily="34" charset="0"/>
                <a:ea typeface="Calibri" pitchFamily="34" charset="-122"/>
                <a:cs typeface="Calibri" pitchFamily="34" charset="-120"/>
              </a:rPr>
              <a:t>Every group gets its own dose, limit and advice</a:t>
            </a:r>
            <a:endParaRPr lang="en-US" sz="3600" dirty="0"/>
          </a:p>
        </p:txBody>
      </p:sp>
      <p:sp>
        <p:nvSpPr>
          <p:cNvPr id="4" name="Shape 2"/>
          <p:cNvSpPr/>
          <p:nvPr/>
        </p:nvSpPr>
        <p:spPr>
          <a:xfrm>
            <a:off x="813816" y="2514600"/>
            <a:ext cx="5120640" cy="1417320"/>
          </a:xfrm>
          <a:prstGeom prst="roundRect">
            <a:avLst>
              <a:gd name="adj" fmla="val 6452"/>
            </a:avLst>
          </a:prstGeom>
          <a:solidFill>
            <a:srgbClr val="14202B"/>
          </a:solidFill>
          <a:ln w="12700">
            <a:solidFill>
              <a:srgbClr val="14202B"/>
            </a:solidFill>
            <a:prstDash val="solid"/>
          </a:ln>
        </p:spPr>
      </p:sp>
      <p:sp>
        <p:nvSpPr>
          <p:cNvPr id="5" name="Text 3"/>
          <p:cNvSpPr txBox="1"/>
          <p:nvPr/>
        </p:nvSpPr>
        <p:spPr>
          <a:xfrm>
            <a:off x="1133856" y="2770632"/>
            <a:ext cx="4480560" cy="274320"/>
          </a:xfrm>
          <a:prstGeom prst="rect">
            <a:avLst/>
          </a:prstGeom>
          <a:noFill/>
          <a:ln/>
        </p:spPr>
        <p:txBody>
          <a:bodyPr wrap="square" lIns="0" tIns="0" rIns="0" bIns="0" rtlCol="0" anchor="t"/>
          <a:lstStyle/>
          <a:p>
            <a:pPr indent="0" marL="0">
              <a:buNone/>
            </a:pPr>
            <a:r>
              <a:rPr lang="en-US" sz="1200" spc="300" kern="0" dirty="0">
                <a:solidFill>
                  <a:srgbClr val="9AABBA"/>
                </a:solidFill>
                <a:latin typeface="Consolas" pitchFamily="34" charset="0"/>
                <a:ea typeface="Consolas" pitchFamily="34" charset="-122"/>
                <a:cs typeface="Consolas" pitchFamily="34" charset="-120"/>
              </a:rPr>
              <a:t>INHALED DOSE</a:t>
            </a:r>
            <a:endParaRPr lang="en-US" sz="1200" dirty="0"/>
          </a:p>
        </p:txBody>
      </p:sp>
      <p:sp>
        <p:nvSpPr>
          <p:cNvPr id="6" name="Text 4"/>
          <p:cNvSpPr txBox="1"/>
          <p:nvPr/>
        </p:nvSpPr>
        <p:spPr>
          <a:xfrm>
            <a:off x="1133856" y="3081528"/>
            <a:ext cx="4480560" cy="731520"/>
          </a:xfrm>
          <a:prstGeom prst="rect">
            <a:avLst/>
          </a:prstGeom>
          <a:noFill/>
          <a:ln/>
        </p:spPr>
        <p:txBody>
          <a:bodyPr wrap="square" lIns="0" tIns="0" rIns="0" bIns="0" rtlCol="0" anchor="t"/>
          <a:lstStyle/>
          <a:p>
            <a:pPr indent="0" marL="0">
              <a:buNone/>
            </a:pPr>
            <a:r>
              <a:rPr lang="en-US" sz="2200" b="1" dirty="0">
                <a:solidFill>
                  <a:srgbClr val="E8EEF2"/>
                </a:solidFill>
                <a:latin typeface="Calibri" pitchFamily="34" charset="0"/>
                <a:ea typeface="Calibri" pitchFamily="34" charset="-122"/>
                <a:cs typeface="Calibri" pitchFamily="34" charset="-120"/>
              </a:rPr>
              <a:t>Dose = PM2.5 × minutes ×</a:t>
            </a:r>
            <a:endParaRPr lang="en-US" sz="2200" dirty="0"/>
          </a:p>
          <a:p>
            <a:pPr indent="0" marL="0">
              <a:buNone/>
            </a:pPr>
            <a:r>
              <a:rPr lang="en-US" sz="2200" b="1" dirty="0">
                <a:solidFill>
                  <a:srgbClr val="5EEAD4"/>
                </a:solidFill>
                <a:latin typeface="Calibri" pitchFamily="34" charset="0"/>
                <a:ea typeface="Calibri" pitchFamily="34" charset="-122"/>
                <a:cs typeface="Calibri" pitchFamily="34" charset="-120"/>
              </a:rPr>
              <a:t>breathing factor</a:t>
            </a:r>
            <a:endParaRPr lang="en-US" sz="2200" dirty="0"/>
          </a:p>
        </p:txBody>
      </p:sp>
      <p:sp>
        <p:nvSpPr>
          <p:cNvPr id="7" name="Shape 5"/>
          <p:cNvSpPr/>
          <p:nvPr/>
        </p:nvSpPr>
        <p:spPr>
          <a:xfrm>
            <a:off x="6089904" y="2514600"/>
            <a:ext cx="2566264" cy="1417320"/>
          </a:xfrm>
          <a:prstGeom prst="roundRect">
            <a:avLst>
              <a:gd name="adj" fmla="val 6452"/>
            </a:avLst>
          </a:prstGeom>
          <a:solidFill>
            <a:srgbClr val="FBFCFB"/>
          </a:solidFill>
          <a:ln w="12700">
            <a:solidFill>
              <a:srgbClr val="D9E1DF"/>
            </a:solidFill>
            <a:prstDash val="solid"/>
          </a:ln>
        </p:spPr>
      </p:sp>
      <p:sp>
        <p:nvSpPr>
          <p:cNvPr id="8" name="Text 6"/>
          <p:cNvSpPr txBox="1"/>
          <p:nvPr/>
        </p:nvSpPr>
        <p:spPr>
          <a:xfrm>
            <a:off x="6364224" y="2715768"/>
            <a:ext cx="2017624" cy="274320"/>
          </a:xfrm>
          <a:prstGeom prst="rect">
            <a:avLst/>
          </a:prstGeom>
          <a:noFill/>
          <a:ln/>
        </p:spPr>
        <p:txBody>
          <a:bodyPr wrap="square" lIns="0" tIns="0" rIns="0" bIns="0" rtlCol="0" anchor="t"/>
          <a:lstStyle/>
          <a:p>
            <a:pPr indent="0" marL="0">
              <a:buNone/>
            </a:pPr>
            <a:r>
              <a:rPr lang="en-US" sz="1200" spc="300" kern="0" dirty="0">
                <a:solidFill>
                  <a:srgbClr val="4A5A68"/>
                </a:solidFill>
                <a:latin typeface="Consolas" pitchFamily="34" charset="0"/>
                <a:ea typeface="Consolas" pitchFamily="34" charset="-122"/>
                <a:cs typeface="Consolas" pitchFamily="34" charset="-120"/>
              </a:rPr>
              <a:t>WHO 2021</a:t>
            </a:r>
            <a:endParaRPr lang="en-US" sz="1200" dirty="0"/>
          </a:p>
        </p:txBody>
      </p:sp>
      <p:sp>
        <p:nvSpPr>
          <p:cNvPr id="9" name="Text 7"/>
          <p:cNvSpPr txBox="1"/>
          <p:nvPr/>
        </p:nvSpPr>
        <p:spPr>
          <a:xfrm>
            <a:off x="6364224" y="3017520"/>
            <a:ext cx="2017624" cy="411480"/>
          </a:xfrm>
          <a:prstGeom prst="rect">
            <a:avLst/>
          </a:prstGeom>
          <a:noFill/>
          <a:ln/>
        </p:spPr>
        <p:txBody>
          <a:bodyPr wrap="square" lIns="0" tIns="0" rIns="0" bIns="0" rtlCol="0" anchor="t"/>
          <a:lstStyle/>
          <a:p>
            <a:pPr indent="0" marL="0">
              <a:buNone/>
            </a:pPr>
            <a:r>
              <a:rPr lang="en-US" sz="2200" b="1" dirty="0">
                <a:solidFill>
                  <a:srgbClr val="14202B"/>
                </a:solidFill>
                <a:latin typeface="Calibri" pitchFamily="34" charset="0"/>
                <a:ea typeface="Calibri" pitchFamily="34" charset="-122"/>
                <a:cs typeface="Calibri" pitchFamily="34" charset="-120"/>
              </a:rPr>
              <a:t>15 µg/m³</a:t>
            </a:r>
            <a:endParaRPr lang="en-US" sz="2200" dirty="0"/>
          </a:p>
        </p:txBody>
      </p:sp>
      <p:sp>
        <p:nvSpPr>
          <p:cNvPr id="10" name="Text 8"/>
          <p:cNvSpPr txBox="1"/>
          <p:nvPr/>
        </p:nvSpPr>
        <p:spPr>
          <a:xfrm>
            <a:off x="6364224" y="3474720"/>
            <a:ext cx="2017624" cy="320040"/>
          </a:xfrm>
          <a:prstGeom prst="rect">
            <a:avLst/>
          </a:prstGeom>
          <a:noFill/>
          <a:ln/>
        </p:spPr>
        <p:txBody>
          <a:bodyPr wrap="square" lIns="0" tIns="0" rIns="0" bIns="0" rtlCol="0" anchor="t"/>
          <a:lstStyle/>
          <a:p>
            <a:pPr indent="0" marL="0">
              <a:buNone/>
            </a:pPr>
            <a:r>
              <a:rPr lang="en-US" sz="1200" dirty="0">
                <a:solidFill>
                  <a:srgbClr val="4A5A68"/>
                </a:solidFill>
                <a:latin typeface="Calibri" pitchFamily="34" charset="0"/>
                <a:ea typeface="Calibri" pitchFamily="34" charset="-122"/>
                <a:cs typeface="Calibri" pitchFamily="34" charset="-120"/>
              </a:rPr>
              <a:t>24-hour PM2.5 guideline</a:t>
            </a:r>
            <a:endParaRPr lang="en-US" sz="1200" dirty="0"/>
          </a:p>
        </p:txBody>
      </p:sp>
      <p:sp>
        <p:nvSpPr>
          <p:cNvPr id="11" name="Shape 9"/>
          <p:cNvSpPr/>
          <p:nvPr/>
        </p:nvSpPr>
        <p:spPr>
          <a:xfrm>
            <a:off x="8811616" y="2514600"/>
            <a:ext cx="2566264" cy="1417320"/>
          </a:xfrm>
          <a:prstGeom prst="roundRect">
            <a:avLst>
              <a:gd name="adj" fmla="val 6452"/>
            </a:avLst>
          </a:prstGeom>
          <a:solidFill>
            <a:srgbClr val="FBFCFB"/>
          </a:solidFill>
          <a:ln w="12700">
            <a:solidFill>
              <a:srgbClr val="D9E1DF"/>
            </a:solidFill>
            <a:prstDash val="solid"/>
          </a:ln>
        </p:spPr>
      </p:sp>
      <p:sp>
        <p:nvSpPr>
          <p:cNvPr id="12" name="Text 10"/>
          <p:cNvSpPr txBox="1"/>
          <p:nvPr/>
        </p:nvSpPr>
        <p:spPr>
          <a:xfrm>
            <a:off x="9085936" y="2715768"/>
            <a:ext cx="2017624" cy="274320"/>
          </a:xfrm>
          <a:prstGeom prst="rect">
            <a:avLst/>
          </a:prstGeom>
          <a:noFill/>
          <a:ln/>
        </p:spPr>
        <p:txBody>
          <a:bodyPr wrap="square" lIns="0" tIns="0" rIns="0" bIns="0" rtlCol="0" anchor="t"/>
          <a:lstStyle/>
          <a:p>
            <a:pPr indent="0" marL="0">
              <a:buNone/>
            </a:pPr>
            <a:r>
              <a:rPr lang="en-US" sz="1200" spc="300" kern="0" dirty="0">
                <a:solidFill>
                  <a:srgbClr val="4A5A68"/>
                </a:solidFill>
                <a:latin typeface="Consolas" pitchFamily="34" charset="0"/>
                <a:ea typeface="Consolas" pitchFamily="34" charset="-122"/>
                <a:cs typeface="Consolas" pitchFamily="34" charset="-120"/>
              </a:rPr>
              <a:t>INDIA NAAQS</a:t>
            </a:r>
            <a:endParaRPr lang="en-US" sz="1200" dirty="0"/>
          </a:p>
        </p:txBody>
      </p:sp>
      <p:sp>
        <p:nvSpPr>
          <p:cNvPr id="13" name="Text 11"/>
          <p:cNvSpPr txBox="1"/>
          <p:nvPr/>
        </p:nvSpPr>
        <p:spPr>
          <a:xfrm>
            <a:off x="9085936" y="3017520"/>
            <a:ext cx="2017624" cy="411480"/>
          </a:xfrm>
          <a:prstGeom prst="rect">
            <a:avLst/>
          </a:prstGeom>
          <a:noFill/>
          <a:ln/>
        </p:spPr>
        <p:txBody>
          <a:bodyPr wrap="square" lIns="0" tIns="0" rIns="0" bIns="0" rtlCol="0" anchor="t"/>
          <a:lstStyle/>
          <a:p>
            <a:pPr indent="0" marL="0">
              <a:buNone/>
            </a:pPr>
            <a:r>
              <a:rPr lang="en-US" sz="2200" b="1" dirty="0">
                <a:solidFill>
                  <a:srgbClr val="14202B"/>
                </a:solidFill>
                <a:latin typeface="Calibri" pitchFamily="34" charset="0"/>
                <a:ea typeface="Calibri" pitchFamily="34" charset="-122"/>
                <a:cs typeface="Calibri" pitchFamily="34" charset="-120"/>
              </a:rPr>
              <a:t>60 µg/m³</a:t>
            </a:r>
            <a:endParaRPr lang="en-US" sz="2200" dirty="0"/>
          </a:p>
        </p:txBody>
      </p:sp>
      <p:sp>
        <p:nvSpPr>
          <p:cNvPr id="14" name="Text 12"/>
          <p:cNvSpPr txBox="1"/>
          <p:nvPr/>
        </p:nvSpPr>
        <p:spPr>
          <a:xfrm>
            <a:off x="9085936" y="3474720"/>
            <a:ext cx="2017624" cy="320040"/>
          </a:xfrm>
          <a:prstGeom prst="rect">
            <a:avLst/>
          </a:prstGeom>
          <a:noFill/>
          <a:ln/>
        </p:spPr>
        <p:txBody>
          <a:bodyPr wrap="square" lIns="0" tIns="0" rIns="0" bIns="0" rtlCol="0" anchor="t"/>
          <a:lstStyle/>
          <a:p>
            <a:pPr indent="0" marL="0">
              <a:buNone/>
            </a:pPr>
            <a:r>
              <a:rPr lang="en-US" sz="1200" dirty="0">
                <a:solidFill>
                  <a:srgbClr val="4A5A68"/>
                </a:solidFill>
                <a:latin typeface="Calibri" pitchFamily="34" charset="0"/>
                <a:ea typeface="Calibri" pitchFamily="34" charset="-122"/>
                <a:cs typeface="Calibri" pitchFamily="34" charset="-120"/>
              </a:rPr>
              <a:t>24-hour PM2.5 standard</a:t>
            </a:r>
            <a:endParaRPr lang="en-US" sz="1200" dirty="0"/>
          </a:p>
        </p:txBody>
      </p:sp>
      <p:sp>
        <p:nvSpPr>
          <p:cNvPr id="15" name="Shape 13"/>
          <p:cNvSpPr/>
          <p:nvPr/>
        </p:nvSpPr>
        <p:spPr>
          <a:xfrm>
            <a:off x="813816" y="4160520"/>
            <a:ext cx="3417722" cy="1828800"/>
          </a:xfrm>
          <a:prstGeom prst="roundRect">
            <a:avLst>
              <a:gd name="adj" fmla="val 5000"/>
            </a:avLst>
          </a:prstGeom>
          <a:solidFill>
            <a:srgbClr val="FBFCFB"/>
          </a:solidFill>
          <a:ln w="12700">
            <a:solidFill>
              <a:srgbClr val="D9E1DF"/>
            </a:solidFill>
            <a:prstDash val="solid"/>
          </a:ln>
        </p:spPr>
      </p:sp>
      <p:sp>
        <p:nvSpPr>
          <p:cNvPr id="16" name="Text 14"/>
          <p:cNvSpPr txBox="1"/>
          <p:nvPr/>
        </p:nvSpPr>
        <p:spPr>
          <a:xfrm>
            <a:off x="1088136" y="4416552"/>
            <a:ext cx="2869082" cy="365760"/>
          </a:xfrm>
          <a:prstGeom prst="rect">
            <a:avLst/>
          </a:prstGeom>
          <a:noFill/>
          <a:ln/>
        </p:spPr>
        <p:txBody>
          <a:bodyPr wrap="square" lIns="0" tIns="0" rIns="0" bIns="0" rtlCol="0" anchor="t"/>
          <a:lstStyle/>
          <a:p>
            <a:pPr indent="0" marL="0">
              <a:buNone/>
            </a:pPr>
            <a:r>
              <a:rPr lang="en-US" sz="1600" b="1" dirty="0">
                <a:solidFill>
                  <a:srgbClr val="14202B"/>
                </a:solidFill>
                <a:latin typeface="Calibri" pitchFamily="34" charset="0"/>
                <a:ea typeface="Calibri" pitchFamily="34" charset="-122"/>
                <a:cs typeface="Calibri" pitchFamily="34" charset="-120"/>
              </a:rPr>
              <a:t>Share of the daily limit</a:t>
            </a:r>
            <a:endParaRPr lang="en-US" sz="1600" dirty="0"/>
          </a:p>
        </p:txBody>
      </p:sp>
      <p:sp>
        <p:nvSpPr>
          <p:cNvPr id="17" name="Text 15"/>
          <p:cNvSpPr txBox="1"/>
          <p:nvPr/>
        </p:nvSpPr>
        <p:spPr>
          <a:xfrm>
            <a:off x="1088136" y="4846320"/>
            <a:ext cx="2869082" cy="1005840"/>
          </a:xfrm>
          <a:prstGeom prst="rect">
            <a:avLst/>
          </a:prstGeom>
          <a:noFill/>
          <a:ln/>
        </p:spPr>
        <p:txBody>
          <a:bodyPr wrap="square" lIns="0" tIns="0" rIns="0" bIns="0" rtlCol="0" anchor="t"/>
          <a:lstStyle/>
          <a:p>
            <a:pPr indent="0" marL="0">
              <a:buNone/>
            </a:pPr>
            <a:r>
              <a:rPr lang="en-US" sz="1300" dirty="0">
                <a:solidFill>
                  <a:srgbClr val="4A5A68"/>
                </a:solidFill>
                <a:latin typeface="Calibri" pitchFamily="34" charset="0"/>
                <a:ea typeface="Calibri" pitchFamily="34" charset="-122"/>
                <a:cs typeface="Calibri" pitchFamily="34" charset="-120"/>
              </a:rPr>
              <a:t>How much of today's WHO and NAAQS budget each group has already breathed in.</a:t>
            </a:r>
            <a:endParaRPr lang="en-US" sz="1300" dirty="0"/>
          </a:p>
        </p:txBody>
      </p:sp>
      <p:sp>
        <p:nvSpPr>
          <p:cNvPr id="18" name="Shape 16"/>
          <p:cNvSpPr/>
          <p:nvPr/>
        </p:nvSpPr>
        <p:spPr>
          <a:xfrm>
            <a:off x="4386986" y="4160520"/>
            <a:ext cx="3417722" cy="1828800"/>
          </a:xfrm>
          <a:prstGeom prst="roundRect">
            <a:avLst>
              <a:gd name="adj" fmla="val 5000"/>
            </a:avLst>
          </a:prstGeom>
          <a:solidFill>
            <a:srgbClr val="FBFCFB"/>
          </a:solidFill>
          <a:ln w="12700">
            <a:solidFill>
              <a:srgbClr val="D9E1DF"/>
            </a:solidFill>
            <a:prstDash val="solid"/>
          </a:ln>
        </p:spPr>
      </p:sp>
      <p:sp>
        <p:nvSpPr>
          <p:cNvPr id="19" name="Text 17"/>
          <p:cNvSpPr txBox="1"/>
          <p:nvPr/>
        </p:nvSpPr>
        <p:spPr>
          <a:xfrm>
            <a:off x="4661306" y="4416552"/>
            <a:ext cx="2869082" cy="365760"/>
          </a:xfrm>
          <a:prstGeom prst="rect">
            <a:avLst/>
          </a:prstGeom>
          <a:noFill/>
          <a:ln/>
        </p:spPr>
        <p:txBody>
          <a:bodyPr wrap="square" lIns="0" tIns="0" rIns="0" bIns="0" rtlCol="0" anchor="t"/>
          <a:lstStyle/>
          <a:p>
            <a:pPr indent="0" marL="0">
              <a:buNone/>
            </a:pPr>
            <a:r>
              <a:rPr lang="en-US" sz="1600" b="1" dirty="0">
                <a:solidFill>
                  <a:srgbClr val="14202B"/>
                </a:solidFill>
                <a:latin typeface="Calibri" pitchFamily="34" charset="0"/>
                <a:ea typeface="Calibri" pitchFamily="34" charset="-122"/>
                <a:cs typeface="Calibri" pitchFamily="34" charset="-120"/>
              </a:rPr>
              <a:t>Time to the limit</a:t>
            </a:r>
            <a:endParaRPr lang="en-US" sz="1600" dirty="0"/>
          </a:p>
        </p:txBody>
      </p:sp>
      <p:sp>
        <p:nvSpPr>
          <p:cNvPr id="20" name="Text 18"/>
          <p:cNvSpPr txBox="1"/>
          <p:nvPr/>
        </p:nvSpPr>
        <p:spPr>
          <a:xfrm>
            <a:off x="4661306" y="4846320"/>
            <a:ext cx="2869082" cy="1005840"/>
          </a:xfrm>
          <a:prstGeom prst="rect">
            <a:avLst/>
          </a:prstGeom>
          <a:noFill/>
          <a:ln/>
        </p:spPr>
        <p:txBody>
          <a:bodyPr wrap="square" lIns="0" tIns="0" rIns="0" bIns="0" rtlCol="0" anchor="t"/>
          <a:lstStyle/>
          <a:p>
            <a:pPr indent="0" marL="0">
              <a:buNone/>
            </a:pPr>
            <a:r>
              <a:rPr lang="en-US" sz="1300" dirty="0">
                <a:solidFill>
                  <a:srgbClr val="4A5A68"/>
                </a:solidFill>
                <a:latin typeface="Calibri" pitchFamily="34" charset="0"/>
                <a:ea typeface="Calibri" pitchFamily="34" charset="-122"/>
                <a:cs typeface="Calibri" pitchFamily="34" charset="-120"/>
              </a:rPr>
              <a:t>Minutes left before the WHO daily limit, at the current air.</a:t>
            </a:r>
            <a:endParaRPr lang="en-US" sz="1300" dirty="0"/>
          </a:p>
        </p:txBody>
      </p:sp>
      <p:sp>
        <p:nvSpPr>
          <p:cNvPr id="21" name="Shape 19"/>
          <p:cNvSpPr/>
          <p:nvPr/>
        </p:nvSpPr>
        <p:spPr>
          <a:xfrm>
            <a:off x="7960157" y="4160520"/>
            <a:ext cx="3417722" cy="1828800"/>
          </a:xfrm>
          <a:prstGeom prst="roundRect">
            <a:avLst>
              <a:gd name="adj" fmla="val 5000"/>
            </a:avLst>
          </a:prstGeom>
          <a:solidFill>
            <a:srgbClr val="FBFCFB"/>
          </a:solidFill>
          <a:ln w="12700">
            <a:solidFill>
              <a:srgbClr val="D9E1DF"/>
            </a:solidFill>
            <a:prstDash val="solid"/>
          </a:ln>
        </p:spPr>
      </p:sp>
      <p:sp>
        <p:nvSpPr>
          <p:cNvPr id="22" name="Text 20"/>
          <p:cNvSpPr txBox="1"/>
          <p:nvPr/>
        </p:nvSpPr>
        <p:spPr>
          <a:xfrm>
            <a:off x="8234477" y="4416552"/>
            <a:ext cx="2869082" cy="365760"/>
          </a:xfrm>
          <a:prstGeom prst="rect">
            <a:avLst/>
          </a:prstGeom>
          <a:noFill/>
          <a:ln/>
        </p:spPr>
        <p:txBody>
          <a:bodyPr wrap="square" lIns="0" tIns="0" rIns="0" bIns="0" rtlCol="0" anchor="t"/>
          <a:lstStyle/>
          <a:p>
            <a:pPr indent="0" marL="0">
              <a:buNone/>
            </a:pPr>
            <a:r>
              <a:rPr lang="en-US" sz="1600" b="1" dirty="0">
                <a:solidFill>
                  <a:srgbClr val="14202B"/>
                </a:solidFill>
                <a:latin typeface="Calibri" pitchFamily="34" charset="0"/>
                <a:ea typeface="Calibri" pitchFamily="34" charset="-122"/>
                <a:cs typeface="Calibri" pitchFamily="34" charset="-120"/>
              </a:rPr>
              <a:t>Plain advice</a:t>
            </a:r>
            <a:endParaRPr lang="en-US" sz="1600" dirty="0"/>
          </a:p>
        </p:txBody>
      </p:sp>
      <p:sp>
        <p:nvSpPr>
          <p:cNvPr id="23" name="Text 21"/>
          <p:cNvSpPr txBox="1"/>
          <p:nvPr/>
        </p:nvSpPr>
        <p:spPr>
          <a:xfrm>
            <a:off x="8234477" y="4846320"/>
            <a:ext cx="2869082" cy="1005840"/>
          </a:xfrm>
          <a:prstGeom prst="rect">
            <a:avLst/>
          </a:prstGeom>
          <a:noFill/>
          <a:ln/>
        </p:spPr>
        <p:txBody>
          <a:bodyPr wrap="square" lIns="0" tIns="0" rIns="0" bIns="0" rtlCol="0" anchor="t"/>
          <a:lstStyle/>
          <a:p>
            <a:pPr indent="0" marL="0">
              <a:buNone/>
            </a:pPr>
            <a:r>
              <a:rPr lang="en-US" sz="1300" dirty="0">
                <a:solidFill>
                  <a:srgbClr val="4A5A68"/>
                </a:solidFill>
                <a:latin typeface="Calibri" pitchFamily="34" charset="0"/>
                <a:ea typeface="Calibri" pitchFamily="34" charset="-122"/>
                <a:cs typeface="Calibri" pitchFamily="34" charset="-120"/>
              </a:rPr>
              <a:t>“Move children to coach B4, where the air is cleanest, and keep the window shut.”</a:t>
            </a:r>
            <a:endParaRPr lang="en-US" sz="1300" dirty="0"/>
          </a:p>
        </p:txBody>
      </p:sp>
      <p:sp>
        <p:nvSpPr>
          <p:cNvPr id="25" name="Slide Number Placeholder 0"/>
          <p:cNvSpPr>
            <a:spLocks noGrp="1"/>
          </p:cNvSpPr>
          <p:nvPr>
            <p:ph type="sldNum" sz="quarter" idx="4294967295"/>
          </p:nvPr>
        </p:nvSpPr>
        <p:spPr>
          <a:xfrm>
            <a:off x="10463479" y="6263640"/>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4A5A68"/>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813816" y="813816"/>
            <a:ext cx="10564063" cy="292608"/>
          </a:xfrm>
          <a:prstGeom prst="rect">
            <a:avLst/>
          </a:prstGeom>
          <a:noFill/>
          <a:ln/>
        </p:spPr>
        <p:txBody>
          <a:bodyPr wrap="square" lIns="0" tIns="0" rIns="0" bIns="0" rtlCol="0" anchor="t"/>
          <a:lstStyle/>
          <a:p>
            <a:pPr indent="0" marL="0">
              <a:buNone/>
            </a:pPr>
            <a:r>
              <a:rPr lang="en-US" sz="1200" spc="300" kern="0" dirty="0">
                <a:solidFill>
                  <a:srgbClr val="FFC2CC"/>
                </a:solidFill>
                <a:latin typeface="Consolas" pitchFamily="34" charset="0"/>
                <a:ea typeface="Consolas" pitchFamily="34" charset="-122"/>
                <a:cs typeface="Consolas" pitchFamily="34" charset="-120"/>
              </a:rPr>
              <a:t>08 · THE DAYS THE AQI GOES OFF THE CHART</a:t>
            </a:r>
            <a:endParaRPr lang="en-US" sz="1200" dirty="0"/>
          </a:p>
        </p:txBody>
      </p:sp>
      <p:sp>
        <p:nvSpPr>
          <p:cNvPr id="3" name="Text 0"/>
          <p:cNvSpPr/>
          <p:nvPr>
            <p:ph idx="100" type="title" hasCustomPrompt="1"/>
          </p:nvPr>
        </p:nvSpPr>
        <p:spPr>
          <a:xfrm>
            <a:off x="813816" y="1161288"/>
            <a:ext cx="10564063" cy="868680"/>
          </a:xfrm>
          <a:prstGeom prst="rect">
            <a:avLst/>
          </a:prstGeom>
          <a:noFill/>
          <a:ln/>
        </p:spPr>
        <p:txBody>
          <a:bodyPr wrap="square" lIns="0" tIns="0" rIns="0" bIns="0" rtlCol="0" anchor="t"/>
          <a:lstStyle/>
          <a:p>
            <a:pPr algn="l" indent="0" marL="0">
              <a:buNone/>
            </a:pPr>
            <a:r>
              <a:rPr lang="en-US" sz="4800" b="1" dirty="0">
                <a:solidFill>
                  <a:srgbClr val="FFF1F2"/>
                </a:solidFill>
                <a:latin typeface="Calibri" pitchFamily="34" charset="0"/>
                <a:ea typeface="Calibri" pitchFamily="34" charset="-122"/>
                <a:cs typeface="Calibri" pitchFamily="34" charset="-120"/>
              </a:rPr>
              <a:t>AQI 500 is not a ceiling</a:t>
            </a:r>
            <a:endParaRPr lang="en-US" sz="4800" dirty="0"/>
          </a:p>
        </p:txBody>
      </p:sp>
      <p:sp>
        <p:nvSpPr>
          <p:cNvPr id="4" name="Text 2"/>
          <p:cNvSpPr txBox="1"/>
          <p:nvPr/>
        </p:nvSpPr>
        <p:spPr>
          <a:xfrm>
            <a:off x="813816" y="2148840"/>
            <a:ext cx="3383280" cy="1737360"/>
          </a:xfrm>
          <a:prstGeom prst="rect">
            <a:avLst/>
          </a:prstGeom>
          <a:noFill/>
          <a:ln/>
        </p:spPr>
        <p:txBody>
          <a:bodyPr wrap="square" lIns="0" tIns="0" rIns="0" bIns="0" rtlCol="0" anchor="t"/>
          <a:lstStyle/>
          <a:p>
            <a:pPr indent="0" marL="0">
              <a:buNone/>
            </a:pPr>
            <a:r>
              <a:rPr lang="en-US" sz="12000" b="1" dirty="0">
                <a:solidFill>
                  <a:srgbClr val="FFF1F2"/>
                </a:solidFill>
                <a:latin typeface="Calibri" pitchFamily="34" charset="0"/>
                <a:ea typeface="Calibri" pitchFamily="34" charset="-122"/>
                <a:cs typeface="Calibri" pitchFamily="34" charset="-120"/>
              </a:rPr>
              <a:t>729</a:t>
            </a:r>
            <a:endParaRPr lang="en-US" sz="12000" dirty="0"/>
          </a:p>
        </p:txBody>
      </p:sp>
      <p:sp>
        <p:nvSpPr>
          <p:cNvPr id="5" name="Text 3"/>
          <p:cNvSpPr txBox="1"/>
          <p:nvPr/>
        </p:nvSpPr>
        <p:spPr>
          <a:xfrm>
            <a:off x="4379976" y="2697480"/>
            <a:ext cx="6217920" cy="914400"/>
          </a:xfrm>
          <a:prstGeom prst="rect">
            <a:avLst/>
          </a:prstGeom>
          <a:noFill/>
          <a:ln/>
        </p:spPr>
        <p:txBody>
          <a:bodyPr wrap="square" lIns="0" tIns="0" rIns="0" bIns="0" rtlCol="0" anchor="t"/>
          <a:lstStyle/>
          <a:p>
            <a:pPr indent="0" marL="0">
              <a:buNone/>
            </a:pPr>
            <a:r>
              <a:rPr lang="en-US" sz="1700" dirty="0">
                <a:solidFill>
                  <a:srgbClr val="FFD9DF"/>
                </a:solidFill>
                <a:latin typeface="Calibri" pitchFamily="34" charset="0"/>
                <a:ea typeface="Calibri" pitchFamily="34" charset="-122"/>
                <a:cs typeface="Calibri" pitchFamily="34" charset="-120"/>
              </a:rPr>
              <a:t>Peak cabin AQI in our bad-day run on AWS. We never clamp it at 500, because that is the day that matters most.</a:t>
            </a:r>
            <a:endParaRPr lang="en-US" sz="1700" dirty="0"/>
          </a:p>
        </p:txBody>
      </p:sp>
      <p:sp>
        <p:nvSpPr>
          <p:cNvPr id="6" name="Text 4"/>
          <p:cNvSpPr txBox="1"/>
          <p:nvPr/>
        </p:nvSpPr>
        <p:spPr>
          <a:xfrm>
            <a:off x="813816" y="4206240"/>
            <a:ext cx="4572000" cy="274320"/>
          </a:xfrm>
          <a:prstGeom prst="rect">
            <a:avLst/>
          </a:prstGeom>
          <a:noFill/>
          <a:ln/>
        </p:spPr>
        <p:txBody>
          <a:bodyPr wrap="square" lIns="0" tIns="0" rIns="0" bIns="0" rtlCol="0" anchor="t"/>
          <a:lstStyle/>
          <a:p>
            <a:pPr indent="0" marL="0">
              <a:buNone/>
            </a:pPr>
            <a:r>
              <a:rPr lang="en-US" sz="1200" spc="300" kern="0" dirty="0">
                <a:solidFill>
                  <a:srgbClr val="FFC2CC"/>
                </a:solidFill>
                <a:latin typeface="Consolas" pitchFamily="34" charset="0"/>
                <a:ea typeface="Consolas" pitchFamily="34" charset="-122"/>
                <a:cs typeface="Consolas" pitchFamily="34" charset="-120"/>
              </a:rPr>
              <a:t>CPCB AQI SCALE</a:t>
            </a:r>
            <a:endParaRPr lang="en-US" sz="1200" dirty="0"/>
          </a:p>
        </p:txBody>
      </p:sp>
      <p:sp>
        <p:nvSpPr>
          <p:cNvPr id="7" name="Shape 5"/>
          <p:cNvSpPr/>
          <p:nvPr/>
        </p:nvSpPr>
        <p:spPr>
          <a:xfrm>
            <a:off x="813816" y="4526280"/>
            <a:ext cx="1462126" cy="329184"/>
          </a:xfrm>
          <a:prstGeom prst="rect">
            <a:avLst/>
          </a:prstGeom>
          <a:solidFill>
            <a:srgbClr val="00B050"/>
          </a:solidFill>
          <a:ln w="9525">
            <a:solidFill>
              <a:srgbClr val="FFC2CC"/>
            </a:solidFill>
            <a:prstDash val="solid"/>
          </a:ln>
        </p:spPr>
      </p:sp>
      <p:sp>
        <p:nvSpPr>
          <p:cNvPr id="8" name="Text 6"/>
          <p:cNvSpPr txBox="1"/>
          <p:nvPr/>
        </p:nvSpPr>
        <p:spPr>
          <a:xfrm>
            <a:off x="813816" y="4937760"/>
            <a:ext cx="1462126" cy="457200"/>
          </a:xfrm>
          <a:prstGeom prst="rect">
            <a:avLst/>
          </a:prstGeom>
          <a:noFill/>
          <a:ln/>
        </p:spPr>
        <p:txBody>
          <a:bodyPr wrap="square" lIns="0" tIns="0" rIns="0" bIns="0" rtlCol="0" anchor="t"/>
          <a:lstStyle/>
          <a:p>
            <a:pPr indent="0" marL="0">
              <a:buNone/>
            </a:pPr>
            <a:r>
              <a:rPr lang="en-US" sz="1100" dirty="0">
                <a:solidFill>
                  <a:srgbClr val="FFD9DF"/>
                </a:solidFill>
                <a:latin typeface="Calibri" pitchFamily="34" charset="0"/>
                <a:ea typeface="Calibri" pitchFamily="34" charset="-122"/>
                <a:cs typeface="Calibri" pitchFamily="34" charset="-120"/>
              </a:rPr>
              <a:t>Good</a:t>
            </a:r>
            <a:endParaRPr lang="en-US" sz="1100" dirty="0"/>
          </a:p>
          <a:p>
            <a:pPr indent="0" marL="0">
              <a:buNone/>
            </a:pPr>
            <a:r>
              <a:rPr lang="en-US" sz="1100" dirty="0">
                <a:solidFill>
                  <a:srgbClr val="FFD9DF"/>
                </a:solidFill>
                <a:latin typeface="Calibri" pitchFamily="34" charset="0"/>
                <a:ea typeface="Calibri" pitchFamily="34" charset="-122"/>
                <a:cs typeface="Calibri" pitchFamily="34" charset="-120"/>
              </a:rPr>
              <a:t>0–50</a:t>
            </a:r>
            <a:endParaRPr lang="en-US" sz="1100" dirty="0"/>
          </a:p>
        </p:txBody>
      </p:sp>
      <p:sp>
        <p:nvSpPr>
          <p:cNvPr id="9" name="Shape 7"/>
          <p:cNvSpPr/>
          <p:nvPr/>
        </p:nvSpPr>
        <p:spPr>
          <a:xfrm>
            <a:off x="2330806" y="4526280"/>
            <a:ext cx="1462126" cy="329184"/>
          </a:xfrm>
          <a:prstGeom prst="rect">
            <a:avLst/>
          </a:prstGeom>
          <a:solidFill>
            <a:srgbClr val="92D050"/>
          </a:solidFill>
          <a:ln w="9525">
            <a:solidFill>
              <a:srgbClr val="FFC2CC"/>
            </a:solidFill>
            <a:prstDash val="solid"/>
          </a:ln>
        </p:spPr>
      </p:sp>
      <p:sp>
        <p:nvSpPr>
          <p:cNvPr id="10" name="Text 8"/>
          <p:cNvSpPr txBox="1"/>
          <p:nvPr/>
        </p:nvSpPr>
        <p:spPr>
          <a:xfrm>
            <a:off x="2330806" y="4937760"/>
            <a:ext cx="1462126" cy="457200"/>
          </a:xfrm>
          <a:prstGeom prst="rect">
            <a:avLst/>
          </a:prstGeom>
          <a:noFill/>
          <a:ln/>
        </p:spPr>
        <p:txBody>
          <a:bodyPr wrap="square" lIns="0" tIns="0" rIns="0" bIns="0" rtlCol="0" anchor="t"/>
          <a:lstStyle/>
          <a:p>
            <a:pPr indent="0" marL="0">
              <a:buNone/>
            </a:pPr>
            <a:r>
              <a:rPr lang="en-US" sz="1100" dirty="0">
                <a:solidFill>
                  <a:srgbClr val="FFD9DF"/>
                </a:solidFill>
                <a:latin typeface="Calibri" pitchFamily="34" charset="0"/>
                <a:ea typeface="Calibri" pitchFamily="34" charset="-122"/>
                <a:cs typeface="Calibri" pitchFamily="34" charset="-120"/>
              </a:rPr>
              <a:t>Satisfactory</a:t>
            </a:r>
            <a:endParaRPr lang="en-US" sz="1100" dirty="0"/>
          </a:p>
          <a:p>
            <a:pPr indent="0" marL="0">
              <a:buNone/>
            </a:pPr>
            <a:r>
              <a:rPr lang="en-US" sz="1100" dirty="0">
                <a:solidFill>
                  <a:srgbClr val="FFD9DF"/>
                </a:solidFill>
                <a:latin typeface="Calibri" pitchFamily="34" charset="0"/>
                <a:ea typeface="Calibri" pitchFamily="34" charset="-122"/>
                <a:cs typeface="Calibri" pitchFamily="34" charset="-120"/>
              </a:rPr>
              <a:t>51–100</a:t>
            </a:r>
            <a:endParaRPr lang="en-US" sz="1100" dirty="0"/>
          </a:p>
        </p:txBody>
      </p:sp>
      <p:sp>
        <p:nvSpPr>
          <p:cNvPr id="11" name="Shape 9"/>
          <p:cNvSpPr/>
          <p:nvPr/>
        </p:nvSpPr>
        <p:spPr>
          <a:xfrm>
            <a:off x="3847795" y="4526280"/>
            <a:ext cx="1462126" cy="329184"/>
          </a:xfrm>
          <a:prstGeom prst="rect">
            <a:avLst/>
          </a:prstGeom>
          <a:solidFill>
            <a:srgbClr val="FFD400"/>
          </a:solidFill>
          <a:ln w="9525">
            <a:solidFill>
              <a:srgbClr val="FFC2CC"/>
            </a:solidFill>
            <a:prstDash val="solid"/>
          </a:ln>
        </p:spPr>
      </p:sp>
      <p:sp>
        <p:nvSpPr>
          <p:cNvPr id="12" name="Text 10"/>
          <p:cNvSpPr txBox="1"/>
          <p:nvPr/>
        </p:nvSpPr>
        <p:spPr>
          <a:xfrm>
            <a:off x="3847795" y="4937760"/>
            <a:ext cx="1462126" cy="457200"/>
          </a:xfrm>
          <a:prstGeom prst="rect">
            <a:avLst/>
          </a:prstGeom>
          <a:noFill/>
          <a:ln/>
        </p:spPr>
        <p:txBody>
          <a:bodyPr wrap="square" lIns="0" tIns="0" rIns="0" bIns="0" rtlCol="0" anchor="t"/>
          <a:lstStyle/>
          <a:p>
            <a:pPr indent="0" marL="0">
              <a:buNone/>
            </a:pPr>
            <a:r>
              <a:rPr lang="en-US" sz="1100" dirty="0">
                <a:solidFill>
                  <a:srgbClr val="FFD9DF"/>
                </a:solidFill>
                <a:latin typeface="Calibri" pitchFamily="34" charset="0"/>
                <a:ea typeface="Calibri" pitchFamily="34" charset="-122"/>
                <a:cs typeface="Calibri" pitchFamily="34" charset="-120"/>
              </a:rPr>
              <a:t>Moderate</a:t>
            </a:r>
            <a:endParaRPr lang="en-US" sz="1100" dirty="0"/>
          </a:p>
          <a:p>
            <a:pPr indent="0" marL="0">
              <a:buNone/>
            </a:pPr>
            <a:r>
              <a:rPr lang="en-US" sz="1100" dirty="0">
                <a:solidFill>
                  <a:srgbClr val="FFD9DF"/>
                </a:solidFill>
                <a:latin typeface="Calibri" pitchFamily="34" charset="0"/>
                <a:ea typeface="Calibri" pitchFamily="34" charset="-122"/>
                <a:cs typeface="Calibri" pitchFamily="34" charset="-120"/>
              </a:rPr>
              <a:t>101–200</a:t>
            </a:r>
            <a:endParaRPr lang="en-US" sz="1100" dirty="0"/>
          </a:p>
        </p:txBody>
      </p:sp>
      <p:sp>
        <p:nvSpPr>
          <p:cNvPr id="13" name="Shape 11"/>
          <p:cNvSpPr/>
          <p:nvPr/>
        </p:nvSpPr>
        <p:spPr>
          <a:xfrm>
            <a:off x="5364785" y="4526280"/>
            <a:ext cx="1462126" cy="329184"/>
          </a:xfrm>
          <a:prstGeom prst="rect">
            <a:avLst/>
          </a:prstGeom>
          <a:solidFill>
            <a:srgbClr val="FF9900"/>
          </a:solidFill>
          <a:ln w="9525">
            <a:solidFill>
              <a:srgbClr val="FFC2CC"/>
            </a:solidFill>
            <a:prstDash val="solid"/>
          </a:ln>
        </p:spPr>
      </p:sp>
      <p:sp>
        <p:nvSpPr>
          <p:cNvPr id="14" name="Text 12"/>
          <p:cNvSpPr txBox="1"/>
          <p:nvPr/>
        </p:nvSpPr>
        <p:spPr>
          <a:xfrm>
            <a:off x="5364785" y="4937760"/>
            <a:ext cx="1462126" cy="457200"/>
          </a:xfrm>
          <a:prstGeom prst="rect">
            <a:avLst/>
          </a:prstGeom>
          <a:noFill/>
          <a:ln/>
        </p:spPr>
        <p:txBody>
          <a:bodyPr wrap="square" lIns="0" tIns="0" rIns="0" bIns="0" rtlCol="0" anchor="t"/>
          <a:lstStyle/>
          <a:p>
            <a:pPr indent="0" marL="0">
              <a:buNone/>
            </a:pPr>
            <a:r>
              <a:rPr lang="en-US" sz="1100" dirty="0">
                <a:solidFill>
                  <a:srgbClr val="FFD9DF"/>
                </a:solidFill>
                <a:latin typeface="Calibri" pitchFamily="34" charset="0"/>
                <a:ea typeface="Calibri" pitchFamily="34" charset="-122"/>
                <a:cs typeface="Calibri" pitchFamily="34" charset="-120"/>
              </a:rPr>
              <a:t>Poor</a:t>
            </a:r>
            <a:endParaRPr lang="en-US" sz="1100" dirty="0"/>
          </a:p>
          <a:p>
            <a:pPr indent="0" marL="0">
              <a:buNone/>
            </a:pPr>
            <a:r>
              <a:rPr lang="en-US" sz="1100" dirty="0">
                <a:solidFill>
                  <a:srgbClr val="FFD9DF"/>
                </a:solidFill>
                <a:latin typeface="Calibri" pitchFamily="34" charset="0"/>
                <a:ea typeface="Calibri" pitchFamily="34" charset="-122"/>
                <a:cs typeface="Calibri" pitchFamily="34" charset="-120"/>
              </a:rPr>
              <a:t>201–300</a:t>
            </a:r>
            <a:endParaRPr lang="en-US" sz="1100" dirty="0"/>
          </a:p>
        </p:txBody>
      </p:sp>
      <p:sp>
        <p:nvSpPr>
          <p:cNvPr id="15" name="Shape 13"/>
          <p:cNvSpPr/>
          <p:nvPr/>
        </p:nvSpPr>
        <p:spPr>
          <a:xfrm>
            <a:off x="6881774" y="4526280"/>
            <a:ext cx="1462126" cy="329184"/>
          </a:xfrm>
          <a:prstGeom prst="rect">
            <a:avLst/>
          </a:prstGeom>
          <a:solidFill>
            <a:srgbClr val="E5322D"/>
          </a:solidFill>
          <a:ln w="9525">
            <a:solidFill>
              <a:srgbClr val="FFC2CC"/>
            </a:solidFill>
            <a:prstDash val="solid"/>
          </a:ln>
        </p:spPr>
      </p:sp>
      <p:sp>
        <p:nvSpPr>
          <p:cNvPr id="16" name="Text 14"/>
          <p:cNvSpPr txBox="1"/>
          <p:nvPr/>
        </p:nvSpPr>
        <p:spPr>
          <a:xfrm>
            <a:off x="6881774" y="4937760"/>
            <a:ext cx="1462126" cy="457200"/>
          </a:xfrm>
          <a:prstGeom prst="rect">
            <a:avLst/>
          </a:prstGeom>
          <a:noFill/>
          <a:ln/>
        </p:spPr>
        <p:txBody>
          <a:bodyPr wrap="square" lIns="0" tIns="0" rIns="0" bIns="0" rtlCol="0" anchor="t"/>
          <a:lstStyle/>
          <a:p>
            <a:pPr indent="0" marL="0">
              <a:buNone/>
            </a:pPr>
            <a:r>
              <a:rPr lang="en-US" sz="1100" dirty="0">
                <a:solidFill>
                  <a:srgbClr val="FFD9DF"/>
                </a:solidFill>
                <a:latin typeface="Calibri" pitchFamily="34" charset="0"/>
                <a:ea typeface="Calibri" pitchFamily="34" charset="-122"/>
                <a:cs typeface="Calibri" pitchFamily="34" charset="-120"/>
              </a:rPr>
              <a:t>Very poor</a:t>
            </a:r>
            <a:endParaRPr lang="en-US" sz="1100" dirty="0"/>
          </a:p>
          <a:p>
            <a:pPr indent="0" marL="0">
              <a:buNone/>
            </a:pPr>
            <a:r>
              <a:rPr lang="en-US" sz="1100" dirty="0">
                <a:solidFill>
                  <a:srgbClr val="FFD9DF"/>
                </a:solidFill>
                <a:latin typeface="Calibri" pitchFamily="34" charset="0"/>
                <a:ea typeface="Calibri" pitchFamily="34" charset="-122"/>
                <a:cs typeface="Calibri" pitchFamily="34" charset="-120"/>
              </a:rPr>
              <a:t>301–400</a:t>
            </a:r>
            <a:endParaRPr lang="en-US" sz="1100" dirty="0"/>
          </a:p>
        </p:txBody>
      </p:sp>
      <p:sp>
        <p:nvSpPr>
          <p:cNvPr id="17" name="Shape 15"/>
          <p:cNvSpPr/>
          <p:nvPr/>
        </p:nvSpPr>
        <p:spPr>
          <a:xfrm>
            <a:off x="8398764" y="4526280"/>
            <a:ext cx="1462126" cy="329184"/>
          </a:xfrm>
          <a:prstGeom prst="rect">
            <a:avLst/>
          </a:prstGeom>
          <a:solidFill>
            <a:srgbClr val="7E0023"/>
          </a:solidFill>
          <a:ln w="9525">
            <a:solidFill>
              <a:srgbClr val="FFC2CC"/>
            </a:solidFill>
            <a:prstDash val="solid"/>
          </a:ln>
        </p:spPr>
      </p:sp>
      <p:sp>
        <p:nvSpPr>
          <p:cNvPr id="18" name="Text 16"/>
          <p:cNvSpPr txBox="1"/>
          <p:nvPr/>
        </p:nvSpPr>
        <p:spPr>
          <a:xfrm>
            <a:off x="8398764" y="4937760"/>
            <a:ext cx="1462126" cy="457200"/>
          </a:xfrm>
          <a:prstGeom prst="rect">
            <a:avLst/>
          </a:prstGeom>
          <a:noFill/>
          <a:ln/>
        </p:spPr>
        <p:txBody>
          <a:bodyPr wrap="square" lIns="0" tIns="0" rIns="0" bIns="0" rtlCol="0" anchor="t"/>
          <a:lstStyle/>
          <a:p>
            <a:pPr indent="0" marL="0">
              <a:buNone/>
            </a:pPr>
            <a:r>
              <a:rPr lang="en-US" sz="1100" dirty="0">
                <a:solidFill>
                  <a:srgbClr val="FFD9DF"/>
                </a:solidFill>
                <a:latin typeface="Calibri" pitchFamily="34" charset="0"/>
                <a:ea typeface="Calibri" pitchFamily="34" charset="-122"/>
                <a:cs typeface="Calibri" pitchFamily="34" charset="-120"/>
              </a:rPr>
              <a:t>Severe</a:t>
            </a:r>
            <a:endParaRPr lang="en-US" sz="1100" dirty="0"/>
          </a:p>
          <a:p>
            <a:pPr indent="0" marL="0">
              <a:buNone/>
            </a:pPr>
            <a:r>
              <a:rPr lang="en-US" sz="1100" dirty="0">
                <a:solidFill>
                  <a:srgbClr val="FFD9DF"/>
                </a:solidFill>
                <a:latin typeface="Calibri" pitchFamily="34" charset="0"/>
                <a:ea typeface="Calibri" pitchFamily="34" charset="-122"/>
                <a:cs typeface="Calibri" pitchFamily="34" charset="-120"/>
              </a:rPr>
              <a:t>401–500</a:t>
            </a:r>
            <a:endParaRPr lang="en-US" sz="1100" dirty="0"/>
          </a:p>
        </p:txBody>
      </p:sp>
      <p:sp>
        <p:nvSpPr>
          <p:cNvPr id="19" name="Shape 17"/>
          <p:cNvSpPr/>
          <p:nvPr/>
        </p:nvSpPr>
        <p:spPr>
          <a:xfrm>
            <a:off x="9915754" y="4526280"/>
            <a:ext cx="1462126" cy="329184"/>
          </a:xfrm>
          <a:prstGeom prst="rect">
            <a:avLst/>
          </a:prstGeom>
          <a:solidFill>
            <a:srgbClr val="3D0011"/>
          </a:solidFill>
          <a:ln w="19050">
            <a:solidFill>
              <a:srgbClr val="FFF1F2"/>
            </a:solidFill>
            <a:prstDash val="dash"/>
          </a:ln>
        </p:spPr>
      </p:sp>
      <p:sp>
        <p:nvSpPr>
          <p:cNvPr id="20" name="Text 18"/>
          <p:cNvSpPr txBox="1"/>
          <p:nvPr/>
        </p:nvSpPr>
        <p:spPr>
          <a:xfrm>
            <a:off x="9915754" y="4937760"/>
            <a:ext cx="1462126" cy="457200"/>
          </a:xfrm>
          <a:prstGeom prst="rect">
            <a:avLst/>
          </a:prstGeom>
          <a:noFill/>
          <a:ln/>
        </p:spPr>
        <p:txBody>
          <a:bodyPr wrap="square" lIns="0" tIns="0" rIns="0" bIns="0" rtlCol="0" anchor="t"/>
          <a:lstStyle/>
          <a:p>
            <a:pPr indent="0" marL="0">
              <a:buNone/>
            </a:pPr>
            <a:r>
              <a:rPr lang="en-US" sz="1100" b="1" dirty="0">
                <a:solidFill>
                  <a:srgbClr val="FFF1F2"/>
                </a:solidFill>
                <a:latin typeface="Calibri" pitchFamily="34" charset="0"/>
                <a:ea typeface="Calibri" pitchFamily="34" charset="-122"/>
                <a:cs typeface="Calibri" pitchFamily="34" charset="-120"/>
              </a:rPr>
              <a:t>Off the chart</a:t>
            </a:r>
            <a:endParaRPr lang="en-US" sz="1100" dirty="0"/>
          </a:p>
          <a:p>
            <a:pPr indent="0" marL="0">
              <a:buNone/>
            </a:pPr>
            <a:r>
              <a:rPr lang="en-US" sz="1100" b="1" dirty="0">
                <a:solidFill>
                  <a:srgbClr val="FFF1F2"/>
                </a:solidFill>
                <a:latin typeface="Calibri" pitchFamily="34" charset="0"/>
                <a:ea typeface="Calibri" pitchFamily="34" charset="-122"/>
                <a:cs typeface="Calibri" pitchFamily="34" charset="-120"/>
              </a:rPr>
              <a:t>500+</a:t>
            </a:r>
            <a:endParaRPr lang="en-US" sz="1100" dirty="0"/>
          </a:p>
        </p:txBody>
      </p:sp>
      <p:sp>
        <p:nvSpPr>
          <p:cNvPr id="25" name="Slide Number Placeholder 0"/>
          <p:cNvSpPr>
            <a:spLocks noGrp="1"/>
          </p:cNvSpPr>
          <p:nvPr>
            <p:ph type="sldNum" sz="quarter" idx="4294967295"/>
          </p:nvPr>
        </p:nvSpPr>
        <p:spPr>
          <a:xfrm>
            <a:off x="10463479" y="6263640"/>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C2CC"/>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813816" y="813816"/>
            <a:ext cx="10564063" cy="292608"/>
          </a:xfrm>
          <a:prstGeom prst="rect">
            <a:avLst/>
          </a:prstGeom>
          <a:noFill/>
          <a:ln/>
        </p:spPr>
        <p:txBody>
          <a:bodyPr wrap="square" lIns="0" tIns="0" rIns="0" bIns="0" rtlCol="0" anchor="t"/>
          <a:lstStyle/>
          <a:p>
            <a:pPr indent="0" marL="0">
              <a:buNone/>
            </a:pPr>
            <a:r>
              <a:rPr lang="en-US" sz="1200" spc="300" kern="0" dirty="0">
                <a:solidFill>
                  <a:srgbClr val="5EEAD4"/>
                </a:solidFill>
                <a:latin typeface="Consolas" pitchFamily="34" charset="0"/>
                <a:ea typeface="Consolas" pitchFamily="34" charset="-122"/>
                <a:cs typeface="Consolas" pitchFamily="34" charset="-120"/>
              </a:rPr>
              <a:t>09 · CHANGE WHAT HAPPENS ON BAD DAYS</a:t>
            </a:r>
            <a:endParaRPr lang="en-US" sz="1200" dirty="0"/>
          </a:p>
        </p:txBody>
      </p:sp>
      <p:sp>
        <p:nvSpPr>
          <p:cNvPr id="3" name="Text 0"/>
          <p:cNvSpPr/>
          <p:nvPr>
            <p:ph idx="100" type="title" hasCustomPrompt="1"/>
          </p:nvPr>
        </p:nvSpPr>
        <p:spPr>
          <a:xfrm>
            <a:off x="813816" y="1161288"/>
            <a:ext cx="10564063" cy="1188720"/>
          </a:xfrm>
          <a:prstGeom prst="rect">
            <a:avLst/>
          </a:prstGeom>
          <a:noFill/>
          <a:ln/>
        </p:spPr>
        <p:txBody>
          <a:bodyPr wrap="square" lIns="0" tIns="0" rIns="0" bIns="0" rtlCol="0" anchor="t"/>
          <a:lstStyle/>
          <a:p>
            <a:pPr algn="l" indent="0" marL="0">
              <a:buNone/>
            </a:pPr>
            <a:r>
              <a:rPr lang="en-US" sz="3600" b="1" dirty="0">
                <a:solidFill>
                  <a:srgbClr val="E8EEF2"/>
                </a:solidFill>
                <a:latin typeface="Calibri" pitchFamily="34" charset="0"/>
                <a:ea typeface="Calibri" pitchFamily="34" charset="-122"/>
                <a:cs typeface="Calibri" pitchFamily="34" charset="-120"/>
              </a:rPr>
              <a:t>Bad days get a playbook</a:t>
            </a:r>
            <a:endParaRPr lang="en-US" sz="3600" dirty="0"/>
          </a:p>
        </p:txBody>
      </p:sp>
      <p:sp>
        <p:nvSpPr>
          <p:cNvPr id="4" name="Text 2"/>
          <p:cNvSpPr txBox="1"/>
          <p:nvPr/>
        </p:nvSpPr>
        <p:spPr>
          <a:xfrm>
            <a:off x="813816" y="2560320"/>
            <a:ext cx="411480" cy="274320"/>
          </a:xfrm>
          <a:prstGeom prst="rect">
            <a:avLst/>
          </a:prstGeom>
          <a:noFill/>
          <a:ln/>
        </p:spPr>
        <p:txBody>
          <a:bodyPr wrap="square" lIns="0" tIns="0" rIns="0" bIns="0" rtlCol="0" anchor="t"/>
          <a:lstStyle/>
          <a:p>
            <a:pPr indent="0" marL="0">
              <a:buNone/>
            </a:pPr>
            <a:r>
              <a:rPr lang="en-US" sz="1200" dirty="0">
                <a:solidFill>
                  <a:srgbClr val="5EEAD4"/>
                </a:solidFill>
                <a:latin typeface="Consolas" pitchFamily="34" charset="0"/>
                <a:ea typeface="Consolas" pitchFamily="34" charset="-122"/>
                <a:cs typeface="Consolas" pitchFamily="34" charset="-120"/>
              </a:rPr>
              <a:t>01</a:t>
            </a:r>
            <a:endParaRPr lang="en-US" sz="1200" dirty="0"/>
          </a:p>
        </p:txBody>
      </p:sp>
      <p:sp>
        <p:nvSpPr>
          <p:cNvPr id="5" name="Text 3"/>
          <p:cNvSpPr txBox="1"/>
          <p:nvPr/>
        </p:nvSpPr>
        <p:spPr>
          <a:xfrm>
            <a:off x="1316736" y="2514600"/>
            <a:ext cx="3749040" cy="365760"/>
          </a:xfrm>
          <a:prstGeom prst="rect">
            <a:avLst/>
          </a:prstGeom>
          <a:noFill/>
          <a:ln/>
        </p:spPr>
        <p:txBody>
          <a:bodyPr wrap="square" lIns="0" tIns="0" rIns="0" bIns="0" rtlCol="0" anchor="t"/>
          <a:lstStyle/>
          <a:p>
            <a:pPr indent="0" marL="0">
              <a:buNone/>
            </a:pPr>
            <a:r>
              <a:rPr lang="en-US" sz="1500" dirty="0">
                <a:solidFill>
                  <a:srgbClr val="E8EEF2"/>
                </a:solidFill>
                <a:latin typeface="Calibri" pitchFamily="34" charset="0"/>
                <a:ea typeface="Calibri" pitchFamily="34" charset="-122"/>
                <a:cs typeface="Calibri" pitchFamily="34" charset="-120"/>
              </a:rPr>
              <a:t>AqiOffTheChart reaches EventBridge</a:t>
            </a:r>
            <a:endParaRPr lang="en-US" sz="1500" dirty="0"/>
          </a:p>
        </p:txBody>
      </p:sp>
      <p:sp>
        <p:nvSpPr>
          <p:cNvPr id="6" name="Text 4"/>
          <p:cNvSpPr txBox="1"/>
          <p:nvPr/>
        </p:nvSpPr>
        <p:spPr>
          <a:xfrm>
            <a:off x="813816" y="2999232"/>
            <a:ext cx="411480" cy="274320"/>
          </a:xfrm>
          <a:prstGeom prst="rect">
            <a:avLst/>
          </a:prstGeom>
          <a:noFill/>
          <a:ln/>
        </p:spPr>
        <p:txBody>
          <a:bodyPr wrap="square" lIns="0" tIns="0" rIns="0" bIns="0" rtlCol="0" anchor="t"/>
          <a:lstStyle/>
          <a:p>
            <a:pPr indent="0" marL="0">
              <a:buNone/>
            </a:pPr>
            <a:r>
              <a:rPr lang="en-US" sz="1200" dirty="0">
                <a:solidFill>
                  <a:srgbClr val="5EEAD4"/>
                </a:solidFill>
                <a:latin typeface="Consolas" pitchFamily="34" charset="0"/>
                <a:ea typeface="Consolas" pitchFamily="34" charset="-122"/>
                <a:cs typeface="Consolas" pitchFamily="34" charset="-120"/>
              </a:rPr>
              <a:t>02</a:t>
            </a:r>
            <a:endParaRPr lang="en-US" sz="1200" dirty="0"/>
          </a:p>
        </p:txBody>
      </p:sp>
      <p:sp>
        <p:nvSpPr>
          <p:cNvPr id="7" name="Text 5"/>
          <p:cNvSpPr txBox="1"/>
          <p:nvPr/>
        </p:nvSpPr>
        <p:spPr>
          <a:xfrm>
            <a:off x="1316736" y="2953512"/>
            <a:ext cx="3749040" cy="365760"/>
          </a:xfrm>
          <a:prstGeom prst="rect">
            <a:avLst/>
          </a:prstGeom>
          <a:noFill/>
          <a:ln/>
        </p:spPr>
        <p:txBody>
          <a:bodyPr wrap="square" lIns="0" tIns="0" rIns="0" bIns="0" rtlCol="0" anchor="t"/>
          <a:lstStyle/>
          <a:p>
            <a:pPr indent="0" marL="0">
              <a:buNone/>
            </a:pPr>
            <a:r>
              <a:rPr lang="en-US" sz="1500" dirty="0">
                <a:solidFill>
                  <a:srgbClr val="E8EEF2"/>
                </a:solidFill>
                <a:latin typeface="Calibri" pitchFamily="34" charset="0"/>
                <a:ea typeface="Calibri" pitchFamily="34" charset="-122"/>
                <a:cs typeface="Calibri" pitchFamily="34" charset="-120"/>
              </a:rPr>
              <a:t>Ventilation boost, interlock checked</a:t>
            </a:r>
            <a:endParaRPr lang="en-US" sz="1500" dirty="0"/>
          </a:p>
        </p:txBody>
      </p:sp>
      <p:sp>
        <p:nvSpPr>
          <p:cNvPr id="8" name="Text 6"/>
          <p:cNvSpPr txBox="1"/>
          <p:nvPr/>
        </p:nvSpPr>
        <p:spPr>
          <a:xfrm>
            <a:off x="813816" y="3438144"/>
            <a:ext cx="411480" cy="274320"/>
          </a:xfrm>
          <a:prstGeom prst="rect">
            <a:avLst/>
          </a:prstGeom>
          <a:noFill/>
          <a:ln/>
        </p:spPr>
        <p:txBody>
          <a:bodyPr wrap="square" lIns="0" tIns="0" rIns="0" bIns="0" rtlCol="0" anchor="t"/>
          <a:lstStyle/>
          <a:p>
            <a:pPr indent="0" marL="0">
              <a:buNone/>
            </a:pPr>
            <a:r>
              <a:rPr lang="en-US" sz="1200" dirty="0">
                <a:solidFill>
                  <a:srgbClr val="5EEAD4"/>
                </a:solidFill>
                <a:latin typeface="Consolas" pitchFamily="34" charset="0"/>
                <a:ea typeface="Consolas" pitchFamily="34" charset="-122"/>
                <a:cs typeface="Consolas" pitchFamily="34" charset="-120"/>
              </a:rPr>
              <a:t>03</a:t>
            </a:r>
            <a:endParaRPr lang="en-US" sz="1200" dirty="0"/>
          </a:p>
        </p:txBody>
      </p:sp>
      <p:sp>
        <p:nvSpPr>
          <p:cNvPr id="9" name="Text 7"/>
          <p:cNvSpPr txBox="1"/>
          <p:nvPr/>
        </p:nvSpPr>
        <p:spPr>
          <a:xfrm>
            <a:off x="1316736" y="3392424"/>
            <a:ext cx="3749040" cy="365760"/>
          </a:xfrm>
          <a:prstGeom prst="rect">
            <a:avLst/>
          </a:prstGeom>
          <a:noFill/>
          <a:ln/>
        </p:spPr>
        <p:txBody>
          <a:bodyPr wrap="square" lIns="0" tIns="0" rIns="0" bIns="0" rtlCol="0" anchor="t"/>
          <a:lstStyle/>
          <a:p>
            <a:pPr indent="0" marL="0">
              <a:buNone/>
            </a:pPr>
            <a:r>
              <a:rPr lang="en-US" sz="1500" dirty="0">
                <a:solidFill>
                  <a:srgbClr val="E8EEF2"/>
                </a:solidFill>
                <a:latin typeface="Calibri" pitchFamily="34" charset="0"/>
                <a:ea typeface="Calibri" pitchFamily="34" charset="-122"/>
                <a:cs typeface="Calibri" pitchFamily="34" charset="-120"/>
              </a:rPr>
              <a:t>Announcement in English and Hindi</a:t>
            </a:r>
            <a:endParaRPr lang="en-US" sz="1500" dirty="0"/>
          </a:p>
        </p:txBody>
      </p:sp>
      <p:sp>
        <p:nvSpPr>
          <p:cNvPr id="10" name="Text 8"/>
          <p:cNvSpPr txBox="1"/>
          <p:nvPr/>
        </p:nvSpPr>
        <p:spPr>
          <a:xfrm>
            <a:off x="813816" y="3877056"/>
            <a:ext cx="411480" cy="274320"/>
          </a:xfrm>
          <a:prstGeom prst="rect">
            <a:avLst/>
          </a:prstGeom>
          <a:noFill/>
          <a:ln/>
        </p:spPr>
        <p:txBody>
          <a:bodyPr wrap="square" lIns="0" tIns="0" rIns="0" bIns="0" rtlCol="0" anchor="t"/>
          <a:lstStyle/>
          <a:p>
            <a:pPr indent="0" marL="0">
              <a:buNone/>
            </a:pPr>
            <a:r>
              <a:rPr lang="en-US" sz="1200" dirty="0">
                <a:solidFill>
                  <a:srgbClr val="5EEAD4"/>
                </a:solidFill>
                <a:latin typeface="Consolas" pitchFamily="34" charset="0"/>
                <a:ea typeface="Consolas" pitchFamily="34" charset="-122"/>
                <a:cs typeface="Consolas" pitchFamily="34" charset="-120"/>
              </a:rPr>
              <a:t>04</a:t>
            </a:r>
            <a:endParaRPr lang="en-US" sz="1200" dirty="0"/>
          </a:p>
        </p:txBody>
      </p:sp>
      <p:sp>
        <p:nvSpPr>
          <p:cNvPr id="11" name="Text 9"/>
          <p:cNvSpPr txBox="1"/>
          <p:nvPr/>
        </p:nvSpPr>
        <p:spPr>
          <a:xfrm>
            <a:off x="1316736" y="3831336"/>
            <a:ext cx="3749040" cy="365760"/>
          </a:xfrm>
          <a:prstGeom prst="rect">
            <a:avLst/>
          </a:prstGeom>
          <a:noFill/>
          <a:ln/>
        </p:spPr>
        <p:txBody>
          <a:bodyPr wrap="square" lIns="0" tIns="0" rIns="0" bIns="0" rtlCol="0" anchor="t"/>
          <a:lstStyle/>
          <a:p>
            <a:pPr indent="0" marL="0">
              <a:buNone/>
            </a:pPr>
            <a:r>
              <a:rPr lang="en-US" sz="1500" dirty="0">
                <a:solidFill>
                  <a:srgbClr val="E8EEF2"/>
                </a:solidFill>
                <a:latin typeface="Calibri" pitchFamily="34" charset="0"/>
                <a:ea typeface="Calibri" pitchFamily="34" charset="-122"/>
                <a:cs typeface="Calibri" pitchFamily="34" charset="-120"/>
              </a:rPr>
              <a:t>Read aloud by Amazon Polly</a:t>
            </a:r>
            <a:endParaRPr lang="en-US" sz="1500" dirty="0"/>
          </a:p>
        </p:txBody>
      </p:sp>
      <p:sp>
        <p:nvSpPr>
          <p:cNvPr id="12" name="Text 10"/>
          <p:cNvSpPr txBox="1"/>
          <p:nvPr/>
        </p:nvSpPr>
        <p:spPr>
          <a:xfrm>
            <a:off x="813816" y="4315968"/>
            <a:ext cx="411480" cy="274320"/>
          </a:xfrm>
          <a:prstGeom prst="rect">
            <a:avLst/>
          </a:prstGeom>
          <a:noFill/>
          <a:ln/>
        </p:spPr>
        <p:txBody>
          <a:bodyPr wrap="square" lIns="0" tIns="0" rIns="0" bIns="0" rtlCol="0" anchor="t"/>
          <a:lstStyle/>
          <a:p>
            <a:pPr indent="0" marL="0">
              <a:buNone/>
            </a:pPr>
            <a:r>
              <a:rPr lang="en-US" sz="1200" dirty="0">
                <a:solidFill>
                  <a:srgbClr val="5EEAD4"/>
                </a:solidFill>
                <a:latin typeface="Consolas" pitchFamily="34" charset="0"/>
                <a:ea typeface="Consolas" pitchFamily="34" charset="-122"/>
                <a:cs typeface="Consolas" pitchFamily="34" charset="-120"/>
              </a:rPr>
              <a:t>05</a:t>
            </a:r>
            <a:endParaRPr lang="en-US" sz="1200" dirty="0"/>
          </a:p>
        </p:txBody>
      </p:sp>
      <p:sp>
        <p:nvSpPr>
          <p:cNvPr id="13" name="Text 11"/>
          <p:cNvSpPr txBox="1"/>
          <p:nvPr/>
        </p:nvSpPr>
        <p:spPr>
          <a:xfrm>
            <a:off x="1316736" y="4270248"/>
            <a:ext cx="3749040" cy="365760"/>
          </a:xfrm>
          <a:prstGeom prst="rect">
            <a:avLst/>
          </a:prstGeom>
          <a:noFill/>
          <a:ln/>
        </p:spPr>
        <p:txBody>
          <a:bodyPr wrap="square" lIns="0" tIns="0" rIns="0" bIns="0" rtlCol="0" anchor="t"/>
          <a:lstStyle/>
          <a:p>
            <a:pPr indent="0" marL="0">
              <a:buNone/>
            </a:pPr>
            <a:r>
              <a:rPr lang="en-US" sz="1500" dirty="0">
                <a:solidFill>
                  <a:srgbClr val="E8EEF2"/>
                </a:solidFill>
                <a:latin typeface="Calibri" pitchFamily="34" charset="0"/>
                <a:ea typeface="Calibri" pitchFamily="34" charset="-122"/>
                <a:cs typeface="Calibri" pitchFamily="34" charset="-120"/>
              </a:rPr>
              <a:t>Staff alerted through Amazon SNS</a:t>
            </a:r>
            <a:endParaRPr lang="en-US" sz="1500" dirty="0"/>
          </a:p>
        </p:txBody>
      </p:sp>
      <p:sp>
        <p:nvSpPr>
          <p:cNvPr id="14" name="Text 12"/>
          <p:cNvSpPr txBox="1"/>
          <p:nvPr/>
        </p:nvSpPr>
        <p:spPr>
          <a:xfrm>
            <a:off x="813816" y="4754880"/>
            <a:ext cx="411480" cy="274320"/>
          </a:xfrm>
          <a:prstGeom prst="rect">
            <a:avLst/>
          </a:prstGeom>
          <a:noFill/>
          <a:ln/>
        </p:spPr>
        <p:txBody>
          <a:bodyPr wrap="square" lIns="0" tIns="0" rIns="0" bIns="0" rtlCol="0" anchor="t"/>
          <a:lstStyle/>
          <a:p>
            <a:pPr indent="0" marL="0">
              <a:buNone/>
            </a:pPr>
            <a:r>
              <a:rPr lang="en-US" sz="1200" dirty="0">
                <a:solidFill>
                  <a:srgbClr val="5EEAD4"/>
                </a:solidFill>
                <a:latin typeface="Consolas" pitchFamily="34" charset="0"/>
                <a:ea typeface="Consolas" pitchFamily="34" charset="-122"/>
                <a:cs typeface="Consolas" pitchFamily="34" charset="-120"/>
              </a:rPr>
              <a:t>06</a:t>
            </a:r>
            <a:endParaRPr lang="en-US" sz="1200" dirty="0"/>
          </a:p>
        </p:txBody>
      </p:sp>
      <p:sp>
        <p:nvSpPr>
          <p:cNvPr id="15" name="Text 13"/>
          <p:cNvSpPr txBox="1"/>
          <p:nvPr/>
        </p:nvSpPr>
        <p:spPr>
          <a:xfrm>
            <a:off x="1316736" y="4709160"/>
            <a:ext cx="3749040" cy="365760"/>
          </a:xfrm>
          <a:prstGeom prst="rect">
            <a:avLst/>
          </a:prstGeom>
          <a:noFill/>
          <a:ln/>
        </p:spPr>
        <p:txBody>
          <a:bodyPr wrap="square" lIns="0" tIns="0" rIns="0" bIns="0" rtlCol="0" anchor="t"/>
          <a:lstStyle/>
          <a:p>
            <a:pPr indent="0" marL="0">
              <a:buNone/>
            </a:pPr>
            <a:r>
              <a:rPr lang="en-US" sz="1500" dirty="0">
                <a:solidFill>
                  <a:srgbClr val="E8EEF2"/>
                </a:solidFill>
                <a:latin typeface="Calibri" pitchFamily="34" charset="0"/>
                <a:ea typeface="Calibri" pitchFamily="34" charset="-122"/>
                <a:cs typeface="Calibri" pitchFamily="34" charset="-120"/>
              </a:rPr>
              <a:t>Move to the cleanest coach</a:t>
            </a:r>
            <a:endParaRPr lang="en-US" sz="1500" dirty="0"/>
          </a:p>
        </p:txBody>
      </p:sp>
      <p:sp>
        <p:nvSpPr>
          <p:cNvPr id="16" name="Text 14"/>
          <p:cNvSpPr txBox="1"/>
          <p:nvPr/>
        </p:nvSpPr>
        <p:spPr>
          <a:xfrm>
            <a:off x="813816" y="5193792"/>
            <a:ext cx="411480" cy="274320"/>
          </a:xfrm>
          <a:prstGeom prst="rect">
            <a:avLst/>
          </a:prstGeom>
          <a:noFill/>
          <a:ln/>
        </p:spPr>
        <p:txBody>
          <a:bodyPr wrap="square" lIns="0" tIns="0" rIns="0" bIns="0" rtlCol="0" anchor="t"/>
          <a:lstStyle/>
          <a:p>
            <a:pPr indent="0" marL="0">
              <a:buNone/>
            </a:pPr>
            <a:r>
              <a:rPr lang="en-US" sz="1200" dirty="0">
                <a:solidFill>
                  <a:srgbClr val="5EEAD4"/>
                </a:solidFill>
                <a:latin typeface="Consolas" pitchFamily="34" charset="0"/>
                <a:ea typeface="Consolas" pitchFamily="34" charset="-122"/>
                <a:cs typeface="Consolas" pitchFamily="34" charset="-120"/>
              </a:rPr>
              <a:t>07</a:t>
            </a:r>
            <a:endParaRPr lang="en-US" sz="1200" dirty="0"/>
          </a:p>
        </p:txBody>
      </p:sp>
      <p:sp>
        <p:nvSpPr>
          <p:cNvPr id="17" name="Text 15"/>
          <p:cNvSpPr txBox="1"/>
          <p:nvPr/>
        </p:nvSpPr>
        <p:spPr>
          <a:xfrm>
            <a:off x="1316736" y="5148072"/>
            <a:ext cx="3749040" cy="365760"/>
          </a:xfrm>
          <a:prstGeom prst="rect">
            <a:avLst/>
          </a:prstGeom>
          <a:noFill/>
          <a:ln/>
        </p:spPr>
        <p:txBody>
          <a:bodyPr wrap="square" lIns="0" tIns="0" rIns="0" bIns="0" rtlCol="0" anchor="t"/>
          <a:lstStyle/>
          <a:p>
            <a:pPr indent="0" marL="0">
              <a:buNone/>
            </a:pPr>
            <a:r>
              <a:rPr lang="en-US" sz="1500" dirty="0">
                <a:solidFill>
                  <a:srgbClr val="E8EEF2"/>
                </a:solidFill>
                <a:latin typeface="Calibri" pitchFamily="34" charset="0"/>
                <a:ea typeface="Calibri" pitchFamily="34" charset="-122"/>
                <a:cs typeface="Calibri" pitchFamily="34" charset="-120"/>
              </a:rPr>
              <a:t>Incident report saved to Amazon S3</a:t>
            </a:r>
            <a:endParaRPr lang="en-US" sz="1500" dirty="0"/>
          </a:p>
        </p:txBody>
      </p:sp>
      <p:sp>
        <p:nvSpPr>
          <p:cNvPr id="18" name="Shape 16"/>
          <p:cNvSpPr/>
          <p:nvPr/>
        </p:nvSpPr>
        <p:spPr>
          <a:xfrm>
            <a:off x="5358384" y="2487168"/>
            <a:ext cx="6046927" cy="3214472"/>
          </a:xfrm>
          <a:prstGeom prst="rect">
            <a:avLst/>
          </a:prstGeom>
          <a:solidFill>
            <a:srgbClr val="22303D"/>
          </a:solidFill>
          <a:ln w="12700">
            <a:solidFill>
              <a:srgbClr val="22303D"/>
            </a:solidFill>
            <a:prstDash val="solid"/>
          </a:ln>
        </p:spPr>
      </p:sp>
      <p:pic>
        <p:nvPicPr>
          <p:cNvPr id="19" name="Image 0" descr="A real AWS Step Functions run of the BreatheIQ bad-day playbook, every state succeeded, beside the English and Hindi announcement with its audio and the staff alert">    </p:cNvPr>
          <p:cNvPicPr>
            <a:picLocks noChangeAspect="1"/>
          </p:cNvPicPr>
          <p:nvPr/>
        </p:nvPicPr>
        <p:blipFill>
          <a:blip r:embed="rId1"/>
          <a:stretch>
            <a:fillRect/>
          </a:stretch>
        </p:blipFill>
        <p:spPr>
          <a:xfrm>
            <a:off x="5385816" y="2514600"/>
            <a:ext cx="5992063" cy="3159608"/>
          </a:xfrm>
          <a:prstGeom prst="rect">
            <a:avLst/>
          </a:prstGeom>
        </p:spPr>
      </p:pic>
      <p:sp>
        <p:nvSpPr>
          <p:cNvPr id="20" name="Text 17"/>
          <p:cNvSpPr txBox="1"/>
          <p:nvPr/>
        </p:nvSpPr>
        <p:spPr>
          <a:xfrm>
            <a:off x="5385816" y="5783936"/>
            <a:ext cx="5992063" cy="274320"/>
          </a:xfrm>
          <a:prstGeom prst="rect">
            <a:avLst/>
          </a:prstGeom>
          <a:noFill/>
          <a:ln/>
        </p:spPr>
        <p:txBody>
          <a:bodyPr wrap="square" lIns="0" tIns="0" rIns="0" bIns="0" rtlCol="0" anchor="t"/>
          <a:lstStyle/>
          <a:p>
            <a:pPr indent="0" marL="0">
              <a:buNone/>
            </a:pPr>
            <a:r>
              <a:rPr lang="en-US" sz="1200" dirty="0">
                <a:solidFill>
                  <a:srgbClr val="9AABBA"/>
                </a:solidFill>
                <a:latin typeface="Calibri" pitchFamily="34" charset="0"/>
                <a:ea typeface="Calibri" pitchFamily="34" charset="-122"/>
                <a:cs typeface="Calibri" pitchFamily="34" charset="-120"/>
              </a:rPr>
              <a:t>A real AWS Step Functions run from our deployment: every step succeeded.</a:t>
            </a:r>
            <a:endParaRPr lang="en-US" sz="1200" dirty="0"/>
          </a:p>
        </p:txBody>
      </p:sp>
      <p:sp>
        <p:nvSpPr>
          <p:cNvPr id="25" name="Slide Number Placeholder 0"/>
          <p:cNvSpPr>
            <a:spLocks noGrp="1"/>
          </p:cNvSpPr>
          <p:nvPr>
            <p:ph type="sldNum" sz="quarter" idx="4294967295"/>
          </p:nvPr>
        </p:nvSpPr>
        <p:spPr>
          <a:xfrm>
            <a:off x="10463479" y="6263640"/>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D90A3"/>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813816" y="813816"/>
            <a:ext cx="10564063" cy="292608"/>
          </a:xfrm>
          <a:prstGeom prst="rect">
            <a:avLst/>
          </a:prstGeom>
          <a:noFill/>
          <a:ln/>
        </p:spPr>
        <p:txBody>
          <a:bodyPr wrap="square" lIns="0" tIns="0" rIns="0" bIns="0" rtlCol="0" anchor="t"/>
          <a:lstStyle/>
          <a:p>
            <a:pPr indent="0" marL="0">
              <a:buNone/>
            </a:pPr>
            <a:r>
              <a:rPr lang="en-US" sz="1200" spc="300" kern="0" dirty="0">
                <a:solidFill>
                  <a:srgbClr val="5EEAD4"/>
                </a:solidFill>
                <a:latin typeface="Consolas" pitchFamily="34" charset="0"/>
                <a:ea typeface="Consolas" pitchFamily="34" charset="-122"/>
                <a:cs typeface="Consolas" pitchFamily="34" charset="-120"/>
              </a:rPr>
              <a:t>10 · ARCHITECTURE</a:t>
            </a:r>
            <a:endParaRPr lang="en-US" sz="1200" dirty="0"/>
          </a:p>
        </p:txBody>
      </p:sp>
      <p:sp>
        <p:nvSpPr>
          <p:cNvPr id="3" name="Text 0"/>
          <p:cNvSpPr/>
          <p:nvPr>
            <p:ph idx="100" type="title" hasCustomPrompt="1"/>
          </p:nvPr>
        </p:nvSpPr>
        <p:spPr>
          <a:xfrm>
            <a:off x="813816" y="1161288"/>
            <a:ext cx="10564063" cy="1188720"/>
          </a:xfrm>
          <a:prstGeom prst="rect">
            <a:avLst/>
          </a:prstGeom>
          <a:noFill/>
          <a:ln/>
        </p:spPr>
        <p:txBody>
          <a:bodyPr wrap="square" lIns="0" tIns="0" rIns="0" bIns="0" rtlCol="0" anchor="t"/>
          <a:lstStyle/>
          <a:p>
            <a:pPr algn="l" indent="0" marL="0">
              <a:buNone/>
            </a:pPr>
            <a:r>
              <a:rPr lang="en-US" sz="3600" b="1" dirty="0">
                <a:solidFill>
                  <a:srgbClr val="E8EEF2"/>
                </a:solidFill>
                <a:latin typeface="Calibri" pitchFamily="34" charset="0"/>
                <a:ea typeface="Calibri" pitchFamily="34" charset="-122"/>
                <a:cs typeface="Calibri" pitchFamily="34" charset="-120"/>
              </a:rPr>
              <a:t>Built on AWS, end to end</a:t>
            </a:r>
            <a:endParaRPr lang="en-US" sz="3600" dirty="0"/>
          </a:p>
        </p:txBody>
      </p:sp>
      <p:sp>
        <p:nvSpPr>
          <p:cNvPr id="4" name="Shape 2"/>
          <p:cNvSpPr/>
          <p:nvPr/>
        </p:nvSpPr>
        <p:spPr>
          <a:xfrm>
            <a:off x="813816" y="2514600"/>
            <a:ext cx="2366696" cy="2606040"/>
          </a:xfrm>
          <a:prstGeom prst="roundRect">
            <a:avLst>
              <a:gd name="adj" fmla="val 3864"/>
            </a:avLst>
          </a:prstGeom>
          <a:solidFill>
            <a:srgbClr val="121B24"/>
          </a:solidFill>
          <a:ln w="12700">
            <a:solidFill>
              <a:srgbClr val="22303D"/>
            </a:solidFill>
            <a:prstDash val="solid"/>
          </a:ln>
        </p:spPr>
      </p:sp>
      <p:sp>
        <p:nvSpPr>
          <p:cNvPr id="5" name="Text 3"/>
          <p:cNvSpPr txBox="1"/>
          <p:nvPr/>
        </p:nvSpPr>
        <p:spPr>
          <a:xfrm>
            <a:off x="1014984" y="2715768"/>
            <a:ext cx="1964360" cy="274320"/>
          </a:xfrm>
          <a:prstGeom prst="rect">
            <a:avLst/>
          </a:prstGeom>
          <a:noFill/>
          <a:ln/>
        </p:spPr>
        <p:txBody>
          <a:bodyPr wrap="square" lIns="0" tIns="0" rIns="0" bIns="0" rtlCol="0" anchor="t"/>
          <a:lstStyle/>
          <a:p>
            <a:pPr indent="0" marL="0">
              <a:buNone/>
            </a:pPr>
            <a:r>
              <a:rPr lang="en-US" sz="1200" spc="300" kern="0" dirty="0">
                <a:solidFill>
                  <a:srgbClr val="5EEAD4"/>
                </a:solidFill>
                <a:latin typeface="Consolas" pitchFamily="34" charset="0"/>
                <a:ea typeface="Consolas" pitchFamily="34" charset="-122"/>
                <a:cs typeface="Consolas" pitchFamily="34" charset="-120"/>
              </a:rPr>
              <a:t>INGEST</a:t>
            </a:r>
            <a:endParaRPr lang="en-US" sz="1200" dirty="0"/>
          </a:p>
        </p:txBody>
      </p:sp>
      <p:sp>
        <p:nvSpPr>
          <p:cNvPr id="6" name="Text 4"/>
          <p:cNvSpPr txBox="1"/>
          <p:nvPr/>
        </p:nvSpPr>
        <p:spPr>
          <a:xfrm>
            <a:off x="1014984" y="3081528"/>
            <a:ext cx="1964360" cy="246888"/>
          </a:xfrm>
          <a:prstGeom prst="rect">
            <a:avLst/>
          </a:prstGeom>
          <a:noFill/>
          <a:ln/>
        </p:spPr>
        <p:txBody>
          <a:bodyPr wrap="square" lIns="0" tIns="0" rIns="0" bIns="0" rtlCol="0" anchor="t"/>
          <a:lstStyle/>
          <a:p>
            <a:pPr indent="0" marL="0">
              <a:buNone/>
            </a:pPr>
            <a:r>
              <a:rPr lang="en-US" sz="1300" b="1" dirty="0">
                <a:solidFill>
                  <a:srgbClr val="E8EEF2"/>
                </a:solidFill>
                <a:latin typeface="Calibri" pitchFamily="34" charset="0"/>
                <a:ea typeface="Calibri" pitchFamily="34" charset="-122"/>
                <a:cs typeface="Calibri" pitchFamily="34" charset="-120"/>
              </a:rPr>
              <a:t>AWS IoT Core</a:t>
            </a:r>
            <a:endParaRPr lang="en-US" sz="1300" dirty="0"/>
          </a:p>
        </p:txBody>
      </p:sp>
      <p:sp>
        <p:nvSpPr>
          <p:cNvPr id="7" name="Text 5"/>
          <p:cNvSpPr txBox="1"/>
          <p:nvPr/>
        </p:nvSpPr>
        <p:spPr>
          <a:xfrm>
            <a:off x="1014984" y="3328416"/>
            <a:ext cx="1964360" cy="384048"/>
          </a:xfrm>
          <a:prstGeom prst="rect">
            <a:avLst/>
          </a:prstGeom>
          <a:noFill/>
          <a:ln/>
        </p:spPr>
        <p:txBody>
          <a:bodyPr wrap="square" lIns="0" tIns="0" rIns="0" bIns="0" rtlCol="0" anchor="t"/>
          <a:lstStyle/>
          <a:p>
            <a:pPr indent="0" marL="0">
              <a:buNone/>
            </a:pPr>
            <a:r>
              <a:rPr lang="en-US" sz="1200" dirty="0">
                <a:solidFill>
                  <a:srgbClr val="9AABBA"/>
                </a:solidFill>
                <a:latin typeface="Calibri" pitchFamily="34" charset="0"/>
                <a:ea typeface="Calibri" pitchFamily="34" charset="-122"/>
                <a:cs typeface="Calibri" pitchFamily="34" charset="-120"/>
              </a:rPr>
              <a:t>MQTT, X.509 certificates, IoT Rule</a:t>
            </a:r>
            <a:endParaRPr lang="en-US" sz="1200" dirty="0"/>
          </a:p>
        </p:txBody>
      </p:sp>
      <p:sp>
        <p:nvSpPr>
          <p:cNvPr id="8" name="Text 6"/>
          <p:cNvSpPr txBox="1"/>
          <p:nvPr/>
        </p:nvSpPr>
        <p:spPr>
          <a:xfrm>
            <a:off x="1014984" y="3739896"/>
            <a:ext cx="1964360" cy="246888"/>
          </a:xfrm>
          <a:prstGeom prst="rect">
            <a:avLst/>
          </a:prstGeom>
          <a:noFill/>
          <a:ln/>
        </p:spPr>
        <p:txBody>
          <a:bodyPr wrap="square" lIns="0" tIns="0" rIns="0" bIns="0" rtlCol="0" anchor="t"/>
          <a:lstStyle/>
          <a:p>
            <a:pPr indent="0" marL="0">
              <a:buNone/>
            </a:pPr>
            <a:r>
              <a:rPr lang="en-US" sz="1300" b="1" dirty="0">
                <a:solidFill>
                  <a:srgbClr val="E8EEF2"/>
                </a:solidFill>
                <a:latin typeface="Calibri" pitchFamily="34" charset="0"/>
                <a:ea typeface="Calibri" pitchFamily="34" charset="-122"/>
                <a:cs typeface="Calibri" pitchFamily="34" charset="-120"/>
              </a:rPr>
              <a:t>EventBridge Scheduler</a:t>
            </a:r>
            <a:endParaRPr lang="en-US" sz="1300" dirty="0"/>
          </a:p>
        </p:txBody>
      </p:sp>
      <p:sp>
        <p:nvSpPr>
          <p:cNvPr id="9" name="Text 7"/>
          <p:cNvSpPr txBox="1"/>
          <p:nvPr/>
        </p:nvSpPr>
        <p:spPr>
          <a:xfrm>
            <a:off x="1014984" y="3986784"/>
            <a:ext cx="1964360" cy="384048"/>
          </a:xfrm>
          <a:prstGeom prst="rect">
            <a:avLst/>
          </a:prstGeom>
          <a:noFill/>
          <a:ln/>
        </p:spPr>
        <p:txBody>
          <a:bodyPr wrap="square" lIns="0" tIns="0" rIns="0" bIns="0" rtlCol="0" anchor="t"/>
          <a:lstStyle/>
          <a:p>
            <a:pPr indent="0" marL="0">
              <a:buNone/>
            </a:pPr>
            <a:r>
              <a:rPr lang="en-US" sz="1200" dirty="0">
                <a:solidFill>
                  <a:srgbClr val="9AABBA"/>
                </a:solidFill>
                <a:latin typeface="Calibri" pitchFamily="34" charset="0"/>
                <a:ea typeface="Calibri" pitchFamily="34" charset="-122"/>
                <a:cs typeface="Calibri" pitchFamily="34" charset="-120"/>
              </a:rPr>
              <a:t>Runs the coach node every minute</a:t>
            </a:r>
            <a:endParaRPr lang="en-US" sz="1200" dirty="0"/>
          </a:p>
        </p:txBody>
      </p:sp>
      <p:sp>
        <p:nvSpPr>
          <p:cNvPr id="10" name="Text 8"/>
          <p:cNvSpPr txBox="1"/>
          <p:nvPr/>
        </p:nvSpPr>
        <p:spPr>
          <a:xfrm>
            <a:off x="1014984" y="4398264"/>
            <a:ext cx="1964360" cy="246888"/>
          </a:xfrm>
          <a:prstGeom prst="rect">
            <a:avLst/>
          </a:prstGeom>
          <a:noFill/>
          <a:ln/>
        </p:spPr>
        <p:txBody>
          <a:bodyPr wrap="square" lIns="0" tIns="0" rIns="0" bIns="0" rtlCol="0" anchor="t"/>
          <a:lstStyle/>
          <a:p>
            <a:pPr indent="0" marL="0">
              <a:buNone/>
            </a:pPr>
            <a:r>
              <a:rPr lang="en-US" sz="1300" b="1" dirty="0">
                <a:solidFill>
                  <a:srgbClr val="E8EEF2"/>
                </a:solidFill>
                <a:latin typeface="Calibri" pitchFamily="34" charset="0"/>
                <a:ea typeface="Calibri" pitchFamily="34" charset="-122"/>
                <a:cs typeface="Calibri" pitchFamily="34" charset="-120"/>
              </a:rPr>
              <a:t>Amazon Location</a:t>
            </a:r>
            <a:endParaRPr lang="en-US" sz="1300" dirty="0"/>
          </a:p>
        </p:txBody>
      </p:sp>
      <p:sp>
        <p:nvSpPr>
          <p:cNvPr id="11" name="Text 9"/>
          <p:cNvSpPr txBox="1"/>
          <p:nvPr/>
        </p:nvSpPr>
        <p:spPr>
          <a:xfrm>
            <a:off x="1014984" y="4645152"/>
            <a:ext cx="1964360" cy="384048"/>
          </a:xfrm>
          <a:prstGeom prst="rect">
            <a:avLst/>
          </a:prstGeom>
          <a:noFill/>
          <a:ln/>
        </p:spPr>
        <p:txBody>
          <a:bodyPr wrap="square" lIns="0" tIns="0" rIns="0" bIns="0" rtlCol="0" anchor="t"/>
          <a:lstStyle/>
          <a:p>
            <a:pPr indent="0" marL="0">
              <a:buNone/>
            </a:pPr>
            <a:r>
              <a:rPr lang="en-US" sz="1200" dirty="0">
                <a:solidFill>
                  <a:srgbClr val="9AABBA"/>
                </a:solidFill>
                <a:latin typeface="Calibri" pitchFamily="34" charset="0"/>
                <a:ea typeface="Calibri" pitchFamily="34" charset="-122"/>
                <a:cs typeface="Calibri" pitchFamily="34" charset="-120"/>
              </a:rPr>
              <a:t>Train tracker, 4 route geofences</a:t>
            </a:r>
            <a:endParaRPr lang="en-US" sz="1200" dirty="0"/>
          </a:p>
        </p:txBody>
      </p:sp>
      <p:sp>
        <p:nvSpPr>
          <p:cNvPr id="12" name="Shape 10"/>
          <p:cNvSpPr/>
          <p:nvPr/>
        </p:nvSpPr>
        <p:spPr>
          <a:xfrm>
            <a:off x="3253664" y="3707892"/>
            <a:ext cx="219456" cy="219456"/>
          </a:xfrm>
          <a:prstGeom prst="rightArrow">
            <a:avLst/>
          </a:prstGeom>
          <a:solidFill>
            <a:srgbClr val="5EEAD4"/>
          </a:solidFill>
          <a:ln w="12700">
            <a:solidFill>
              <a:srgbClr val="5EEAD4"/>
            </a:solidFill>
            <a:prstDash val="solid"/>
          </a:ln>
        </p:spPr>
      </p:sp>
      <p:sp>
        <p:nvSpPr>
          <p:cNvPr id="13" name="Shape 11"/>
          <p:cNvSpPr/>
          <p:nvPr/>
        </p:nvSpPr>
        <p:spPr>
          <a:xfrm>
            <a:off x="3546272" y="2514600"/>
            <a:ext cx="2366696" cy="2606040"/>
          </a:xfrm>
          <a:prstGeom prst="roundRect">
            <a:avLst>
              <a:gd name="adj" fmla="val 3864"/>
            </a:avLst>
          </a:prstGeom>
          <a:solidFill>
            <a:srgbClr val="121B24"/>
          </a:solidFill>
          <a:ln w="12700">
            <a:solidFill>
              <a:srgbClr val="22303D"/>
            </a:solidFill>
            <a:prstDash val="solid"/>
          </a:ln>
        </p:spPr>
      </p:sp>
      <p:sp>
        <p:nvSpPr>
          <p:cNvPr id="14" name="Text 12"/>
          <p:cNvSpPr txBox="1"/>
          <p:nvPr/>
        </p:nvSpPr>
        <p:spPr>
          <a:xfrm>
            <a:off x="3747440" y="2715768"/>
            <a:ext cx="1964360" cy="274320"/>
          </a:xfrm>
          <a:prstGeom prst="rect">
            <a:avLst/>
          </a:prstGeom>
          <a:noFill/>
          <a:ln/>
        </p:spPr>
        <p:txBody>
          <a:bodyPr wrap="square" lIns="0" tIns="0" rIns="0" bIns="0" rtlCol="0" anchor="t"/>
          <a:lstStyle/>
          <a:p>
            <a:pPr indent="0" marL="0">
              <a:buNone/>
            </a:pPr>
            <a:r>
              <a:rPr lang="en-US" sz="1200" spc="300" kern="0" dirty="0">
                <a:solidFill>
                  <a:srgbClr val="5EEAD4"/>
                </a:solidFill>
                <a:latin typeface="Consolas" pitchFamily="34" charset="0"/>
                <a:ea typeface="Consolas" pitchFamily="34" charset="-122"/>
                <a:cs typeface="Consolas" pitchFamily="34" charset="-120"/>
              </a:rPr>
              <a:t>DECIDE</a:t>
            </a:r>
            <a:endParaRPr lang="en-US" sz="1200" dirty="0"/>
          </a:p>
        </p:txBody>
      </p:sp>
      <p:sp>
        <p:nvSpPr>
          <p:cNvPr id="15" name="Text 13"/>
          <p:cNvSpPr txBox="1"/>
          <p:nvPr/>
        </p:nvSpPr>
        <p:spPr>
          <a:xfrm>
            <a:off x="3747440" y="3081528"/>
            <a:ext cx="1964360" cy="246888"/>
          </a:xfrm>
          <a:prstGeom prst="rect">
            <a:avLst/>
          </a:prstGeom>
          <a:noFill/>
          <a:ln/>
        </p:spPr>
        <p:txBody>
          <a:bodyPr wrap="square" lIns="0" tIns="0" rIns="0" bIns="0" rtlCol="0" anchor="t"/>
          <a:lstStyle/>
          <a:p>
            <a:pPr indent="0" marL="0">
              <a:buNone/>
            </a:pPr>
            <a:r>
              <a:rPr lang="en-US" sz="1300" b="1" dirty="0">
                <a:solidFill>
                  <a:srgbClr val="E8EEF2"/>
                </a:solidFill>
                <a:latin typeface="Calibri" pitchFamily="34" charset="0"/>
                <a:ea typeface="Calibri" pitchFamily="34" charset="-122"/>
                <a:cs typeface="Calibri" pitchFamily="34" charset="-120"/>
              </a:rPr>
              <a:t>AWS Lambda</a:t>
            </a:r>
            <a:endParaRPr lang="en-US" sz="1300" dirty="0"/>
          </a:p>
        </p:txBody>
      </p:sp>
      <p:sp>
        <p:nvSpPr>
          <p:cNvPr id="16" name="Text 14"/>
          <p:cNvSpPr txBox="1"/>
          <p:nvPr/>
        </p:nvSpPr>
        <p:spPr>
          <a:xfrm>
            <a:off x="3747440" y="3328416"/>
            <a:ext cx="1964360" cy="384048"/>
          </a:xfrm>
          <a:prstGeom prst="rect">
            <a:avLst/>
          </a:prstGeom>
          <a:noFill/>
          <a:ln/>
        </p:spPr>
        <p:txBody>
          <a:bodyPr wrap="square" lIns="0" tIns="0" rIns="0" bIns="0" rtlCol="0" anchor="t"/>
          <a:lstStyle/>
          <a:p>
            <a:pPr indent="0" marL="0">
              <a:buNone/>
            </a:pPr>
            <a:r>
              <a:rPr lang="en-US" sz="1200" dirty="0">
                <a:solidFill>
                  <a:srgbClr val="9AABBA"/>
                </a:solidFill>
                <a:latin typeface="Calibri" pitchFamily="34" charset="0"/>
                <a:ea typeface="Calibri" pitchFamily="34" charset="-122"/>
                <a:cs typeface="Calibri" pitchFamily="34" charset="-120"/>
              </a:rPr>
              <a:t>Frame processor and model inference</a:t>
            </a:r>
            <a:endParaRPr lang="en-US" sz="1200" dirty="0"/>
          </a:p>
        </p:txBody>
      </p:sp>
      <p:sp>
        <p:nvSpPr>
          <p:cNvPr id="17" name="Text 15"/>
          <p:cNvSpPr txBox="1"/>
          <p:nvPr/>
        </p:nvSpPr>
        <p:spPr>
          <a:xfrm>
            <a:off x="3747440" y="3739896"/>
            <a:ext cx="1964360" cy="246888"/>
          </a:xfrm>
          <a:prstGeom prst="rect">
            <a:avLst/>
          </a:prstGeom>
          <a:noFill/>
          <a:ln/>
        </p:spPr>
        <p:txBody>
          <a:bodyPr wrap="square" lIns="0" tIns="0" rIns="0" bIns="0" rtlCol="0" anchor="t"/>
          <a:lstStyle/>
          <a:p>
            <a:pPr indent="0" marL="0">
              <a:buNone/>
            </a:pPr>
            <a:r>
              <a:rPr lang="en-US" sz="1300" b="1" dirty="0">
                <a:solidFill>
                  <a:srgbClr val="E8EEF2"/>
                </a:solidFill>
                <a:latin typeface="Calibri" pitchFamily="34" charset="0"/>
                <a:ea typeface="Calibri" pitchFamily="34" charset="-122"/>
                <a:cs typeface="Calibri" pitchFamily="34" charset="-120"/>
              </a:rPr>
              <a:t>Amazon DynamoDB</a:t>
            </a:r>
            <a:endParaRPr lang="en-US" sz="1300" dirty="0"/>
          </a:p>
        </p:txBody>
      </p:sp>
      <p:sp>
        <p:nvSpPr>
          <p:cNvPr id="18" name="Text 16"/>
          <p:cNvSpPr txBox="1"/>
          <p:nvPr/>
        </p:nvSpPr>
        <p:spPr>
          <a:xfrm>
            <a:off x="3747440" y="3986784"/>
            <a:ext cx="1964360" cy="384048"/>
          </a:xfrm>
          <a:prstGeom prst="rect">
            <a:avLst/>
          </a:prstGeom>
          <a:noFill/>
          <a:ln/>
        </p:spPr>
        <p:txBody>
          <a:bodyPr wrap="square" lIns="0" tIns="0" rIns="0" bIns="0" rtlCol="0" anchor="t"/>
          <a:lstStyle/>
          <a:p>
            <a:pPr indent="0" marL="0">
              <a:buNone/>
            </a:pPr>
            <a:r>
              <a:rPr lang="en-US" sz="1200" dirty="0">
                <a:solidFill>
                  <a:srgbClr val="9AABBA"/>
                </a:solidFill>
                <a:latin typeface="Calibri" pitchFamily="34" charset="0"/>
                <a:ea typeface="Calibri" pitchFamily="34" charset="-122"/>
                <a:cs typeface="Calibri" pitchFamily="34" charset="-120"/>
              </a:rPr>
              <a:t>Telemetry, incidents, interlock log</a:t>
            </a:r>
            <a:endParaRPr lang="en-US" sz="1200" dirty="0"/>
          </a:p>
        </p:txBody>
      </p:sp>
      <p:sp>
        <p:nvSpPr>
          <p:cNvPr id="19" name="Text 17"/>
          <p:cNvSpPr txBox="1"/>
          <p:nvPr/>
        </p:nvSpPr>
        <p:spPr>
          <a:xfrm>
            <a:off x="3747440" y="4398264"/>
            <a:ext cx="1964360" cy="246888"/>
          </a:xfrm>
          <a:prstGeom prst="rect">
            <a:avLst/>
          </a:prstGeom>
          <a:noFill/>
          <a:ln/>
        </p:spPr>
        <p:txBody>
          <a:bodyPr wrap="square" lIns="0" tIns="0" rIns="0" bIns="0" rtlCol="0" anchor="t"/>
          <a:lstStyle/>
          <a:p>
            <a:pPr indent="0" marL="0">
              <a:buNone/>
            </a:pPr>
            <a:r>
              <a:rPr lang="en-US" sz="1300" b="1" dirty="0">
                <a:solidFill>
                  <a:srgbClr val="E8EEF2"/>
                </a:solidFill>
                <a:latin typeface="Calibri" pitchFamily="34" charset="0"/>
                <a:ea typeface="Calibri" pitchFamily="34" charset="-122"/>
                <a:cs typeface="Calibri" pitchFamily="34" charset="-120"/>
              </a:rPr>
              <a:t>Amazon EventBridge</a:t>
            </a:r>
            <a:endParaRPr lang="en-US" sz="1300" dirty="0"/>
          </a:p>
        </p:txBody>
      </p:sp>
      <p:sp>
        <p:nvSpPr>
          <p:cNvPr id="20" name="Text 18"/>
          <p:cNvSpPr txBox="1"/>
          <p:nvPr/>
        </p:nvSpPr>
        <p:spPr>
          <a:xfrm>
            <a:off x="3747440" y="4645152"/>
            <a:ext cx="1964360" cy="384048"/>
          </a:xfrm>
          <a:prstGeom prst="rect">
            <a:avLst/>
          </a:prstGeom>
          <a:noFill/>
          <a:ln/>
        </p:spPr>
        <p:txBody>
          <a:bodyPr wrap="square" lIns="0" tIns="0" rIns="0" bIns="0" rtlCol="0" anchor="t"/>
          <a:lstStyle/>
          <a:p>
            <a:pPr indent="0" marL="0">
              <a:buNone/>
            </a:pPr>
            <a:r>
              <a:rPr lang="en-US" sz="1200" dirty="0">
                <a:solidFill>
                  <a:srgbClr val="9AABBA"/>
                </a:solidFill>
                <a:latin typeface="Calibri" pitchFamily="34" charset="0"/>
                <a:ea typeface="Calibri" pitchFamily="34" charset="-122"/>
                <a:cs typeface="Calibri" pitchFamily="34" charset="-120"/>
              </a:rPr>
              <a:t>AqiOffTheChart and other events</a:t>
            </a:r>
            <a:endParaRPr lang="en-US" sz="1200" dirty="0"/>
          </a:p>
        </p:txBody>
      </p:sp>
      <p:sp>
        <p:nvSpPr>
          <p:cNvPr id="21" name="Shape 19"/>
          <p:cNvSpPr/>
          <p:nvPr/>
        </p:nvSpPr>
        <p:spPr>
          <a:xfrm>
            <a:off x="5986120" y="3707892"/>
            <a:ext cx="219456" cy="219456"/>
          </a:xfrm>
          <a:prstGeom prst="rightArrow">
            <a:avLst/>
          </a:prstGeom>
          <a:solidFill>
            <a:srgbClr val="5EEAD4"/>
          </a:solidFill>
          <a:ln w="12700">
            <a:solidFill>
              <a:srgbClr val="5EEAD4"/>
            </a:solidFill>
            <a:prstDash val="solid"/>
          </a:ln>
        </p:spPr>
      </p:sp>
      <p:sp>
        <p:nvSpPr>
          <p:cNvPr id="22" name="Shape 20"/>
          <p:cNvSpPr/>
          <p:nvPr/>
        </p:nvSpPr>
        <p:spPr>
          <a:xfrm>
            <a:off x="6278728" y="2514600"/>
            <a:ext cx="2366696" cy="2606040"/>
          </a:xfrm>
          <a:prstGeom prst="roundRect">
            <a:avLst>
              <a:gd name="adj" fmla="val 3864"/>
            </a:avLst>
          </a:prstGeom>
          <a:solidFill>
            <a:srgbClr val="121B24"/>
          </a:solidFill>
          <a:ln w="12700">
            <a:solidFill>
              <a:srgbClr val="22303D"/>
            </a:solidFill>
            <a:prstDash val="solid"/>
          </a:ln>
        </p:spPr>
      </p:sp>
      <p:sp>
        <p:nvSpPr>
          <p:cNvPr id="23" name="Text 21"/>
          <p:cNvSpPr txBox="1"/>
          <p:nvPr/>
        </p:nvSpPr>
        <p:spPr>
          <a:xfrm>
            <a:off x="6479896" y="2715768"/>
            <a:ext cx="1964360" cy="274320"/>
          </a:xfrm>
          <a:prstGeom prst="rect">
            <a:avLst/>
          </a:prstGeom>
          <a:noFill/>
          <a:ln/>
        </p:spPr>
        <p:txBody>
          <a:bodyPr wrap="square" lIns="0" tIns="0" rIns="0" bIns="0" rtlCol="0" anchor="t"/>
          <a:lstStyle/>
          <a:p>
            <a:pPr indent="0" marL="0">
              <a:buNone/>
            </a:pPr>
            <a:r>
              <a:rPr lang="en-US" sz="1200" spc="300" kern="0" dirty="0">
                <a:solidFill>
                  <a:srgbClr val="FBBF24"/>
                </a:solidFill>
                <a:latin typeface="Consolas" pitchFamily="34" charset="0"/>
                <a:ea typeface="Consolas" pitchFamily="34" charset="-122"/>
                <a:cs typeface="Consolas" pitchFamily="34" charset="-120"/>
              </a:rPr>
              <a:t>RESPOND</a:t>
            </a:r>
            <a:endParaRPr lang="en-US" sz="1200" dirty="0"/>
          </a:p>
        </p:txBody>
      </p:sp>
      <p:sp>
        <p:nvSpPr>
          <p:cNvPr id="24" name="Text 22"/>
          <p:cNvSpPr txBox="1"/>
          <p:nvPr/>
        </p:nvSpPr>
        <p:spPr>
          <a:xfrm>
            <a:off x="6479896" y="3081528"/>
            <a:ext cx="1964360" cy="246888"/>
          </a:xfrm>
          <a:prstGeom prst="rect">
            <a:avLst/>
          </a:prstGeom>
          <a:noFill/>
          <a:ln/>
        </p:spPr>
        <p:txBody>
          <a:bodyPr wrap="square" lIns="0" tIns="0" rIns="0" bIns="0" rtlCol="0" anchor="t"/>
          <a:lstStyle/>
          <a:p>
            <a:pPr indent="0" marL="0">
              <a:buNone/>
            </a:pPr>
            <a:r>
              <a:rPr lang="en-US" sz="1300" b="1" dirty="0">
                <a:solidFill>
                  <a:srgbClr val="E8EEF2"/>
                </a:solidFill>
                <a:latin typeface="Calibri" pitchFamily="34" charset="0"/>
                <a:ea typeface="Calibri" pitchFamily="34" charset="-122"/>
                <a:cs typeface="Calibri" pitchFamily="34" charset="-120"/>
              </a:rPr>
              <a:t>AWS Step Functions</a:t>
            </a:r>
            <a:endParaRPr lang="en-US" sz="1300" dirty="0"/>
          </a:p>
        </p:txBody>
      </p:sp>
      <p:sp>
        <p:nvSpPr>
          <p:cNvPr id="25" name="Text 23"/>
          <p:cNvSpPr txBox="1"/>
          <p:nvPr/>
        </p:nvSpPr>
        <p:spPr>
          <a:xfrm>
            <a:off x="6479896" y="3328416"/>
            <a:ext cx="1964360" cy="384048"/>
          </a:xfrm>
          <a:prstGeom prst="rect">
            <a:avLst/>
          </a:prstGeom>
          <a:noFill/>
          <a:ln/>
        </p:spPr>
        <p:txBody>
          <a:bodyPr wrap="square" lIns="0" tIns="0" rIns="0" bIns="0" rtlCol="0" anchor="t"/>
          <a:lstStyle/>
          <a:p>
            <a:pPr indent="0" marL="0">
              <a:buNone/>
            </a:pPr>
            <a:r>
              <a:rPr lang="en-US" sz="1200" dirty="0">
                <a:solidFill>
                  <a:srgbClr val="9AABBA"/>
                </a:solidFill>
                <a:latin typeface="Calibri" pitchFamily="34" charset="0"/>
                <a:ea typeface="Calibri" pitchFamily="34" charset="-122"/>
                <a:cs typeface="Calibri" pitchFamily="34" charset="-120"/>
              </a:rPr>
              <a:t>The bad-day playbook</a:t>
            </a:r>
            <a:endParaRPr lang="en-US" sz="1200" dirty="0"/>
          </a:p>
        </p:txBody>
      </p:sp>
      <p:sp>
        <p:nvSpPr>
          <p:cNvPr id="26" name="Text 24"/>
          <p:cNvSpPr txBox="1"/>
          <p:nvPr/>
        </p:nvSpPr>
        <p:spPr>
          <a:xfrm>
            <a:off x="6479896" y="3739896"/>
            <a:ext cx="1964360" cy="246888"/>
          </a:xfrm>
          <a:prstGeom prst="rect">
            <a:avLst/>
          </a:prstGeom>
          <a:noFill/>
          <a:ln/>
        </p:spPr>
        <p:txBody>
          <a:bodyPr wrap="square" lIns="0" tIns="0" rIns="0" bIns="0" rtlCol="0" anchor="t"/>
          <a:lstStyle/>
          <a:p>
            <a:pPr indent="0" marL="0">
              <a:buNone/>
            </a:pPr>
            <a:r>
              <a:rPr lang="en-US" sz="1300" b="1" dirty="0">
                <a:solidFill>
                  <a:srgbClr val="E8EEF2"/>
                </a:solidFill>
                <a:latin typeface="Calibri" pitchFamily="34" charset="0"/>
                <a:ea typeface="Calibri" pitchFamily="34" charset="-122"/>
                <a:cs typeface="Calibri" pitchFamily="34" charset="-120"/>
              </a:rPr>
              <a:t>Amazon Polly + SNS</a:t>
            </a:r>
            <a:endParaRPr lang="en-US" sz="1300" dirty="0"/>
          </a:p>
        </p:txBody>
      </p:sp>
      <p:sp>
        <p:nvSpPr>
          <p:cNvPr id="27" name="Text 25"/>
          <p:cNvSpPr txBox="1"/>
          <p:nvPr/>
        </p:nvSpPr>
        <p:spPr>
          <a:xfrm>
            <a:off x="6479896" y="3986784"/>
            <a:ext cx="1964360" cy="384048"/>
          </a:xfrm>
          <a:prstGeom prst="rect">
            <a:avLst/>
          </a:prstGeom>
          <a:noFill/>
          <a:ln/>
        </p:spPr>
        <p:txBody>
          <a:bodyPr wrap="square" lIns="0" tIns="0" rIns="0" bIns="0" rtlCol="0" anchor="t"/>
          <a:lstStyle/>
          <a:p>
            <a:pPr indent="0" marL="0">
              <a:buNone/>
            </a:pPr>
            <a:r>
              <a:rPr lang="en-US" sz="1200" dirty="0">
                <a:solidFill>
                  <a:srgbClr val="9AABBA"/>
                </a:solidFill>
                <a:latin typeface="Calibri" pitchFamily="34" charset="0"/>
                <a:ea typeface="Calibri" pitchFamily="34" charset="-122"/>
                <a:cs typeface="Calibri" pitchFamily="34" charset="-120"/>
              </a:rPr>
              <a:t>Spoken announcements and alerts</a:t>
            </a:r>
            <a:endParaRPr lang="en-US" sz="1200" dirty="0"/>
          </a:p>
        </p:txBody>
      </p:sp>
      <p:sp>
        <p:nvSpPr>
          <p:cNvPr id="28" name="Text 26"/>
          <p:cNvSpPr txBox="1"/>
          <p:nvPr/>
        </p:nvSpPr>
        <p:spPr>
          <a:xfrm>
            <a:off x="6479896" y="4398264"/>
            <a:ext cx="1964360" cy="246888"/>
          </a:xfrm>
          <a:prstGeom prst="rect">
            <a:avLst/>
          </a:prstGeom>
          <a:noFill/>
          <a:ln/>
        </p:spPr>
        <p:txBody>
          <a:bodyPr wrap="square" lIns="0" tIns="0" rIns="0" bIns="0" rtlCol="0" anchor="t"/>
          <a:lstStyle/>
          <a:p>
            <a:pPr indent="0" marL="0">
              <a:buNone/>
            </a:pPr>
            <a:r>
              <a:rPr lang="en-US" sz="1300" b="1" dirty="0">
                <a:solidFill>
                  <a:srgbClr val="E8EEF2"/>
                </a:solidFill>
                <a:latin typeface="Calibri" pitchFamily="34" charset="0"/>
                <a:ea typeface="Calibri" pitchFamily="34" charset="-122"/>
                <a:cs typeface="Calibri" pitchFamily="34" charset="-120"/>
              </a:rPr>
              <a:t>Amazon S3</a:t>
            </a:r>
            <a:endParaRPr lang="en-US" sz="1300" dirty="0"/>
          </a:p>
        </p:txBody>
      </p:sp>
      <p:sp>
        <p:nvSpPr>
          <p:cNvPr id="29" name="Text 27"/>
          <p:cNvSpPr txBox="1"/>
          <p:nvPr/>
        </p:nvSpPr>
        <p:spPr>
          <a:xfrm>
            <a:off x="6479896" y="4645152"/>
            <a:ext cx="1964360" cy="384048"/>
          </a:xfrm>
          <a:prstGeom prst="rect">
            <a:avLst/>
          </a:prstGeom>
          <a:noFill/>
          <a:ln/>
        </p:spPr>
        <p:txBody>
          <a:bodyPr wrap="square" lIns="0" tIns="0" rIns="0" bIns="0" rtlCol="0" anchor="t"/>
          <a:lstStyle/>
          <a:p>
            <a:pPr indent="0" marL="0">
              <a:buNone/>
            </a:pPr>
            <a:r>
              <a:rPr lang="en-US" sz="1200" dirty="0">
                <a:solidFill>
                  <a:srgbClr val="9AABBA"/>
                </a:solidFill>
                <a:latin typeface="Calibri" pitchFamily="34" charset="0"/>
                <a:ea typeface="Calibri" pitchFamily="34" charset="-122"/>
                <a:cs typeface="Calibri" pitchFamily="34" charset="-120"/>
              </a:rPr>
              <a:t>Audio, reports and model data</a:t>
            </a:r>
            <a:endParaRPr lang="en-US" sz="1200" dirty="0"/>
          </a:p>
        </p:txBody>
      </p:sp>
      <p:sp>
        <p:nvSpPr>
          <p:cNvPr id="30" name="Shape 28"/>
          <p:cNvSpPr/>
          <p:nvPr/>
        </p:nvSpPr>
        <p:spPr>
          <a:xfrm>
            <a:off x="8718575" y="3707892"/>
            <a:ext cx="219456" cy="219456"/>
          </a:xfrm>
          <a:prstGeom prst="rightArrow">
            <a:avLst/>
          </a:prstGeom>
          <a:solidFill>
            <a:srgbClr val="5EEAD4"/>
          </a:solidFill>
          <a:ln w="12700">
            <a:solidFill>
              <a:srgbClr val="5EEAD4"/>
            </a:solidFill>
            <a:prstDash val="solid"/>
          </a:ln>
        </p:spPr>
      </p:sp>
      <p:sp>
        <p:nvSpPr>
          <p:cNvPr id="31" name="Shape 29"/>
          <p:cNvSpPr/>
          <p:nvPr/>
        </p:nvSpPr>
        <p:spPr>
          <a:xfrm>
            <a:off x="9011183" y="2514600"/>
            <a:ext cx="2366696" cy="2606040"/>
          </a:xfrm>
          <a:prstGeom prst="roundRect">
            <a:avLst>
              <a:gd name="adj" fmla="val 3864"/>
            </a:avLst>
          </a:prstGeom>
          <a:solidFill>
            <a:srgbClr val="121B24"/>
          </a:solidFill>
          <a:ln w="12700">
            <a:solidFill>
              <a:srgbClr val="22303D"/>
            </a:solidFill>
            <a:prstDash val="solid"/>
          </a:ln>
        </p:spPr>
      </p:sp>
      <p:sp>
        <p:nvSpPr>
          <p:cNvPr id="32" name="Text 30"/>
          <p:cNvSpPr txBox="1"/>
          <p:nvPr/>
        </p:nvSpPr>
        <p:spPr>
          <a:xfrm>
            <a:off x="9212351" y="2715768"/>
            <a:ext cx="1964360" cy="274320"/>
          </a:xfrm>
          <a:prstGeom prst="rect">
            <a:avLst/>
          </a:prstGeom>
          <a:noFill/>
          <a:ln/>
        </p:spPr>
        <p:txBody>
          <a:bodyPr wrap="square" lIns="0" tIns="0" rIns="0" bIns="0" rtlCol="0" anchor="t"/>
          <a:lstStyle/>
          <a:p>
            <a:pPr indent="0" marL="0">
              <a:buNone/>
            </a:pPr>
            <a:r>
              <a:rPr lang="en-US" sz="1200" spc="300" kern="0" dirty="0">
                <a:solidFill>
                  <a:srgbClr val="5EEAD4"/>
                </a:solidFill>
                <a:latin typeface="Consolas" pitchFamily="34" charset="0"/>
                <a:ea typeface="Consolas" pitchFamily="34" charset="-122"/>
                <a:cs typeface="Consolas" pitchFamily="34" charset="-120"/>
              </a:rPr>
              <a:t>SERVE</a:t>
            </a:r>
            <a:endParaRPr lang="en-US" sz="1200" dirty="0"/>
          </a:p>
        </p:txBody>
      </p:sp>
      <p:sp>
        <p:nvSpPr>
          <p:cNvPr id="33" name="Text 31"/>
          <p:cNvSpPr txBox="1"/>
          <p:nvPr/>
        </p:nvSpPr>
        <p:spPr>
          <a:xfrm>
            <a:off x="9212351" y="3081528"/>
            <a:ext cx="1964360" cy="246888"/>
          </a:xfrm>
          <a:prstGeom prst="rect">
            <a:avLst/>
          </a:prstGeom>
          <a:noFill/>
          <a:ln/>
        </p:spPr>
        <p:txBody>
          <a:bodyPr wrap="square" lIns="0" tIns="0" rIns="0" bIns="0" rtlCol="0" anchor="t"/>
          <a:lstStyle/>
          <a:p>
            <a:pPr indent="0" marL="0">
              <a:buNone/>
            </a:pPr>
            <a:r>
              <a:rPr lang="en-US" sz="1300" b="1" dirty="0">
                <a:solidFill>
                  <a:srgbClr val="E8EEF2"/>
                </a:solidFill>
                <a:latin typeface="Calibri" pitchFamily="34" charset="0"/>
                <a:ea typeface="Calibri" pitchFamily="34" charset="-122"/>
                <a:cs typeface="Calibri" pitchFamily="34" charset="-120"/>
              </a:rPr>
              <a:t>AWS Amplify</a:t>
            </a:r>
            <a:endParaRPr lang="en-US" sz="1300" dirty="0"/>
          </a:p>
        </p:txBody>
      </p:sp>
      <p:sp>
        <p:nvSpPr>
          <p:cNvPr id="34" name="Text 32"/>
          <p:cNvSpPr txBox="1"/>
          <p:nvPr/>
        </p:nvSpPr>
        <p:spPr>
          <a:xfrm>
            <a:off x="9212351" y="3328416"/>
            <a:ext cx="1964360" cy="384048"/>
          </a:xfrm>
          <a:prstGeom prst="rect">
            <a:avLst/>
          </a:prstGeom>
          <a:noFill/>
          <a:ln/>
        </p:spPr>
        <p:txBody>
          <a:bodyPr wrap="square" lIns="0" tIns="0" rIns="0" bIns="0" rtlCol="0" anchor="t"/>
          <a:lstStyle/>
          <a:p>
            <a:pPr indent="0" marL="0">
              <a:buNone/>
            </a:pPr>
            <a:r>
              <a:rPr lang="en-US" sz="1200" dirty="0">
                <a:solidFill>
                  <a:srgbClr val="9AABBA"/>
                </a:solidFill>
                <a:latin typeface="Calibri" pitchFamily="34" charset="0"/>
                <a:ea typeface="Calibri" pitchFamily="34" charset="-122"/>
                <a:cs typeface="Calibri" pitchFamily="34" charset="-120"/>
              </a:rPr>
              <a:t>Hosts the dashboard</a:t>
            </a:r>
            <a:endParaRPr lang="en-US" sz="1200" dirty="0"/>
          </a:p>
        </p:txBody>
      </p:sp>
      <p:sp>
        <p:nvSpPr>
          <p:cNvPr id="35" name="Text 33"/>
          <p:cNvSpPr txBox="1"/>
          <p:nvPr/>
        </p:nvSpPr>
        <p:spPr>
          <a:xfrm>
            <a:off x="9212351" y="3739896"/>
            <a:ext cx="1964360" cy="246888"/>
          </a:xfrm>
          <a:prstGeom prst="rect">
            <a:avLst/>
          </a:prstGeom>
          <a:noFill/>
          <a:ln/>
        </p:spPr>
        <p:txBody>
          <a:bodyPr wrap="square" lIns="0" tIns="0" rIns="0" bIns="0" rtlCol="0" anchor="t"/>
          <a:lstStyle/>
          <a:p>
            <a:pPr indent="0" marL="0">
              <a:buNone/>
            </a:pPr>
            <a:r>
              <a:rPr lang="en-US" sz="1300" b="1" dirty="0">
                <a:solidFill>
                  <a:srgbClr val="E8EEF2"/>
                </a:solidFill>
                <a:latin typeface="Calibri" pitchFamily="34" charset="0"/>
                <a:ea typeface="Calibri" pitchFamily="34" charset="-122"/>
                <a:cs typeface="Calibri" pitchFamily="34" charset="-120"/>
              </a:rPr>
              <a:t>API Gateway, Cognito</a:t>
            </a:r>
            <a:endParaRPr lang="en-US" sz="1300" dirty="0"/>
          </a:p>
        </p:txBody>
      </p:sp>
      <p:sp>
        <p:nvSpPr>
          <p:cNvPr id="36" name="Text 34"/>
          <p:cNvSpPr txBox="1"/>
          <p:nvPr/>
        </p:nvSpPr>
        <p:spPr>
          <a:xfrm>
            <a:off x="9212351" y="3986784"/>
            <a:ext cx="1964360" cy="384048"/>
          </a:xfrm>
          <a:prstGeom prst="rect">
            <a:avLst/>
          </a:prstGeom>
          <a:noFill/>
          <a:ln/>
        </p:spPr>
        <p:txBody>
          <a:bodyPr wrap="square" lIns="0" tIns="0" rIns="0" bIns="0" rtlCol="0" anchor="t"/>
          <a:lstStyle/>
          <a:p>
            <a:pPr indent="0" marL="0">
              <a:buNone/>
            </a:pPr>
            <a:r>
              <a:rPr lang="en-US" sz="1200" dirty="0">
                <a:solidFill>
                  <a:srgbClr val="9AABBA"/>
                </a:solidFill>
                <a:latin typeface="Calibri" pitchFamily="34" charset="0"/>
                <a:ea typeface="Calibri" pitchFamily="34" charset="-122"/>
                <a:cs typeface="Calibri" pitchFamily="34" charset="-120"/>
              </a:rPr>
              <a:t>Signed API, guest and operator</a:t>
            </a:r>
            <a:endParaRPr lang="en-US" sz="1200" dirty="0"/>
          </a:p>
        </p:txBody>
      </p:sp>
      <p:sp>
        <p:nvSpPr>
          <p:cNvPr id="37" name="Text 35"/>
          <p:cNvSpPr txBox="1"/>
          <p:nvPr/>
        </p:nvSpPr>
        <p:spPr>
          <a:xfrm>
            <a:off x="9212351" y="4398264"/>
            <a:ext cx="1964360" cy="246888"/>
          </a:xfrm>
          <a:prstGeom prst="rect">
            <a:avLst/>
          </a:prstGeom>
          <a:noFill/>
          <a:ln/>
        </p:spPr>
        <p:txBody>
          <a:bodyPr wrap="square" lIns="0" tIns="0" rIns="0" bIns="0" rtlCol="0" anchor="t"/>
          <a:lstStyle/>
          <a:p>
            <a:pPr indent="0" marL="0">
              <a:buNone/>
            </a:pPr>
            <a:r>
              <a:rPr lang="en-US" sz="1300" b="1" dirty="0">
                <a:solidFill>
                  <a:srgbClr val="E8EEF2"/>
                </a:solidFill>
                <a:latin typeface="Calibri" pitchFamily="34" charset="0"/>
                <a:ea typeface="Calibri" pitchFamily="34" charset="-122"/>
                <a:cs typeface="Calibri" pitchFamily="34" charset="-120"/>
              </a:rPr>
              <a:t>CloudWatch, Budgets</a:t>
            </a:r>
            <a:endParaRPr lang="en-US" sz="1300" dirty="0"/>
          </a:p>
        </p:txBody>
      </p:sp>
      <p:sp>
        <p:nvSpPr>
          <p:cNvPr id="38" name="Text 36"/>
          <p:cNvSpPr txBox="1"/>
          <p:nvPr/>
        </p:nvSpPr>
        <p:spPr>
          <a:xfrm>
            <a:off x="9212351" y="4645152"/>
            <a:ext cx="1964360" cy="384048"/>
          </a:xfrm>
          <a:prstGeom prst="rect">
            <a:avLst/>
          </a:prstGeom>
          <a:noFill/>
          <a:ln/>
        </p:spPr>
        <p:txBody>
          <a:bodyPr wrap="square" lIns="0" tIns="0" rIns="0" bIns="0" rtlCol="0" anchor="t"/>
          <a:lstStyle/>
          <a:p>
            <a:pPr indent="0" marL="0">
              <a:buNone/>
            </a:pPr>
            <a:r>
              <a:rPr lang="en-US" sz="1200" dirty="0">
                <a:solidFill>
                  <a:srgbClr val="9AABBA"/>
                </a:solidFill>
                <a:latin typeface="Calibri" pitchFamily="34" charset="0"/>
                <a:ea typeface="Calibri" pitchFamily="34" charset="-122"/>
                <a:cs typeface="Calibri" pitchFamily="34" charset="-120"/>
              </a:rPr>
              <a:t>Dashboard, alarms, cost budget</a:t>
            </a:r>
            <a:endParaRPr lang="en-US" sz="1200" dirty="0"/>
          </a:p>
        </p:txBody>
      </p:sp>
      <p:sp>
        <p:nvSpPr>
          <p:cNvPr id="39" name="Shape 37"/>
          <p:cNvSpPr/>
          <p:nvPr/>
        </p:nvSpPr>
        <p:spPr>
          <a:xfrm>
            <a:off x="813816" y="5230368"/>
            <a:ext cx="10564063" cy="868680"/>
          </a:xfrm>
          <a:prstGeom prst="roundRect">
            <a:avLst>
              <a:gd name="adj" fmla="val 10526"/>
            </a:avLst>
          </a:prstGeom>
          <a:solidFill>
            <a:srgbClr val="0F2A2E"/>
          </a:solidFill>
          <a:ln w="12700">
            <a:solidFill>
              <a:srgbClr val="2A5A5E"/>
            </a:solidFill>
            <a:prstDash val="solid"/>
          </a:ln>
        </p:spPr>
      </p:sp>
      <p:sp>
        <p:nvSpPr>
          <p:cNvPr id="40" name="Text 38"/>
          <p:cNvSpPr txBox="1"/>
          <p:nvPr/>
        </p:nvSpPr>
        <p:spPr>
          <a:xfrm>
            <a:off x="1088136" y="5321808"/>
            <a:ext cx="10015423" cy="246888"/>
          </a:xfrm>
          <a:prstGeom prst="rect">
            <a:avLst/>
          </a:prstGeom>
          <a:noFill/>
          <a:ln/>
        </p:spPr>
        <p:txBody>
          <a:bodyPr wrap="square" lIns="0" tIns="0" rIns="0" bIns="0" rtlCol="0" anchor="t"/>
          <a:lstStyle/>
          <a:p>
            <a:pPr indent="0" marL="0">
              <a:buNone/>
            </a:pPr>
            <a:r>
              <a:rPr lang="en-US" sz="1200" spc="300" kern="0" dirty="0">
                <a:solidFill>
                  <a:srgbClr val="5EEAD4"/>
                </a:solidFill>
                <a:latin typeface="Consolas" pitchFamily="34" charset="0"/>
                <a:ea typeface="Consolas" pitchFamily="34" charset="-122"/>
                <a:cs typeface="Consolas" pitchFamily="34" charset="-120"/>
              </a:rPr>
              <a:t>GENERATIVE AI LAYER · AMAZON BEDROCK</a:t>
            </a:r>
            <a:endParaRPr lang="en-US" sz="1200" dirty="0"/>
          </a:p>
        </p:txBody>
      </p:sp>
      <p:sp>
        <p:nvSpPr>
          <p:cNvPr id="41" name="Text 39"/>
          <p:cNvSpPr txBox="1"/>
          <p:nvPr/>
        </p:nvSpPr>
        <p:spPr>
          <a:xfrm>
            <a:off x="1088136" y="5596128"/>
            <a:ext cx="10015423" cy="457200"/>
          </a:xfrm>
          <a:prstGeom prst="rect">
            <a:avLst/>
          </a:prstGeom>
          <a:noFill/>
          <a:ln/>
        </p:spPr>
        <p:txBody>
          <a:bodyPr wrap="square" lIns="0" tIns="0" rIns="0" bIns="0" rtlCol="0" anchor="t"/>
          <a:lstStyle/>
          <a:p>
            <a:pPr indent="0" marL="0">
              <a:buNone/>
            </a:pPr>
            <a:r>
              <a:rPr lang="en-US" sz="1200" dirty="0">
                <a:solidFill>
                  <a:srgbClr val="C7D3DD"/>
                </a:solidFill>
                <a:latin typeface="Calibri" pitchFamily="34" charset="0"/>
                <a:ea typeface="Calibri" pitchFamily="34" charset="-122"/>
                <a:cs typeface="Calibri" pitchFamily="34" charset="-120"/>
              </a:rPr>
              <a:t>Defined in our CDK app: bilingual announcements, advice, explanations and reports via the Converse API, and the Ask BreatheIQ agent with a Knowledge Base and Guardrails.</a:t>
            </a:r>
            <a:endParaRPr lang="en-US" sz="1200" dirty="0"/>
          </a:p>
        </p:txBody>
      </p:sp>
      <p:sp>
        <p:nvSpPr>
          <p:cNvPr id="25" name="Slide Number Placeholder 0"/>
          <p:cNvSpPr>
            <a:spLocks noGrp="1"/>
          </p:cNvSpPr>
          <p:nvPr>
            <p:ph type="sldNum" sz="quarter" idx="4294967295"/>
          </p:nvPr>
        </p:nvSpPr>
        <p:spPr>
          <a:xfrm>
            <a:off x="10463479" y="6263640"/>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D90A3"/>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813816" y="813816"/>
            <a:ext cx="10564063" cy="292608"/>
          </a:xfrm>
          <a:prstGeom prst="rect">
            <a:avLst/>
          </a:prstGeom>
          <a:noFill/>
          <a:ln/>
        </p:spPr>
        <p:txBody>
          <a:bodyPr wrap="square" lIns="0" tIns="0" rIns="0" bIns="0" rtlCol="0" anchor="t"/>
          <a:lstStyle/>
          <a:p>
            <a:pPr indent="0" marL="0">
              <a:buNone/>
            </a:pPr>
            <a:r>
              <a:rPr lang="en-US" sz="1200" spc="300" kern="0" dirty="0">
                <a:solidFill>
                  <a:srgbClr val="5EEAD4"/>
                </a:solidFill>
                <a:latin typeface="Consolas" pitchFamily="34" charset="0"/>
                <a:ea typeface="Consolas" pitchFamily="34" charset="-122"/>
                <a:cs typeface="Consolas" pitchFamily="34" charset="-120"/>
              </a:rPr>
              <a:t>11 · THE PRODUCT</a:t>
            </a:r>
            <a:endParaRPr lang="en-US" sz="1200" dirty="0"/>
          </a:p>
        </p:txBody>
      </p:sp>
      <p:sp>
        <p:nvSpPr>
          <p:cNvPr id="3" name="Text 0"/>
          <p:cNvSpPr/>
          <p:nvPr>
            <p:ph idx="100" type="title" hasCustomPrompt="1"/>
          </p:nvPr>
        </p:nvSpPr>
        <p:spPr>
          <a:xfrm>
            <a:off x="813816" y="1161288"/>
            <a:ext cx="10564063" cy="1188720"/>
          </a:xfrm>
          <a:prstGeom prst="rect">
            <a:avLst/>
          </a:prstGeom>
          <a:noFill/>
          <a:ln/>
        </p:spPr>
        <p:txBody>
          <a:bodyPr wrap="square" lIns="0" tIns="0" rIns="0" bIns="0" rtlCol="0" anchor="t"/>
          <a:lstStyle/>
          <a:p>
            <a:pPr algn="l" indent="0" marL="0">
              <a:buNone/>
            </a:pPr>
            <a:r>
              <a:rPr lang="en-US" sz="3600" b="1" dirty="0">
                <a:solidFill>
                  <a:srgbClr val="E8EEF2"/>
                </a:solidFill>
                <a:latin typeface="Calibri" pitchFamily="34" charset="0"/>
                <a:ea typeface="Calibri" pitchFamily="34" charset="-122"/>
                <a:cs typeface="Calibri" pitchFamily="34" charset="-120"/>
              </a:rPr>
              <a:t>One dashboard, live on AWS</a:t>
            </a:r>
            <a:endParaRPr lang="en-US" sz="3600" dirty="0"/>
          </a:p>
        </p:txBody>
      </p:sp>
      <p:sp>
        <p:nvSpPr>
          <p:cNvPr id="4" name="Text 2">
            <a:hlinkClick r:id="rId1" tooltip=""/>
          </p:cNvPr>
          <p:cNvSpPr txBox="1"/>
          <p:nvPr/>
        </p:nvSpPr>
        <p:spPr>
          <a:xfrm>
            <a:off x="7537399" y="1298448"/>
            <a:ext cx="3840480" cy="320040"/>
          </a:xfrm>
          <a:prstGeom prst="rect">
            <a:avLst/>
          </a:prstGeom>
          <a:noFill/>
          <a:ln/>
        </p:spPr>
        <p:txBody>
          <a:bodyPr wrap="square" lIns="0" tIns="0" rIns="0" bIns="0" rtlCol="0" anchor="t"/>
          <a:lstStyle/>
          <a:p>
            <a:pPr algn="r" indent="0" marL="0">
              <a:buNone/>
            </a:pPr>
            <a:r>
              <a:rPr lang="en-US" sz="1300" u="sng" dirty="0">
                <a:solidFill>
                  <a:srgbClr val="5EEAD4"/>
                </a:solidFill>
                <a:latin typeface="Consolas" pitchFamily="34" charset="0"/>
                <a:ea typeface="Consolas" pitchFamily="34" charset="-122"/>
                <a:cs typeface="Consolas" pitchFamily="34" charset="-120"/>
                <a:hlinkClick r:id="rId1" invalidUrl="" action="" tgtFrame="" tooltip="" history="1" highlightClick="0" endSnd="0">
                  <a:extLst>
                    <a:ext uri="{A12FA001-AC4F-418D-AE19-62706E023703}">
                      <ahyp:hlinkClr xmlns:ahyp="http://schemas.microsoft.com/office/drawing/2018/hyperlinkcolor" val="tx"/>
                    </a:ext>
                  </a:extLst>
                </a:hlinkClick>
              </a:rPr>
              <a:t>main.d3abjrsxzx174i.amplifyapp.com</a:t>
            </a:r>
            <a:endParaRPr lang="en-US" sz="1300" dirty="0"/>
          </a:p>
        </p:txBody>
      </p:sp>
      <p:sp>
        <p:nvSpPr>
          <p:cNvPr id="5" name="Shape 3"/>
          <p:cNvSpPr/>
          <p:nvPr/>
        </p:nvSpPr>
        <p:spPr>
          <a:xfrm>
            <a:off x="786384" y="2487168"/>
            <a:ext cx="6400800" cy="3306852"/>
          </a:xfrm>
          <a:prstGeom prst="rect">
            <a:avLst/>
          </a:prstGeom>
          <a:solidFill>
            <a:srgbClr val="22303D"/>
          </a:solidFill>
          <a:ln w="12700">
            <a:solidFill>
              <a:srgbClr val="22303D"/>
            </a:solidFill>
            <a:prstDash val="solid"/>
          </a:ln>
        </p:spPr>
      </p:sp>
      <p:pic>
        <p:nvPicPr>
          <p:cNvPr id="6" name="Image 0" descr="BreatheIQ Live page: cabin AQI gauge on the CPCB scale, the coach-wall LCD, the four Random Forest heads and the relays, fed from AWS IoT Core">    </p:cNvPr>
          <p:cNvPicPr>
            <a:picLocks noChangeAspect="1"/>
          </p:cNvPicPr>
          <p:nvPr/>
        </p:nvPicPr>
        <p:blipFill>
          <a:blip r:embed="rId2"/>
          <a:stretch>
            <a:fillRect/>
          </a:stretch>
        </p:blipFill>
        <p:spPr>
          <a:xfrm>
            <a:off x="813816" y="2514600"/>
            <a:ext cx="6345936" cy="3251988"/>
          </a:xfrm>
          <a:prstGeom prst="rect">
            <a:avLst/>
          </a:prstGeom>
        </p:spPr>
      </p:pic>
      <p:sp>
        <p:nvSpPr>
          <p:cNvPr id="7" name="Text 4"/>
          <p:cNvSpPr txBox="1"/>
          <p:nvPr/>
        </p:nvSpPr>
        <p:spPr>
          <a:xfrm>
            <a:off x="813816" y="5858028"/>
            <a:ext cx="6345936" cy="274320"/>
          </a:xfrm>
          <a:prstGeom prst="rect">
            <a:avLst/>
          </a:prstGeom>
          <a:noFill/>
          <a:ln/>
        </p:spPr>
        <p:txBody>
          <a:bodyPr wrap="square" lIns="0" tIns="0" rIns="0" bIns="0" rtlCol="0" anchor="t"/>
          <a:lstStyle/>
          <a:p>
            <a:pPr indent="0" marL="0">
              <a:buNone/>
            </a:pPr>
            <a:r>
              <a:rPr lang="en-US" sz="1200" dirty="0">
                <a:solidFill>
                  <a:srgbClr val="9AABBA"/>
                </a:solidFill>
                <a:latin typeface="Calibri" pitchFamily="34" charset="0"/>
                <a:ea typeface="Calibri" pitchFamily="34" charset="-122"/>
                <a:cs typeface="Calibri" pitchFamily="34" charset="-120"/>
              </a:rPr>
              <a:t>Live: cabin AQI, the four model heads and the relays, every two seconds from AWS IoT Core.</a:t>
            </a:r>
            <a:endParaRPr lang="en-US" sz="1200" dirty="0"/>
          </a:p>
        </p:txBody>
      </p:sp>
      <p:sp>
        <p:nvSpPr>
          <p:cNvPr id="8" name="Shape 5"/>
          <p:cNvSpPr/>
          <p:nvPr/>
        </p:nvSpPr>
        <p:spPr>
          <a:xfrm>
            <a:off x="7333488" y="2487168"/>
            <a:ext cx="4071823" cy="1474651"/>
          </a:xfrm>
          <a:prstGeom prst="rect">
            <a:avLst/>
          </a:prstGeom>
          <a:solidFill>
            <a:srgbClr val="22303D"/>
          </a:solidFill>
          <a:ln w="12700">
            <a:solidFill>
              <a:srgbClr val="22303D"/>
            </a:solidFill>
            <a:prstDash val="solid"/>
          </a:ln>
        </p:spPr>
      </p:sp>
      <p:pic>
        <p:nvPicPr>
          <p:cNvPr id="9" name="Image 1" descr="System page, Cloud tab: the AWS pipeline with live numbers for IoT Core, Lambda, DynamoDB and Step Functions">    </p:cNvPr>
          <p:cNvPicPr>
            <a:picLocks noChangeAspect="1"/>
          </p:cNvPicPr>
          <p:nvPr/>
        </p:nvPicPr>
        <p:blipFill>
          <a:blip r:embed="rId3"/>
          <a:stretch>
            <a:fillRect/>
          </a:stretch>
        </p:blipFill>
        <p:spPr>
          <a:xfrm>
            <a:off x="7360920" y="2514600"/>
            <a:ext cx="4016959" cy="1419787"/>
          </a:xfrm>
          <a:prstGeom prst="rect">
            <a:avLst/>
          </a:prstGeom>
        </p:spPr>
      </p:pic>
      <p:sp>
        <p:nvSpPr>
          <p:cNvPr id="10" name="Text 6"/>
          <p:cNvSpPr txBox="1"/>
          <p:nvPr/>
        </p:nvSpPr>
        <p:spPr>
          <a:xfrm>
            <a:off x="7360920" y="4007539"/>
            <a:ext cx="4016959" cy="274320"/>
          </a:xfrm>
          <a:prstGeom prst="rect">
            <a:avLst/>
          </a:prstGeom>
          <a:noFill/>
          <a:ln/>
        </p:spPr>
        <p:txBody>
          <a:bodyPr wrap="square" lIns="0" tIns="0" rIns="0" bIns="0" rtlCol="0" anchor="t"/>
          <a:lstStyle/>
          <a:p>
            <a:pPr indent="0" marL="0">
              <a:buNone/>
            </a:pPr>
            <a:r>
              <a:rPr lang="en-US" sz="1200" dirty="0">
                <a:solidFill>
                  <a:srgbClr val="9AABBA"/>
                </a:solidFill>
                <a:latin typeface="Calibri" pitchFamily="34" charset="0"/>
                <a:ea typeface="Calibri" pitchFamily="34" charset="-122"/>
                <a:cs typeface="Calibri" pitchFamily="34" charset="-120"/>
              </a:rPr>
              <a:t>System: the AWS pipeline with live numbers.</a:t>
            </a:r>
            <a:endParaRPr lang="en-US" sz="1200" dirty="0"/>
          </a:p>
        </p:txBody>
      </p:sp>
      <p:sp>
        <p:nvSpPr>
          <p:cNvPr id="11" name="Shape 7"/>
          <p:cNvSpPr/>
          <p:nvPr/>
        </p:nvSpPr>
        <p:spPr>
          <a:xfrm>
            <a:off x="7333488" y="4364155"/>
            <a:ext cx="4071823" cy="1324592"/>
          </a:xfrm>
          <a:prstGeom prst="rect">
            <a:avLst/>
          </a:prstGeom>
          <a:solidFill>
            <a:srgbClr val="22303D"/>
          </a:solidFill>
          <a:ln w="12700">
            <a:solidFill>
              <a:srgbClr val="22303D"/>
            </a:solidFill>
            <a:prstDash val="solid"/>
          </a:ln>
        </p:spPr>
      </p:sp>
      <p:pic>
        <p:nvPicPr>
          <p:cNvPr id="12" name="Image 2" descr="Fleet page: the route from New Delhi to Prayagraj with the pollution-zone geofences and the train">    </p:cNvPr>
          <p:cNvPicPr>
            <a:picLocks noChangeAspect="1"/>
          </p:cNvPicPr>
          <p:nvPr/>
        </p:nvPicPr>
        <p:blipFill>
          <a:blip r:embed="rId4"/>
          <a:stretch>
            <a:fillRect/>
          </a:stretch>
        </p:blipFill>
        <p:spPr>
          <a:xfrm>
            <a:off x="7360920" y="4391587"/>
            <a:ext cx="4016959" cy="1269728"/>
          </a:xfrm>
          <a:prstGeom prst="rect">
            <a:avLst/>
          </a:prstGeom>
        </p:spPr>
      </p:pic>
      <p:sp>
        <p:nvSpPr>
          <p:cNvPr id="13" name="Text 8"/>
          <p:cNvSpPr txBox="1"/>
          <p:nvPr/>
        </p:nvSpPr>
        <p:spPr>
          <a:xfrm>
            <a:off x="7360920" y="5734468"/>
            <a:ext cx="4016959" cy="274320"/>
          </a:xfrm>
          <a:prstGeom prst="rect">
            <a:avLst/>
          </a:prstGeom>
          <a:noFill/>
          <a:ln/>
        </p:spPr>
        <p:txBody>
          <a:bodyPr wrap="square" lIns="0" tIns="0" rIns="0" bIns="0" rtlCol="0" anchor="t"/>
          <a:lstStyle/>
          <a:p>
            <a:pPr indent="0" marL="0">
              <a:buNone/>
            </a:pPr>
            <a:r>
              <a:rPr lang="en-US" sz="1200" dirty="0">
                <a:solidFill>
                  <a:srgbClr val="9AABBA"/>
                </a:solidFill>
                <a:latin typeface="Calibri" pitchFamily="34" charset="0"/>
                <a:ea typeface="Calibri" pitchFamily="34" charset="-122"/>
                <a:cs typeface="Calibri" pitchFamily="34" charset="-120"/>
              </a:rPr>
              <a:t>Fleet: route map with pollution-zone geofences.</a:t>
            </a:r>
            <a:endParaRPr lang="en-US" sz="1200" dirty="0"/>
          </a:p>
        </p:txBody>
      </p:sp>
      <p:sp>
        <p:nvSpPr>
          <p:cNvPr id="25" name="Slide Number Placeholder 0"/>
          <p:cNvSpPr>
            <a:spLocks noGrp="1"/>
          </p:cNvSpPr>
          <p:nvPr>
            <p:ph type="sldNum" sz="quarter" idx="4294967295"/>
          </p:nvPr>
        </p:nvSpPr>
        <p:spPr>
          <a:xfrm>
            <a:off x="10463479" y="6263640"/>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D90A3"/>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813816" y="813816"/>
            <a:ext cx="10564063" cy="292608"/>
          </a:xfrm>
          <a:prstGeom prst="rect">
            <a:avLst/>
          </a:prstGeom>
          <a:noFill/>
          <a:ln/>
        </p:spPr>
        <p:txBody>
          <a:bodyPr wrap="square" lIns="0" tIns="0" rIns="0" bIns="0" rtlCol="0" anchor="t"/>
          <a:lstStyle/>
          <a:p>
            <a:pPr indent="0" marL="0">
              <a:buNone/>
            </a:pPr>
            <a:r>
              <a:rPr lang="en-US" sz="1200" spc="300" kern="0" dirty="0">
                <a:solidFill>
                  <a:srgbClr val="0F766E"/>
                </a:solidFill>
                <a:latin typeface="Consolas" pitchFamily="34" charset="0"/>
                <a:ea typeface="Consolas" pitchFamily="34" charset="-122"/>
                <a:cs typeface="Consolas" pitchFamily="34" charset="-120"/>
              </a:rPr>
              <a:t>12 · ROADMAP</a:t>
            </a:r>
            <a:endParaRPr lang="en-US" sz="1200" dirty="0"/>
          </a:p>
        </p:txBody>
      </p:sp>
      <p:sp>
        <p:nvSpPr>
          <p:cNvPr id="3" name="Text 0"/>
          <p:cNvSpPr/>
          <p:nvPr>
            <p:ph idx="100" type="title" hasCustomPrompt="1"/>
          </p:nvPr>
        </p:nvSpPr>
        <p:spPr>
          <a:xfrm>
            <a:off x="813816" y="1161288"/>
            <a:ext cx="10564063" cy="1188720"/>
          </a:xfrm>
          <a:prstGeom prst="rect">
            <a:avLst/>
          </a:prstGeom>
          <a:noFill/>
          <a:ln/>
        </p:spPr>
        <p:txBody>
          <a:bodyPr wrap="square" lIns="0" tIns="0" rIns="0" bIns="0" rtlCol="0" anchor="t"/>
          <a:lstStyle/>
          <a:p>
            <a:pPr algn="l" indent="0" marL="0">
              <a:buNone/>
            </a:pPr>
            <a:r>
              <a:rPr lang="en-US" sz="3600" b="1" dirty="0">
                <a:solidFill>
                  <a:srgbClr val="14202B"/>
                </a:solidFill>
                <a:latin typeface="Calibri" pitchFamily="34" charset="0"/>
                <a:ea typeface="Calibri" pitchFamily="34" charset="-122"/>
                <a:cs typeface="Calibri" pitchFamily="34" charset="-120"/>
              </a:rPr>
              <a:t>From one coach to the whole train</a:t>
            </a:r>
            <a:endParaRPr lang="en-US" sz="3600" dirty="0"/>
          </a:p>
        </p:txBody>
      </p:sp>
      <p:sp>
        <p:nvSpPr>
          <p:cNvPr id="4" name="Shape 2"/>
          <p:cNvSpPr/>
          <p:nvPr/>
        </p:nvSpPr>
        <p:spPr>
          <a:xfrm>
            <a:off x="813816" y="2514600"/>
            <a:ext cx="5181448" cy="1659636"/>
          </a:xfrm>
          <a:prstGeom prst="roundRect">
            <a:avLst>
              <a:gd name="adj" fmla="val 5510"/>
            </a:avLst>
          </a:prstGeom>
          <a:solidFill>
            <a:srgbClr val="FBFCFB"/>
          </a:solidFill>
          <a:ln w="12700">
            <a:solidFill>
              <a:srgbClr val="D9E1DF"/>
            </a:solidFill>
            <a:prstDash val="solid"/>
          </a:ln>
        </p:spPr>
      </p:sp>
      <p:sp>
        <p:nvSpPr>
          <p:cNvPr id="5" name="Shape 3"/>
          <p:cNvSpPr/>
          <p:nvPr/>
        </p:nvSpPr>
        <p:spPr>
          <a:xfrm>
            <a:off x="1088136" y="2788920"/>
            <a:ext cx="502920" cy="502920"/>
          </a:xfrm>
          <a:prstGeom prst="ellipse">
            <a:avLst/>
          </a:prstGeom>
          <a:solidFill>
            <a:srgbClr val="0F766E"/>
          </a:solidFill>
          <a:ln w="12700">
            <a:solidFill>
              <a:srgbClr val="0F766E"/>
            </a:solidFill>
            <a:prstDash val="solid"/>
          </a:ln>
        </p:spPr>
      </p:sp>
      <p:sp>
        <p:nvSpPr>
          <p:cNvPr id="6" name="Text 4"/>
          <p:cNvSpPr txBox="1"/>
          <p:nvPr/>
        </p:nvSpPr>
        <p:spPr>
          <a:xfrm>
            <a:off x="1088136" y="2788920"/>
            <a:ext cx="502920" cy="502920"/>
          </a:xfrm>
          <a:prstGeom prst="rect">
            <a:avLst/>
          </a:prstGeom>
          <a:noFill/>
          <a:ln/>
        </p:spPr>
        <p:txBody>
          <a:bodyPr wrap="square" lIns="0" tIns="0" rIns="0" bIns="0" rtlCol="0" anchor="ctr"/>
          <a:lstStyle/>
          <a:p>
            <a:pPr algn="ctr" indent="0" marL="0">
              <a:buNone/>
            </a:pPr>
            <a:r>
              <a:rPr lang="en-US" sz="1500" b="1" dirty="0">
                <a:solidFill>
                  <a:srgbClr val="F2F5F4"/>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773936" y="2807208"/>
            <a:ext cx="3947008" cy="384048"/>
          </a:xfrm>
          <a:prstGeom prst="rect">
            <a:avLst/>
          </a:prstGeom>
          <a:noFill/>
          <a:ln/>
        </p:spPr>
        <p:txBody>
          <a:bodyPr wrap="square" lIns="0" tIns="0" rIns="0" bIns="0" rtlCol="0" anchor="t"/>
          <a:lstStyle/>
          <a:p>
            <a:pPr indent="0" marL="0">
              <a:buNone/>
            </a:pPr>
            <a:r>
              <a:rPr lang="en-US" sz="1800" b="1" dirty="0">
                <a:solidFill>
                  <a:srgbClr val="14202B"/>
                </a:solidFill>
                <a:latin typeface="Calibri" pitchFamily="34" charset="0"/>
                <a:ea typeface="Calibri" pitchFamily="34" charset="-122"/>
                <a:cs typeface="Calibri" pitchFamily="34" charset="-120"/>
              </a:rPr>
              <a:t>PM2.5 and PM10 in the frame</a:t>
            </a:r>
            <a:endParaRPr lang="en-US" sz="1800" dirty="0"/>
          </a:p>
        </p:txBody>
      </p:sp>
      <p:sp>
        <p:nvSpPr>
          <p:cNvPr id="8" name="Text 6"/>
          <p:cNvSpPr txBox="1"/>
          <p:nvPr/>
        </p:nvSpPr>
        <p:spPr>
          <a:xfrm>
            <a:off x="1773936" y="3246120"/>
            <a:ext cx="3947008" cy="777240"/>
          </a:xfrm>
          <a:prstGeom prst="rect">
            <a:avLst/>
          </a:prstGeom>
          <a:noFill/>
          <a:ln/>
        </p:spPr>
        <p:txBody>
          <a:bodyPr wrap="square" lIns="0" tIns="0" rIns="0" bIns="0" rtlCol="0" anchor="t"/>
          <a:lstStyle/>
          <a:p>
            <a:pPr indent="0" marL="0">
              <a:buNone/>
            </a:pPr>
            <a:r>
              <a:rPr lang="en-US" sz="1400" dirty="0">
                <a:solidFill>
                  <a:srgbClr val="4A5A68"/>
                </a:solidFill>
                <a:latin typeface="Calibri" pitchFamily="34" charset="0"/>
                <a:ea typeface="Calibri" pitchFamily="34" charset="-122"/>
                <a:cs typeface="Calibri" pitchFamily="34" charset="-120"/>
              </a:rPr>
              <a:t>The firmware sends PM1.0 today; sending all three removes the estimate.</a:t>
            </a:r>
            <a:endParaRPr lang="en-US" sz="1400" dirty="0"/>
          </a:p>
        </p:txBody>
      </p:sp>
      <p:sp>
        <p:nvSpPr>
          <p:cNvPr id="9" name="Shape 7"/>
          <p:cNvSpPr/>
          <p:nvPr/>
        </p:nvSpPr>
        <p:spPr>
          <a:xfrm>
            <a:off x="6196432" y="2514600"/>
            <a:ext cx="5181448" cy="1659636"/>
          </a:xfrm>
          <a:prstGeom prst="roundRect">
            <a:avLst>
              <a:gd name="adj" fmla="val 5510"/>
            </a:avLst>
          </a:prstGeom>
          <a:solidFill>
            <a:srgbClr val="FBFCFB"/>
          </a:solidFill>
          <a:ln w="12700">
            <a:solidFill>
              <a:srgbClr val="D9E1DF"/>
            </a:solidFill>
            <a:prstDash val="solid"/>
          </a:ln>
        </p:spPr>
      </p:sp>
      <p:sp>
        <p:nvSpPr>
          <p:cNvPr id="10" name="Shape 8"/>
          <p:cNvSpPr/>
          <p:nvPr/>
        </p:nvSpPr>
        <p:spPr>
          <a:xfrm>
            <a:off x="6470752" y="2788920"/>
            <a:ext cx="502920" cy="502920"/>
          </a:xfrm>
          <a:prstGeom prst="ellipse">
            <a:avLst/>
          </a:prstGeom>
          <a:solidFill>
            <a:srgbClr val="0F766E"/>
          </a:solidFill>
          <a:ln w="12700">
            <a:solidFill>
              <a:srgbClr val="0F766E"/>
            </a:solidFill>
            <a:prstDash val="solid"/>
          </a:ln>
        </p:spPr>
      </p:sp>
      <p:sp>
        <p:nvSpPr>
          <p:cNvPr id="11" name="Text 9"/>
          <p:cNvSpPr txBox="1"/>
          <p:nvPr/>
        </p:nvSpPr>
        <p:spPr>
          <a:xfrm>
            <a:off x="6470752" y="2788920"/>
            <a:ext cx="502920" cy="502920"/>
          </a:xfrm>
          <a:prstGeom prst="rect">
            <a:avLst/>
          </a:prstGeom>
          <a:noFill/>
          <a:ln/>
        </p:spPr>
        <p:txBody>
          <a:bodyPr wrap="square" lIns="0" tIns="0" rIns="0" bIns="0" rtlCol="0" anchor="ctr"/>
          <a:lstStyle/>
          <a:p>
            <a:pPr algn="ctr" indent="0" marL="0">
              <a:buNone/>
            </a:pPr>
            <a:r>
              <a:rPr lang="en-US" sz="1500" b="1" dirty="0">
                <a:solidFill>
                  <a:srgbClr val="F2F5F4"/>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7156552" y="2807208"/>
            <a:ext cx="3947008" cy="384048"/>
          </a:xfrm>
          <a:prstGeom prst="rect">
            <a:avLst/>
          </a:prstGeom>
          <a:noFill/>
          <a:ln/>
        </p:spPr>
        <p:txBody>
          <a:bodyPr wrap="square" lIns="0" tIns="0" rIns="0" bIns="0" rtlCol="0" anchor="t"/>
          <a:lstStyle/>
          <a:p>
            <a:pPr indent="0" marL="0">
              <a:buNone/>
            </a:pPr>
            <a:r>
              <a:rPr lang="en-US" sz="1800" b="1" dirty="0">
                <a:solidFill>
                  <a:srgbClr val="14202B"/>
                </a:solidFill>
                <a:latin typeface="Calibri" pitchFamily="34" charset="0"/>
                <a:ea typeface="Calibri" pitchFamily="34" charset="-122"/>
                <a:cs typeface="Calibri" pitchFamily="34" charset="-120"/>
              </a:rPr>
              <a:t>Occupancy sensing</a:t>
            </a:r>
            <a:endParaRPr lang="en-US" sz="1800" dirty="0"/>
          </a:p>
        </p:txBody>
      </p:sp>
      <p:sp>
        <p:nvSpPr>
          <p:cNvPr id="13" name="Text 11"/>
          <p:cNvSpPr txBox="1"/>
          <p:nvPr/>
        </p:nvSpPr>
        <p:spPr>
          <a:xfrm>
            <a:off x="7156552" y="3246120"/>
            <a:ext cx="3947008" cy="777240"/>
          </a:xfrm>
          <a:prstGeom prst="rect">
            <a:avLst/>
          </a:prstGeom>
          <a:noFill/>
          <a:ln/>
        </p:spPr>
        <p:txBody>
          <a:bodyPr wrap="square" lIns="0" tIns="0" rIns="0" bIns="0" rtlCol="0" anchor="t"/>
          <a:lstStyle/>
          <a:p>
            <a:pPr indent="0" marL="0">
              <a:buNone/>
            </a:pPr>
            <a:r>
              <a:rPr lang="en-US" sz="1400" dirty="0">
                <a:solidFill>
                  <a:srgbClr val="4A5A68"/>
                </a:solidFill>
                <a:latin typeface="Calibri" pitchFamily="34" charset="0"/>
                <a:ea typeface="Calibri" pitchFamily="34" charset="-122"/>
                <a:cs typeface="Calibri" pitchFamily="34" charset="-120"/>
              </a:rPr>
              <a:t>The ozone interlock then runs on a measured signal.</a:t>
            </a:r>
            <a:endParaRPr lang="en-US" sz="1400" dirty="0"/>
          </a:p>
        </p:txBody>
      </p:sp>
      <p:sp>
        <p:nvSpPr>
          <p:cNvPr id="14" name="Shape 12"/>
          <p:cNvSpPr/>
          <p:nvPr/>
        </p:nvSpPr>
        <p:spPr>
          <a:xfrm>
            <a:off x="813816" y="4375404"/>
            <a:ext cx="5181448" cy="1659636"/>
          </a:xfrm>
          <a:prstGeom prst="roundRect">
            <a:avLst>
              <a:gd name="adj" fmla="val 5510"/>
            </a:avLst>
          </a:prstGeom>
          <a:solidFill>
            <a:srgbClr val="FBFCFB"/>
          </a:solidFill>
          <a:ln w="12700">
            <a:solidFill>
              <a:srgbClr val="D9E1DF"/>
            </a:solidFill>
            <a:prstDash val="solid"/>
          </a:ln>
        </p:spPr>
      </p:sp>
      <p:sp>
        <p:nvSpPr>
          <p:cNvPr id="15" name="Shape 13"/>
          <p:cNvSpPr/>
          <p:nvPr/>
        </p:nvSpPr>
        <p:spPr>
          <a:xfrm>
            <a:off x="1088136" y="4649724"/>
            <a:ext cx="502920" cy="502920"/>
          </a:xfrm>
          <a:prstGeom prst="ellipse">
            <a:avLst/>
          </a:prstGeom>
          <a:solidFill>
            <a:srgbClr val="0F766E"/>
          </a:solidFill>
          <a:ln w="12700">
            <a:solidFill>
              <a:srgbClr val="0F766E"/>
            </a:solidFill>
            <a:prstDash val="solid"/>
          </a:ln>
        </p:spPr>
      </p:sp>
      <p:sp>
        <p:nvSpPr>
          <p:cNvPr id="16" name="Text 14"/>
          <p:cNvSpPr txBox="1"/>
          <p:nvPr/>
        </p:nvSpPr>
        <p:spPr>
          <a:xfrm>
            <a:off x="1088136" y="4649724"/>
            <a:ext cx="502920" cy="502920"/>
          </a:xfrm>
          <a:prstGeom prst="rect">
            <a:avLst/>
          </a:prstGeom>
          <a:noFill/>
          <a:ln/>
        </p:spPr>
        <p:txBody>
          <a:bodyPr wrap="square" lIns="0" tIns="0" rIns="0" bIns="0" rtlCol="0" anchor="ctr"/>
          <a:lstStyle/>
          <a:p>
            <a:pPr algn="ctr" indent="0" marL="0">
              <a:buNone/>
            </a:pPr>
            <a:r>
              <a:rPr lang="en-US" sz="1500" b="1" dirty="0">
                <a:solidFill>
                  <a:srgbClr val="F2F5F4"/>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1773936" y="4668012"/>
            <a:ext cx="3947008" cy="384048"/>
          </a:xfrm>
          <a:prstGeom prst="rect">
            <a:avLst/>
          </a:prstGeom>
          <a:noFill/>
          <a:ln/>
        </p:spPr>
        <p:txBody>
          <a:bodyPr wrap="square" lIns="0" tIns="0" rIns="0" bIns="0" rtlCol="0" anchor="t"/>
          <a:lstStyle/>
          <a:p>
            <a:pPr indent="0" marL="0">
              <a:buNone/>
            </a:pPr>
            <a:r>
              <a:rPr lang="en-US" sz="1800" b="1" dirty="0">
                <a:solidFill>
                  <a:srgbClr val="14202B"/>
                </a:solidFill>
                <a:latin typeface="Calibri" pitchFamily="34" charset="0"/>
                <a:ea typeface="Calibri" pitchFamily="34" charset="-122"/>
                <a:cs typeface="Calibri" pitchFamily="34" charset="-120"/>
              </a:rPr>
              <a:t>Straight to AWS IoT Core</a:t>
            </a:r>
            <a:endParaRPr lang="en-US" sz="1800" dirty="0"/>
          </a:p>
        </p:txBody>
      </p:sp>
      <p:sp>
        <p:nvSpPr>
          <p:cNvPr id="18" name="Text 16"/>
          <p:cNvSpPr txBox="1"/>
          <p:nvPr/>
        </p:nvSpPr>
        <p:spPr>
          <a:xfrm>
            <a:off x="1773936" y="5106924"/>
            <a:ext cx="3947008" cy="777240"/>
          </a:xfrm>
          <a:prstGeom prst="rect">
            <a:avLst/>
          </a:prstGeom>
          <a:noFill/>
          <a:ln/>
        </p:spPr>
        <p:txBody>
          <a:bodyPr wrap="square" lIns="0" tIns="0" rIns="0" bIns="0" rtlCol="0" anchor="t"/>
          <a:lstStyle/>
          <a:p>
            <a:pPr indent="0" marL="0">
              <a:buNone/>
            </a:pPr>
            <a:r>
              <a:rPr lang="en-US" sz="1400" dirty="0">
                <a:solidFill>
                  <a:srgbClr val="4A5A68"/>
                </a:solidFill>
                <a:latin typeface="Calibri" pitchFamily="34" charset="0"/>
                <a:ea typeface="Calibri" pitchFamily="34" charset="-122"/>
                <a:cs typeface="Calibri" pitchFamily="34" charset="-120"/>
              </a:rPr>
              <a:t>The ESP8266 publishes with its own X.509 certificate, already issued.</a:t>
            </a:r>
            <a:endParaRPr lang="en-US" sz="1400" dirty="0"/>
          </a:p>
        </p:txBody>
      </p:sp>
      <p:sp>
        <p:nvSpPr>
          <p:cNvPr id="19" name="Shape 17"/>
          <p:cNvSpPr/>
          <p:nvPr/>
        </p:nvSpPr>
        <p:spPr>
          <a:xfrm>
            <a:off x="6196432" y="4375404"/>
            <a:ext cx="5181448" cy="1659636"/>
          </a:xfrm>
          <a:prstGeom prst="roundRect">
            <a:avLst>
              <a:gd name="adj" fmla="val 5510"/>
            </a:avLst>
          </a:prstGeom>
          <a:solidFill>
            <a:srgbClr val="FBFCFB"/>
          </a:solidFill>
          <a:ln w="12700">
            <a:solidFill>
              <a:srgbClr val="D9E1DF"/>
            </a:solidFill>
            <a:prstDash val="solid"/>
          </a:ln>
        </p:spPr>
      </p:sp>
      <p:sp>
        <p:nvSpPr>
          <p:cNvPr id="20" name="Shape 18"/>
          <p:cNvSpPr/>
          <p:nvPr/>
        </p:nvSpPr>
        <p:spPr>
          <a:xfrm>
            <a:off x="6470752" y="4649724"/>
            <a:ext cx="502920" cy="502920"/>
          </a:xfrm>
          <a:prstGeom prst="ellipse">
            <a:avLst/>
          </a:prstGeom>
          <a:solidFill>
            <a:srgbClr val="0F766E"/>
          </a:solidFill>
          <a:ln w="12700">
            <a:solidFill>
              <a:srgbClr val="0F766E"/>
            </a:solidFill>
            <a:prstDash val="solid"/>
          </a:ln>
        </p:spPr>
      </p:sp>
      <p:sp>
        <p:nvSpPr>
          <p:cNvPr id="21" name="Text 19"/>
          <p:cNvSpPr txBox="1"/>
          <p:nvPr/>
        </p:nvSpPr>
        <p:spPr>
          <a:xfrm>
            <a:off x="6470752" y="4649724"/>
            <a:ext cx="502920" cy="502920"/>
          </a:xfrm>
          <a:prstGeom prst="rect">
            <a:avLst/>
          </a:prstGeom>
          <a:noFill/>
          <a:ln/>
        </p:spPr>
        <p:txBody>
          <a:bodyPr wrap="square" lIns="0" tIns="0" rIns="0" bIns="0" rtlCol="0" anchor="ctr"/>
          <a:lstStyle/>
          <a:p>
            <a:pPr algn="ctr" indent="0" marL="0">
              <a:buNone/>
            </a:pPr>
            <a:r>
              <a:rPr lang="en-US" sz="1500" b="1" dirty="0">
                <a:solidFill>
                  <a:srgbClr val="F2F5F4"/>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7156552" y="4668012"/>
            <a:ext cx="3947008" cy="384048"/>
          </a:xfrm>
          <a:prstGeom prst="rect">
            <a:avLst/>
          </a:prstGeom>
          <a:noFill/>
          <a:ln/>
        </p:spPr>
        <p:txBody>
          <a:bodyPr wrap="square" lIns="0" tIns="0" rIns="0" bIns="0" rtlCol="0" anchor="t"/>
          <a:lstStyle/>
          <a:p>
            <a:pPr indent="0" marL="0">
              <a:buNone/>
            </a:pPr>
            <a:r>
              <a:rPr lang="en-US" sz="1800" b="1" dirty="0">
                <a:solidFill>
                  <a:srgbClr val="14202B"/>
                </a:solidFill>
                <a:latin typeface="Calibri" pitchFamily="34" charset="0"/>
                <a:ea typeface="Calibri" pitchFamily="34" charset="-122"/>
                <a:cs typeface="Calibri" pitchFamily="34" charset="-120"/>
              </a:rPr>
              <a:t>One node per coach</a:t>
            </a:r>
            <a:endParaRPr lang="en-US" sz="1800" dirty="0"/>
          </a:p>
        </p:txBody>
      </p:sp>
      <p:sp>
        <p:nvSpPr>
          <p:cNvPr id="23" name="Text 21"/>
          <p:cNvSpPr txBox="1"/>
          <p:nvPr/>
        </p:nvSpPr>
        <p:spPr>
          <a:xfrm>
            <a:off x="7156552" y="5106924"/>
            <a:ext cx="3947008" cy="777240"/>
          </a:xfrm>
          <a:prstGeom prst="rect">
            <a:avLst/>
          </a:prstGeom>
          <a:noFill/>
          <a:ln/>
        </p:spPr>
        <p:txBody>
          <a:bodyPr wrap="square" lIns="0" tIns="0" rIns="0" bIns="0" rtlCol="0" anchor="t"/>
          <a:lstStyle/>
          <a:p>
            <a:pPr indent="0" marL="0">
              <a:buNone/>
            </a:pPr>
            <a:r>
              <a:rPr lang="en-US" sz="1400" dirty="0">
                <a:solidFill>
                  <a:srgbClr val="4A5A68"/>
                </a:solidFill>
                <a:latin typeface="Calibri" pitchFamily="34" charset="0"/>
                <a:ea typeface="Calibri" pitchFamily="34" charset="-122"/>
                <a:cs typeface="Calibri" pitchFamily="34" charset="-120"/>
              </a:rPr>
              <a:t>A fleet-wide view, and advisories for passengers who flag a health condition when booking.</a:t>
            </a:r>
            <a:endParaRPr lang="en-US" sz="1400" dirty="0"/>
          </a:p>
        </p:txBody>
      </p:sp>
      <p:sp>
        <p:nvSpPr>
          <p:cNvPr id="25" name="Slide Number Placeholder 0"/>
          <p:cNvSpPr>
            <a:spLocks noGrp="1"/>
          </p:cNvSpPr>
          <p:nvPr>
            <p:ph type="sldNum" sz="quarter" idx="4294967295"/>
          </p:nvPr>
        </p:nvSpPr>
        <p:spPr>
          <a:xfrm>
            <a:off x="10463479" y="6263640"/>
            <a:ext cx="9144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4A5A68"/>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BreatheIQ logo">    </p:cNvPr>
          <p:cNvPicPr>
            <a:picLocks noChangeAspect="1"/>
          </p:cNvPicPr>
          <p:nvPr/>
        </p:nvPicPr>
        <p:blipFill>
          <a:blip r:embed="rId1"/>
          <a:stretch>
            <a:fillRect/>
          </a:stretch>
        </p:blipFill>
        <p:spPr>
          <a:xfrm>
            <a:off x="813816" y="740664"/>
            <a:ext cx="502920" cy="502920"/>
          </a:xfrm>
          <a:prstGeom prst="rect">
            <a:avLst/>
          </a:prstGeom>
        </p:spPr>
      </p:pic>
      <p:sp>
        <p:nvSpPr>
          <p:cNvPr id="3" name="Text 0"/>
          <p:cNvSpPr txBox="1"/>
          <p:nvPr/>
        </p:nvSpPr>
        <p:spPr>
          <a:xfrm>
            <a:off x="1499616" y="859536"/>
            <a:ext cx="5486400" cy="320040"/>
          </a:xfrm>
          <a:prstGeom prst="rect">
            <a:avLst/>
          </a:prstGeom>
          <a:noFill/>
          <a:ln/>
        </p:spPr>
        <p:txBody>
          <a:bodyPr wrap="square" lIns="0" tIns="0" rIns="0" bIns="0" rtlCol="0" anchor="t"/>
          <a:lstStyle/>
          <a:p>
            <a:pPr indent="0" marL="0">
              <a:buNone/>
            </a:pPr>
            <a:r>
              <a:rPr lang="en-US" sz="1200" spc="300" kern="0" dirty="0">
                <a:solidFill>
                  <a:srgbClr val="5EEAD4"/>
                </a:solidFill>
                <a:latin typeface="Consolas" pitchFamily="34" charset="0"/>
                <a:ea typeface="Consolas" pitchFamily="34" charset="-122"/>
                <a:cs typeface="Consolas" pitchFamily="34" charset="-120"/>
              </a:rPr>
              <a:t>THANK YOU</a:t>
            </a:r>
            <a:endParaRPr lang="en-US" sz="1200" dirty="0"/>
          </a:p>
        </p:txBody>
      </p:sp>
      <p:sp>
        <p:nvSpPr>
          <p:cNvPr id="4" name="Text 0"/>
          <p:cNvSpPr/>
          <p:nvPr>
            <p:ph idx="100" type="title" hasCustomPrompt="1"/>
          </p:nvPr>
        </p:nvSpPr>
        <p:spPr>
          <a:xfrm>
            <a:off x="813816" y="1188720"/>
            <a:ext cx="10564063" cy="960120"/>
          </a:xfrm>
          <a:prstGeom prst="rect">
            <a:avLst/>
          </a:prstGeom>
          <a:noFill/>
          <a:ln/>
        </p:spPr>
        <p:txBody>
          <a:bodyPr wrap="square" lIns="0" tIns="0" rIns="0" bIns="0" rtlCol="0" anchor="t"/>
          <a:lstStyle/>
          <a:p>
            <a:pPr algn="l" indent="0" marL="0">
              <a:buNone/>
            </a:pPr>
            <a:r>
              <a:rPr lang="en-US" sz="6000" b="1" dirty="0">
                <a:solidFill>
                  <a:srgbClr val="E8EEF2"/>
                </a:solidFill>
                <a:latin typeface="Calibri" pitchFamily="34" charset="0"/>
                <a:ea typeface="Calibri" pitchFamily="34" charset="-122"/>
                <a:cs typeface="Calibri" pitchFamily="34" charset="-120"/>
              </a:rPr>
              <a:t>BreatheIQ</a:t>
            </a:r>
            <a:endParaRPr lang="en-US" sz="6000" dirty="0"/>
          </a:p>
        </p:txBody>
      </p:sp>
      <p:sp>
        <p:nvSpPr>
          <p:cNvPr id="5" name="Text 2"/>
          <p:cNvSpPr txBox="1"/>
          <p:nvPr/>
        </p:nvSpPr>
        <p:spPr>
          <a:xfrm>
            <a:off x="813816" y="2194560"/>
            <a:ext cx="10564063" cy="502920"/>
          </a:xfrm>
          <a:prstGeom prst="rect">
            <a:avLst/>
          </a:prstGeom>
          <a:noFill/>
          <a:ln/>
        </p:spPr>
        <p:txBody>
          <a:bodyPr wrap="square" lIns="0" tIns="0" rIns="0" bIns="0" rtlCol="0" anchor="t"/>
          <a:lstStyle/>
          <a:p>
            <a:pPr indent="0" marL="0">
              <a:buNone/>
            </a:pPr>
            <a:r>
              <a:rPr lang="en-US" sz="2400" b="1" dirty="0">
                <a:solidFill>
                  <a:srgbClr val="E8EEF2"/>
                </a:solidFill>
                <a:latin typeface="Calibri" pitchFamily="34" charset="0"/>
                <a:ea typeface="Calibri" pitchFamily="34" charset="-122"/>
                <a:cs typeface="Calibri" pitchFamily="34" charset="-120"/>
              </a:rPr>
              <a:t>Breathe easier between stations.</a:t>
            </a:r>
            <a:endParaRPr lang="en-US" sz="2400" dirty="0"/>
          </a:p>
        </p:txBody>
      </p:sp>
      <p:sp>
        <p:nvSpPr>
          <p:cNvPr id="6" name="Text 3">
            <a:hlinkClick r:id="rId2" tooltip=""/>
          </p:cNvPr>
          <p:cNvSpPr txBox="1"/>
          <p:nvPr/>
        </p:nvSpPr>
        <p:spPr>
          <a:xfrm>
            <a:off x="813816" y="2788920"/>
            <a:ext cx="6400800" cy="365760"/>
          </a:xfrm>
          <a:prstGeom prst="rect">
            <a:avLst/>
          </a:prstGeom>
          <a:noFill/>
          <a:ln/>
        </p:spPr>
        <p:txBody>
          <a:bodyPr wrap="square" lIns="0" tIns="0" rIns="0" bIns="0" rtlCol="0" anchor="t"/>
          <a:lstStyle/>
          <a:p>
            <a:pPr indent="0" marL="0">
              <a:buNone/>
            </a:pPr>
            <a:r>
              <a:rPr lang="en-US" sz="1500" u="sng" dirty="0">
                <a:solidFill>
                  <a:srgbClr val="5EEAD4"/>
                </a:solidFill>
                <a:latin typeface="Consolas" pitchFamily="34" charset="0"/>
                <a:ea typeface="Consolas" pitchFamily="34" charset="-122"/>
                <a:cs typeface="Consolas"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main.d3abjrsxzx174i.amplifyapp.com</a:t>
            </a:r>
            <a:endParaRPr lang="en-US" sz="1500" dirty="0"/>
          </a:p>
        </p:txBody>
      </p:sp>
      <p:sp>
        <p:nvSpPr>
          <p:cNvPr id="7" name="Text 4"/>
          <p:cNvSpPr txBox="1"/>
          <p:nvPr/>
        </p:nvSpPr>
        <p:spPr>
          <a:xfrm>
            <a:off x="813816" y="4297680"/>
            <a:ext cx="2926080" cy="457200"/>
          </a:xfrm>
          <a:prstGeom prst="rect">
            <a:avLst/>
          </a:prstGeom>
          <a:noFill/>
          <a:ln/>
        </p:spPr>
        <p:txBody>
          <a:bodyPr wrap="square" lIns="0" tIns="0" rIns="0" bIns="0" rtlCol="0" anchor="t"/>
          <a:lstStyle/>
          <a:p>
            <a:pPr indent="0" marL="0">
              <a:buNone/>
            </a:pPr>
            <a:r>
              <a:rPr lang="en-US" sz="2200" b="1" dirty="0">
                <a:solidFill>
                  <a:srgbClr val="E8EEF2"/>
                </a:solidFill>
                <a:latin typeface="Calibri" pitchFamily="34" charset="0"/>
                <a:ea typeface="Calibri" pitchFamily="34" charset="-122"/>
                <a:cs typeface="Calibri" pitchFamily="34" charset="-120"/>
              </a:rPr>
              <a:t>Team Purity</a:t>
            </a:r>
            <a:endParaRPr lang="en-US" sz="2200" dirty="0"/>
          </a:p>
        </p:txBody>
      </p:sp>
      <p:sp>
        <p:nvSpPr>
          <p:cNvPr id="8" name="Shape 5"/>
          <p:cNvSpPr/>
          <p:nvPr/>
        </p:nvSpPr>
        <p:spPr>
          <a:xfrm>
            <a:off x="3739896" y="4297680"/>
            <a:ext cx="1920240" cy="457200"/>
          </a:xfrm>
          <a:prstGeom prst="roundRect">
            <a:avLst>
              <a:gd name="adj" fmla="val 20000"/>
            </a:avLst>
          </a:prstGeom>
          <a:solidFill>
            <a:srgbClr val="0B1117"/>
          </a:solidFill>
          <a:ln w="15875">
            <a:solidFill>
              <a:srgbClr val="5EEAD4"/>
            </a:solidFill>
            <a:prstDash val="dash"/>
          </a:ln>
        </p:spPr>
      </p:sp>
      <p:sp>
        <p:nvSpPr>
          <p:cNvPr id="9" name="Text 6"/>
          <p:cNvSpPr txBox="1"/>
          <p:nvPr/>
        </p:nvSpPr>
        <p:spPr>
          <a:xfrm>
            <a:off x="3739896" y="4297680"/>
            <a:ext cx="1920240" cy="457200"/>
          </a:xfrm>
          <a:prstGeom prst="rect">
            <a:avLst/>
          </a:prstGeom>
          <a:noFill/>
          <a:ln/>
        </p:spPr>
        <p:txBody>
          <a:bodyPr wrap="square" lIns="0" tIns="0" rIns="0" bIns="0" rtlCol="0" anchor="ctr"/>
          <a:lstStyle/>
          <a:p>
            <a:pPr algn="ctr" indent="0" marL="0">
              <a:buNone/>
            </a:pPr>
            <a:r>
              <a:rPr lang="en-US" sz="1300" spc="200" kern="0" dirty="0">
                <a:solidFill>
                  <a:srgbClr val="5EEAD4"/>
                </a:solidFill>
                <a:latin typeface="Consolas" pitchFamily="34" charset="0"/>
                <a:ea typeface="Consolas" pitchFamily="34" charset="-122"/>
                <a:cs typeface="Consolas" pitchFamily="34" charset="-120"/>
              </a:rPr>
              <a:t>ID · YGJPRG</a:t>
            </a:r>
            <a:endParaRPr lang="en-US" sz="1300" dirty="0"/>
          </a:p>
        </p:txBody>
      </p:sp>
      <p:sp>
        <p:nvSpPr>
          <p:cNvPr id="10" name="Shape 7"/>
          <p:cNvSpPr/>
          <p:nvPr/>
        </p:nvSpPr>
        <p:spPr>
          <a:xfrm>
            <a:off x="813816" y="4983480"/>
            <a:ext cx="2524430" cy="960120"/>
          </a:xfrm>
          <a:prstGeom prst="roundRect">
            <a:avLst>
              <a:gd name="adj" fmla="val 9524"/>
            </a:avLst>
          </a:prstGeom>
          <a:solidFill>
            <a:srgbClr val="121B24"/>
          </a:solidFill>
          <a:ln w="12700">
            <a:solidFill>
              <a:srgbClr val="22303D"/>
            </a:solidFill>
            <a:prstDash val="solid"/>
          </a:ln>
        </p:spPr>
      </p:sp>
      <p:sp>
        <p:nvSpPr>
          <p:cNvPr id="11" name="Text 8"/>
          <p:cNvSpPr txBox="1"/>
          <p:nvPr/>
        </p:nvSpPr>
        <p:spPr>
          <a:xfrm>
            <a:off x="996696" y="5166360"/>
            <a:ext cx="2158670" cy="347472"/>
          </a:xfrm>
          <a:prstGeom prst="rect">
            <a:avLst/>
          </a:prstGeom>
          <a:noFill/>
          <a:ln/>
        </p:spPr>
        <p:txBody>
          <a:bodyPr wrap="square" lIns="0" tIns="0" rIns="0" bIns="0" rtlCol="0" anchor="t"/>
          <a:lstStyle/>
          <a:p>
            <a:pPr indent="0" marL="0">
              <a:buNone/>
            </a:pPr>
            <a:r>
              <a:rPr lang="en-US" sz="1500" b="1" dirty="0">
                <a:solidFill>
                  <a:srgbClr val="E8EEF2"/>
                </a:solidFill>
                <a:latin typeface="Calibri" pitchFamily="34" charset="0"/>
                <a:ea typeface="Calibri" pitchFamily="34" charset="-122"/>
                <a:cs typeface="Calibri" pitchFamily="34" charset="-120"/>
              </a:rPr>
              <a:t>Harsh Yadav (Leader)</a:t>
            </a:r>
            <a:endParaRPr lang="en-US" sz="1500" dirty="0"/>
          </a:p>
        </p:txBody>
      </p:sp>
      <p:sp>
        <p:nvSpPr>
          <p:cNvPr id="12" name="Text 9"/>
          <p:cNvSpPr txBox="1"/>
          <p:nvPr/>
        </p:nvSpPr>
        <p:spPr>
          <a:xfrm>
            <a:off x="996696" y="5532120"/>
            <a:ext cx="2158670" cy="274320"/>
          </a:xfrm>
          <a:prstGeom prst="rect">
            <a:avLst/>
          </a:prstGeom>
          <a:noFill/>
          <a:ln/>
        </p:spPr>
        <p:txBody>
          <a:bodyPr wrap="square" lIns="0" tIns="0" rIns="0" bIns="0" rtlCol="0" anchor="t"/>
          <a:lstStyle/>
          <a:p>
            <a:pPr indent="0" marL="0">
              <a:buNone/>
            </a:pPr>
            <a:r>
              <a:rPr lang="en-US" sz="1200" dirty="0">
                <a:solidFill>
                  <a:srgbClr val="9AABBA"/>
                </a:solidFill>
                <a:latin typeface="Consolas" pitchFamily="34" charset="0"/>
                <a:ea typeface="Consolas" pitchFamily="34" charset="-122"/>
                <a:cs typeface="Consolas" pitchFamily="34" charset="-120"/>
              </a:rPr>
              <a:t>@harsh01yadav08</a:t>
            </a:r>
            <a:endParaRPr lang="en-US" sz="1200" dirty="0"/>
          </a:p>
        </p:txBody>
      </p:sp>
      <p:sp>
        <p:nvSpPr>
          <p:cNvPr id="13" name="Shape 10"/>
          <p:cNvSpPr/>
          <p:nvPr/>
        </p:nvSpPr>
        <p:spPr>
          <a:xfrm>
            <a:off x="3493694" y="4983480"/>
            <a:ext cx="2524430" cy="960120"/>
          </a:xfrm>
          <a:prstGeom prst="roundRect">
            <a:avLst>
              <a:gd name="adj" fmla="val 9524"/>
            </a:avLst>
          </a:prstGeom>
          <a:solidFill>
            <a:srgbClr val="121B24"/>
          </a:solidFill>
          <a:ln w="12700">
            <a:solidFill>
              <a:srgbClr val="22303D"/>
            </a:solidFill>
            <a:prstDash val="solid"/>
          </a:ln>
        </p:spPr>
      </p:sp>
      <p:sp>
        <p:nvSpPr>
          <p:cNvPr id="14" name="Text 11"/>
          <p:cNvSpPr txBox="1"/>
          <p:nvPr/>
        </p:nvSpPr>
        <p:spPr>
          <a:xfrm>
            <a:off x="3676574" y="5166360"/>
            <a:ext cx="2158670" cy="347472"/>
          </a:xfrm>
          <a:prstGeom prst="rect">
            <a:avLst/>
          </a:prstGeom>
          <a:noFill/>
          <a:ln/>
        </p:spPr>
        <p:txBody>
          <a:bodyPr wrap="square" lIns="0" tIns="0" rIns="0" bIns="0" rtlCol="0" anchor="t"/>
          <a:lstStyle/>
          <a:p>
            <a:pPr indent="0" marL="0">
              <a:buNone/>
            </a:pPr>
            <a:r>
              <a:rPr lang="en-US" sz="1500" b="1" dirty="0">
                <a:solidFill>
                  <a:srgbClr val="E8EEF2"/>
                </a:solidFill>
                <a:latin typeface="Calibri" pitchFamily="34" charset="0"/>
                <a:ea typeface="Calibri" pitchFamily="34" charset="-122"/>
                <a:cs typeface="Calibri" pitchFamily="34" charset="-120"/>
              </a:rPr>
              <a:t>Samriddhi Ganguly</a:t>
            </a:r>
            <a:endParaRPr lang="en-US" sz="1500" dirty="0"/>
          </a:p>
        </p:txBody>
      </p:sp>
      <p:sp>
        <p:nvSpPr>
          <p:cNvPr id="15" name="Text 12"/>
          <p:cNvSpPr txBox="1"/>
          <p:nvPr/>
        </p:nvSpPr>
        <p:spPr>
          <a:xfrm>
            <a:off x="3676574" y="5532120"/>
            <a:ext cx="2158670" cy="274320"/>
          </a:xfrm>
          <a:prstGeom prst="rect">
            <a:avLst/>
          </a:prstGeom>
          <a:noFill/>
          <a:ln/>
        </p:spPr>
        <p:txBody>
          <a:bodyPr wrap="square" lIns="0" tIns="0" rIns="0" bIns="0" rtlCol="0" anchor="t"/>
          <a:lstStyle/>
          <a:p>
            <a:pPr indent="0" marL="0">
              <a:buNone/>
            </a:pPr>
            <a:r>
              <a:rPr lang="en-US" sz="1200" dirty="0">
                <a:solidFill>
                  <a:srgbClr val="9AABBA"/>
                </a:solidFill>
                <a:latin typeface="Consolas" pitchFamily="34" charset="0"/>
                <a:ea typeface="Consolas" pitchFamily="34" charset="-122"/>
                <a:cs typeface="Consolas" pitchFamily="34" charset="-120"/>
              </a:rPr>
              <a:t>@samriddhi05</a:t>
            </a:r>
            <a:endParaRPr lang="en-US" sz="1200" dirty="0"/>
          </a:p>
        </p:txBody>
      </p:sp>
      <p:sp>
        <p:nvSpPr>
          <p:cNvPr id="16" name="Shape 13"/>
          <p:cNvSpPr/>
          <p:nvPr/>
        </p:nvSpPr>
        <p:spPr>
          <a:xfrm>
            <a:off x="6173572" y="4983480"/>
            <a:ext cx="2524430" cy="960120"/>
          </a:xfrm>
          <a:prstGeom prst="roundRect">
            <a:avLst>
              <a:gd name="adj" fmla="val 9524"/>
            </a:avLst>
          </a:prstGeom>
          <a:solidFill>
            <a:srgbClr val="121B24"/>
          </a:solidFill>
          <a:ln w="12700">
            <a:solidFill>
              <a:srgbClr val="22303D"/>
            </a:solidFill>
            <a:prstDash val="solid"/>
          </a:ln>
        </p:spPr>
      </p:sp>
      <p:sp>
        <p:nvSpPr>
          <p:cNvPr id="17" name="Text 14"/>
          <p:cNvSpPr txBox="1"/>
          <p:nvPr/>
        </p:nvSpPr>
        <p:spPr>
          <a:xfrm>
            <a:off x="6356452" y="5166360"/>
            <a:ext cx="2158670" cy="347472"/>
          </a:xfrm>
          <a:prstGeom prst="rect">
            <a:avLst/>
          </a:prstGeom>
          <a:noFill/>
          <a:ln/>
        </p:spPr>
        <p:txBody>
          <a:bodyPr wrap="square" lIns="0" tIns="0" rIns="0" bIns="0" rtlCol="0" anchor="t"/>
          <a:lstStyle/>
          <a:p>
            <a:pPr indent="0" marL="0">
              <a:buNone/>
            </a:pPr>
            <a:r>
              <a:rPr lang="en-US" sz="1500" b="1" dirty="0">
                <a:solidFill>
                  <a:srgbClr val="E8EEF2"/>
                </a:solidFill>
                <a:latin typeface="Calibri" pitchFamily="34" charset="0"/>
                <a:ea typeface="Calibri" pitchFamily="34" charset="-122"/>
                <a:cs typeface="Calibri" pitchFamily="34" charset="-120"/>
              </a:rPr>
              <a:t>Avishkar Jaiswal</a:t>
            </a:r>
            <a:endParaRPr lang="en-US" sz="1500" dirty="0"/>
          </a:p>
        </p:txBody>
      </p:sp>
      <p:sp>
        <p:nvSpPr>
          <p:cNvPr id="18" name="Text 15"/>
          <p:cNvSpPr txBox="1"/>
          <p:nvPr/>
        </p:nvSpPr>
        <p:spPr>
          <a:xfrm>
            <a:off x="6356452" y="5532120"/>
            <a:ext cx="2158670" cy="274320"/>
          </a:xfrm>
          <a:prstGeom prst="rect">
            <a:avLst/>
          </a:prstGeom>
          <a:noFill/>
          <a:ln/>
        </p:spPr>
        <p:txBody>
          <a:bodyPr wrap="square" lIns="0" tIns="0" rIns="0" bIns="0" rtlCol="0" anchor="t"/>
          <a:lstStyle/>
          <a:p>
            <a:pPr indent="0" marL="0">
              <a:buNone/>
            </a:pPr>
            <a:r>
              <a:rPr lang="en-US" sz="1200" dirty="0">
                <a:solidFill>
                  <a:srgbClr val="9AABBA"/>
                </a:solidFill>
                <a:latin typeface="Consolas" pitchFamily="34" charset="0"/>
                <a:ea typeface="Consolas" pitchFamily="34" charset="-122"/>
                <a:cs typeface="Consolas" pitchFamily="34" charset="-120"/>
              </a:rPr>
              <a:t>@aj_1007</a:t>
            </a:r>
            <a:endParaRPr lang="en-US" sz="1200" dirty="0"/>
          </a:p>
        </p:txBody>
      </p:sp>
      <p:sp>
        <p:nvSpPr>
          <p:cNvPr id="19" name="Shape 16"/>
          <p:cNvSpPr/>
          <p:nvPr/>
        </p:nvSpPr>
        <p:spPr>
          <a:xfrm>
            <a:off x="8853449" y="4983480"/>
            <a:ext cx="2524430" cy="960120"/>
          </a:xfrm>
          <a:prstGeom prst="roundRect">
            <a:avLst>
              <a:gd name="adj" fmla="val 9524"/>
            </a:avLst>
          </a:prstGeom>
          <a:solidFill>
            <a:srgbClr val="121B24"/>
          </a:solidFill>
          <a:ln w="12700">
            <a:solidFill>
              <a:srgbClr val="22303D"/>
            </a:solidFill>
            <a:prstDash val="solid"/>
          </a:ln>
        </p:spPr>
      </p:sp>
      <p:sp>
        <p:nvSpPr>
          <p:cNvPr id="20" name="Text 17"/>
          <p:cNvSpPr txBox="1"/>
          <p:nvPr/>
        </p:nvSpPr>
        <p:spPr>
          <a:xfrm>
            <a:off x="9036329" y="5166360"/>
            <a:ext cx="2158670" cy="347472"/>
          </a:xfrm>
          <a:prstGeom prst="rect">
            <a:avLst/>
          </a:prstGeom>
          <a:noFill/>
          <a:ln/>
        </p:spPr>
        <p:txBody>
          <a:bodyPr wrap="square" lIns="0" tIns="0" rIns="0" bIns="0" rtlCol="0" anchor="t"/>
          <a:lstStyle/>
          <a:p>
            <a:pPr indent="0" marL="0">
              <a:buNone/>
            </a:pPr>
            <a:r>
              <a:rPr lang="en-US" sz="1500" b="1" dirty="0">
                <a:solidFill>
                  <a:srgbClr val="E8EEF2"/>
                </a:solidFill>
                <a:latin typeface="Calibri" pitchFamily="34" charset="0"/>
                <a:ea typeface="Calibri" pitchFamily="34" charset="-122"/>
                <a:cs typeface="Calibri" pitchFamily="34" charset="-120"/>
              </a:rPr>
              <a:t>Prayag Sharma</a:t>
            </a:r>
            <a:endParaRPr lang="en-US" sz="1500" dirty="0"/>
          </a:p>
        </p:txBody>
      </p:sp>
      <p:sp>
        <p:nvSpPr>
          <p:cNvPr id="21" name="Text 18"/>
          <p:cNvSpPr txBox="1"/>
          <p:nvPr/>
        </p:nvSpPr>
        <p:spPr>
          <a:xfrm>
            <a:off x="9036329" y="5532120"/>
            <a:ext cx="2158670" cy="274320"/>
          </a:xfrm>
          <a:prstGeom prst="rect">
            <a:avLst/>
          </a:prstGeom>
          <a:noFill/>
          <a:ln/>
        </p:spPr>
        <p:txBody>
          <a:bodyPr wrap="square" lIns="0" tIns="0" rIns="0" bIns="0" rtlCol="0" anchor="t"/>
          <a:lstStyle/>
          <a:p>
            <a:pPr indent="0" marL="0">
              <a:buNone/>
            </a:pPr>
            <a:r>
              <a:rPr lang="en-US" sz="1200" dirty="0">
                <a:solidFill>
                  <a:srgbClr val="9AABBA"/>
                </a:solidFill>
                <a:latin typeface="Consolas" pitchFamily="34" charset="0"/>
                <a:ea typeface="Consolas" pitchFamily="34" charset="-122"/>
                <a:cs typeface="Consolas" pitchFamily="34" charset="-120"/>
              </a:rPr>
              <a:t>@prayag1771</a:t>
            </a:r>
            <a:endParaRPr lang="en-US" sz="1200" dirty="0"/>
          </a:p>
        </p:txBody>
      </p:sp>
    </p:spTree>
  </p:cSld>
  <p:clrMapOvr>
    <a:masterClrMapping/>
  </p:clrMapOvr>
</p:sld>
</file>

<file path=ppt/theme/theme1.xml><?xml version="1.0" encoding="utf-8"?>
<a:theme xmlns:a="http://schemas.openxmlformats.org/drawingml/2006/main" name="BreatheIQ">
  <a:themeElements>
    <a:clrScheme name="BreatheIQ">
      <a:dk1>
        <a:srgbClr val="0B1117"/>
      </a:dk1>
      <a:lt1>
        <a:srgbClr val="F2F5F4"/>
      </a:lt1>
      <a:dk2>
        <a:srgbClr val="14202B"/>
      </a:dk2>
      <a:lt2>
        <a:srgbClr val="E8EEF2"/>
      </a:lt2>
      <a:accent1>
        <a:srgbClr val="5EEAD4"/>
      </a:accent1>
      <a:accent2>
        <a:srgbClr val="FBBF24"/>
      </a:accent2>
      <a:accent3>
        <a:srgbClr val="0F766E"/>
      </a:accent3>
      <a:accent4>
        <a:srgbClr val="7E0023"/>
      </a:accent4>
      <a:accent5>
        <a:srgbClr val="9AABBA"/>
      </a:accent5>
      <a:accent6>
        <a:srgbClr val="4A5A68"/>
      </a:accent6>
      <a:hlink>
        <a:srgbClr val="0F766E"/>
      </a:hlink>
      <a:folHlink>
        <a:srgbClr val="0F766E"/>
      </a:folHlink>
    </a:clrScheme>
    <a:fontScheme name="BreatheIQ">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Team Purity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BreatheIQ — Team Purity</dc:title>
  <dc:subject>Environmental Hacks · Track: Air</dc:subject>
  <dc:creator>Team Purity</dc:creator>
  <cp:lastModifiedBy>Team Purity</cp:lastModifiedBy>
  <cp:revision>1</cp:revision>
  <dcterms:created xsi:type="dcterms:W3CDTF">2026-10-11T14:10:15Z</dcterms:created>
  <dcterms:modified xsi:type="dcterms:W3CDTF">2026-10-11T14:10:15Z</dcterms:modified>
</cp:coreProperties>
</file>